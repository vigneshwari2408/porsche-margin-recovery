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L0 reported</c:v>
                </c:pt>
              </c:strCache>
            </c:strRef>
          </c:tx>
          <c:spPr>
            <a:solidFill>
              <a:srgbClr val="EEE6E2"/>
            </a:solidFill>
            <a:ln w="25400" cap="flat">
              <a:solidFill>
                <a:srgbClr val="EEE6E2"/>
              </a:solidFill>
              <a:prstDash val="solid"/>
              <a:round/>
            </a:ln>
            <a:effectLst/>
          </c:spPr>
          <c:invertIfNegative val="0"/>
          <c:dLbls>
            <c:numFmt formatCode="#,##0" sourceLinked="0"/>
            <c:txPr>
              <a:bodyPr/>
              <a:lstStyle/>
              <a:p>
                <a:pPr>
                  <a:defRPr b="0" i="0" strike="noStrike" sz="900" u="none">
                    <a:solidFill>
                      <a:srgbClr val="EEE6E2"/>
                    </a:solidFill>
                    <a:latin typeface="Calibri"/>
                  </a:defRPr>
                </a:pPr>
              </a:p>
            </c:txPr>
            <c:showLegendKey val="0"/>
            <c:showVal val="0"/>
            <c:showCatName val="0"/>
            <c:showSerName val="0"/>
            <c:showPercent val="0"/>
            <c:showBubbleSize val="0"/>
            <c:showLeaderLines val="0"/>
          </c:dLbls>
          <c:marker>
            <c:symbol val="circle"/>
            <c:size val="5"/>
            <c:spPr>
              <a:solidFill>
                <a:srgbClr val="EEE6E2"/>
              </a:solidFill>
              <a:ln w="9525" cap="flat">
                <a:solidFill>
                  <a:srgbClr val="EEE6E2"/>
                </a:solidFill>
                <a:prstDash val="solid"/>
                <a:round/>
              </a:ln>
              <a:effectLst/>
            </c:spPr>
          </c:marker>
          <c:cat>
            <c:multiLvlStrRef>
              <c:f>Sheet1!$A$2:$A$8</c:f>
              <c:multiLvlStrCache>
                <c:ptCount val="7"/>
                <c:lvl>
                  <c:pt idx="0">
                    <c:v>H1 2023</c:v>
                  </c:pt>
                  <c:pt idx="1">
                    <c:v>H2 2023</c:v>
                  </c:pt>
                  <c:pt idx="2">
                    <c:v>H1 2024</c:v>
                  </c:pt>
                  <c:pt idx="3">
                    <c:v>H2 2024</c:v>
                  </c:pt>
                  <c:pt idx="4">
                    <c:v>H1 2025</c:v>
                  </c:pt>
                  <c:pt idx="5">
                    <c:v>H2 2025</c:v>
                  </c:pt>
                  <c:pt idx="6">
                    <c:v>H1 2026</c:v>
                  </c:pt>
                </c:lvl>
              </c:multiLvlStrCache>
            </c:multiLvlStrRef>
          </c:cat>
          <c:val>
            <c:numRef>
              <c:f>Sheet1!$B$2:$B$8</c:f>
              <c:numCache>
                <c:formatCode>General</c:formatCode>
                <c:ptCount val="7"/>
                <c:pt idx="0">
                  <c:v>0.18854925470743233</c:v>
                </c:pt>
                <c:pt idx="1">
                  <c:v>0.1707608321716534</c:v>
                </c:pt>
                <c:pt idx="2">
                  <c:v>0.1573446106812484</c:v>
                </c:pt>
                <c:pt idx="3">
                  <c:v>0.12486190667798124</c:v>
                </c:pt>
                <c:pt idx="4">
                  <c:v>0.05544836976412856</c:v>
                </c:pt>
                <c:pt idx="5">
                  <c:v>-0.03276447858314556</c:v>
                </c:pt>
                <c:pt idx="6">
                  <c:v>0.07824884813156355</c:v>
                </c:pt>
              </c:numCache>
            </c:numRef>
          </c:val>
          <c:smooth val="0"/>
        </c:ser>
        <c:ser>
          <c:idx val="1"/>
          <c:order val="1"/>
          <c:tx>
            <c:strRef>
              <c:f>Sheet1!$C$1</c:f>
              <c:strCache>
                <c:ptCount val="1"/>
                <c:pt idx="0">
                  <c:v>L1 underlying</c:v>
                </c:pt>
              </c:strCache>
            </c:strRef>
          </c:tx>
          <c:spPr>
            <a:solidFill>
              <a:srgbClr val="D5001C"/>
            </a:solidFill>
            <a:ln w="25400" cap="flat">
              <a:solidFill>
                <a:srgbClr val="D5001C"/>
              </a:solidFill>
              <a:prstDash val="solid"/>
              <a:round/>
            </a:ln>
            <a:effectLst/>
          </c:spPr>
          <c:invertIfNegative val="0"/>
          <c:dLbls>
            <c:numFmt formatCode="#,##0" sourceLinked="0"/>
            <c:txPr>
              <a:bodyPr/>
              <a:lstStyle/>
              <a:p>
                <a:pPr>
                  <a:defRPr b="0" i="0" strike="noStrike" sz="900" u="none">
                    <a:solidFill>
                      <a:srgbClr val="EEE6E2"/>
                    </a:solidFill>
                    <a:latin typeface="Calibri"/>
                  </a:defRPr>
                </a:pPr>
              </a:p>
            </c:txPr>
            <c:showLegendKey val="0"/>
            <c:showVal val="0"/>
            <c:showCatName val="0"/>
            <c:showSerName val="0"/>
            <c:showPercent val="0"/>
            <c:showBubbleSize val="0"/>
            <c:showLeaderLines val="0"/>
          </c:dLbls>
          <c:marker>
            <c:symbol val="circle"/>
            <c:size val="5"/>
            <c:spPr>
              <a:solidFill>
                <a:srgbClr val="D5001C"/>
              </a:solidFill>
              <a:ln w="9525" cap="flat">
                <a:solidFill>
                  <a:srgbClr val="D5001C"/>
                </a:solidFill>
                <a:prstDash val="solid"/>
                <a:round/>
              </a:ln>
              <a:effectLst/>
            </c:spPr>
          </c:marker>
          <c:cat>
            <c:multiLvlStrRef>
              <c:f>Sheet1!$A$2:$A$8</c:f>
              <c:multiLvlStrCache>
                <c:ptCount val="7"/>
                <c:lvl>
                  <c:pt idx="0">
                    <c:v>H1 2023</c:v>
                  </c:pt>
                  <c:pt idx="1">
                    <c:v>H2 2023</c:v>
                  </c:pt>
                  <c:pt idx="2">
                    <c:v>H1 2024</c:v>
                  </c:pt>
                  <c:pt idx="3">
                    <c:v>H2 2024</c:v>
                  </c:pt>
                  <c:pt idx="4">
                    <c:v>H1 2025</c:v>
                  </c:pt>
                  <c:pt idx="5">
                    <c:v>H2 2025</c:v>
                  </c:pt>
                  <c:pt idx="6">
                    <c:v>H1 2026</c:v>
                  </c:pt>
                </c:lvl>
              </c:multiLvlStrCache>
            </c:multiLvlStrRef>
          </c:cat>
          <c:val>
            <c:numRef>
              <c:f>Sheet1!$C$2:$C$8</c:f>
              <c:numCache>
                <c:formatCode>General</c:formatCode>
                <c:ptCount val="7"/>
                <c:pt idx="0">
                  <c:v>0.18854925470743233</c:v>
                </c:pt>
                <c:pt idx="1">
                  <c:v>0.1707608321716534</c:v>
                </c:pt>
                <c:pt idx="2">
                  <c:v>0.1573446106812484</c:v>
                </c:pt>
                <c:pt idx="3">
                  <c:v>0.12486190667798124</c:v>
                </c:pt>
                <c:pt idx="4">
                  <c:v>0.09400041024217612</c:v>
                </c:pt>
                <c:pt idx="5">
                  <c:v>0.09972714349089451</c:v>
                </c:pt>
                <c:pt idx="6">
                  <c:v>0.08405286206789994</c:v>
                </c:pt>
              </c:numCache>
            </c:numRef>
          </c:val>
          <c:smooth val="0"/>
        </c:ser>
        <c:ser>
          <c:idx val="2"/>
          <c:order val="2"/>
          <c:tx>
            <c:strRef>
              <c:f>Sheet1!$D$1</c:f>
              <c:strCache>
                <c:ptCount val="1"/>
                <c:pt idx="0">
                  <c:v>L2 excl. tariffs</c:v>
                </c:pt>
              </c:strCache>
            </c:strRef>
          </c:tx>
          <c:spPr>
            <a:solidFill>
              <a:srgbClr val="B8707A"/>
            </a:solidFill>
            <a:ln w="25400" cap="flat">
              <a:solidFill>
                <a:srgbClr val="B8707A"/>
              </a:solidFill>
              <a:prstDash val="solid"/>
              <a:round/>
            </a:ln>
            <a:effectLst/>
          </c:spPr>
          <c:invertIfNegative val="0"/>
          <c:dLbls>
            <c:numFmt formatCode="#,##0" sourceLinked="0"/>
            <c:txPr>
              <a:bodyPr/>
              <a:lstStyle/>
              <a:p>
                <a:pPr>
                  <a:defRPr b="0" i="0" strike="noStrike" sz="900" u="none">
                    <a:solidFill>
                      <a:srgbClr val="EEE6E2"/>
                    </a:solidFill>
                    <a:latin typeface="Calibri"/>
                  </a:defRPr>
                </a:pPr>
              </a:p>
            </c:txPr>
            <c:showLegendKey val="0"/>
            <c:showVal val="0"/>
            <c:showCatName val="0"/>
            <c:showSerName val="0"/>
            <c:showPercent val="0"/>
            <c:showBubbleSize val="0"/>
            <c:showLeaderLines val="0"/>
          </c:dLbls>
          <c:marker>
            <c:symbol val="circle"/>
            <c:size val="5"/>
            <c:spPr>
              <a:solidFill>
                <a:srgbClr val="B8707A"/>
              </a:solidFill>
              <a:ln w="9525" cap="flat">
                <a:solidFill>
                  <a:srgbClr val="B8707A"/>
                </a:solidFill>
                <a:prstDash val="solid"/>
                <a:round/>
              </a:ln>
              <a:effectLst/>
            </c:spPr>
          </c:marker>
          <c:cat>
            <c:multiLvlStrRef>
              <c:f>Sheet1!$A$2:$A$8</c:f>
              <c:multiLvlStrCache>
                <c:ptCount val="7"/>
                <c:lvl>
                  <c:pt idx="0">
                    <c:v>H1 2023</c:v>
                  </c:pt>
                  <c:pt idx="1">
                    <c:v>H2 2023</c:v>
                  </c:pt>
                  <c:pt idx="2">
                    <c:v>H1 2024</c:v>
                  </c:pt>
                  <c:pt idx="3">
                    <c:v>H2 2024</c:v>
                  </c:pt>
                  <c:pt idx="4">
                    <c:v>H1 2025</c:v>
                  </c:pt>
                  <c:pt idx="5">
                    <c:v>H2 2025</c:v>
                  </c:pt>
                  <c:pt idx="6">
                    <c:v>H1 2026</c:v>
                  </c:pt>
                </c:lvl>
              </c:multiLvlStrCache>
            </c:multiLvlStrRef>
          </c:cat>
          <c:val>
            <c:numRef>
              <c:f>Sheet1!$D$2:$D$8</c:f>
              <c:numCache>
                <c:formatCode>General</c:formatCode>
                <c:ptCount val="7"/>
                <c:pt idx="0">
                  <c:v>0.18854925470743233</c:v>
                </c:pt>
                <c:pt idx="1">
                  <c:v>0.1707608321716534</c:v>
                </c:pt>
                <c:pt idx="2">
                  <c:v>0.1573446106812484</c:v>
                </c:pt>
                <c:pt idx="3">
                  <c:v>0.12486190667798124</c:v>
                </c:pt>
                <c:pt idx="4">
                  <c:v>0.11603014765820328</c:v>
                </c:pt>
                <c:pt idx="5">
                  <c:v>0.11628859625014952</c:v>
                </c:pt>
                <c:pt idx="6">
                  <c:v>0.10726891781324549</c:v>
                </c:pt>
              </c:numCache>
            </c:numRef>
          </c:val>
          <c:smooth val="0"/>
        </c:ser>
        <c:dLbls>
          <c:numFmt formatCode="#,##0" sourceLinked="0"/>
          <c:txPr>
            <a:bodyPr/>
            <a:lstStyle/>
            <a:p>
              <a:pPr>
                <a:defRPr b="0" i="0" strike="noStrike" sz="900" u="none">
                  <a:solidFill>
                    <a:srgbClr val="EEE6E2"/>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1020"/>
            </a:solidFill>
            <a:prstDash val="solid"/>
            <a:round/>
          </a:ln>
        </c:spPr>
        <c:txPr>
          <a:bodyPr/>
          <a:lstStyle/>
          <a:p>
            <a:pPr>
              <a:defRPr sz="1000" b="0" i="0" u="none" strike="noStrike">
                <a:solidFill>
                  <a:srgbClr val="9C8F8E"/>
                </a:solidFill>
                <a:latin typeface="Calibri"/>
              </a:defRPr>
            </a:pPr>
            <a:endParaRPr lang="en-US"/>
          </a:p>
        </c:txPr>
        <c:crossAx val="2094734552"/>
        <c:crosses val="autoZero"/>
        <c:auto val="1"/>
        <c:lblAlgn val="ctr"/>
        <c:noMultiLvlLbl val="1"/>
      </c:catAx>
      <c:valAx>
        <c:axId val="2094734552"/>
        <c:scaling>
          <c:orientation val="minMax"/>
          <c:max val="0.2"/>
          <c:min val="-0.05"/>
        </c:scaling>
        <c:delete val="0"/>
        <c:axPos val="l"/>
        <c:majorGridlines>
          <c:spPr>
            <a:ln w="6350" cap="flat">
              <a:solidFill>
                <a:srgbClr val="2A1F21"/>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9C8F8E"/>
                </a:solidFill>
                <a:latin typeface="Calibri"/>
              </a:defRPr>
            </a:pPr>
            <a:endParaRPr lang="en-US"/>
          </a:p>
        </c:txPr>
        <c:crossAx val="2094734554"/>
        <c:crosses val="autoZero"/>
        <c:crossBetween val="between"/>
        <c:majorUnit val="0.05"/>
      </c:valAx>
      <c:spPr>
        <a:solidFill>
          <a:srgbClr val="050203">
            <a:alpha val="0"/>
          </a:srgbClr>
        </a:solidFill>
        <a:ln>
          <a:noFill/>
        </a:ln>
        <a:effectLst/>
      </c:spPr>
    </c:plotArea>
    <c:legend>
      <c:legendPos val="t"/>
      <c:overlay val="0"/>
      <c:txPr>
        <a:bodyPr/>
        <a:lstStyle/>
        <a:p>
          <a:pPr>
            <a:defRPr sz="1000">
              <a:solidFill>
                <a:srgbClr val="EEE6E2"/>
              </a:solidFill>
              <a:latin typeface="Calibri"/>
              <a:cs typeface="Calibri"/>
            </a:defRPr>
          </a:pPr>
          <a:endParaRPr lang="en-US"/>
        </a:p>
      </c:txPr>
    </c:legend>
    <c:plotVisOnly val="1"/>
    <c:dispBlanksAs val="span"/>
  </c:chart>
  <c:spPr>
    <a:solidFill>
      <a:srgbClr val="05020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 R&amp;D costs</c:v>
                </c:pt>
              </c:strCache>
            </c:strRef>
          </c:tx>
          <c:spPr>
            <a:solidFill>
              <a:srgbClr val="5C4E50"/>
            </a:solidFill>
            <a:effectLst/>
          </c:spPr>
          <c:invertIfNegative val="0"/>
          <c:dLbls>
            <c:numFmt formatCode="#,##0" sourceLinked="0"/>
            <c:txPr>
              <a:bodyPr/>
              <a:lstStyle/>
              <a:p>
                <a:pPr>
                  <a:defRPr b="0" i="0" strike="noStrike" sz="800" u="none">
                    <a:solidFill>
                      <a:srgbClr val="EEE6E2"/>
                    </a:solidFill>
                    <a:latin typeface="Calibri"/>
                  </a:defRPr>
                </a:pPr>
              </a:p>
            </c:txPr>
            <c:showLegendKey val="0"/>
            <c:showVal val="1"/>
            <c:showCatName val="0"/>
            <c:showSerName val="0"/>
            <c:showPercent val="0"/>
            <c:showBubbleSize val="0"/>
            <c:showLeaderLines val="0"/>
          </c:dLbls>
          <c:cat>
            <c:multiLvlStrRef>
              <c:f>Sheet1!$A$2:$A$8</c:f>
              <c:multiLvlStrCache>
                <c:ptCount val="7"/>
                <c:lvl>
                  <c:pt idx="0">
                    <c:v>H1 2023</c:v>
                  </c:pt>
                  <c:pt idx="1">
                    <c:v>H2 2023</c:v>
                  </c:pt>
                  <c:pt idx="2">
                    <c:v>H1 2024</c:v>
                  </c:pt>
                  <c:pt idx="3">
                    <c:v>H2 2024</c:v>
                  </c:pt>
                  <c:pt idx="4">
                    <c:v>H1 2025</c:v>
                  </c:pt>
                  <c:pt idx="5">
                    <c:v>H2 2025</c:v>
                  </c:pt>
                  <c:pt idx="6">
                    <c:v>H1 2026</c:v>
                  </c:pt>
                </c:lvl>
              </c:multiLvlStrCache>
            </c:multiLvlStrRef>
          </c:cat>
          <c:val>
            <c:numRef>
              <c:f>Sheet1!$B$2:$B$8</c:f>
              <c:numCache>
                <c:formatCode>General</c:formatCode>
                <c:ptCount val="7"/>
                <c:pt idx="0">
                  <c:v>1545</c:v>
                </c:pt>
                <c:pt idx="1">
                  <c:v>1289</c:v>
                </c:pt>
                <c:pt idx="2">
                  <c:v>1665</c:v>
                </c:pt>
                <c:pt idx="3">
                  <c:v>863</c:v>
                </c:pt>
                <c:pt idx="4">
                  <c:v>1264</c:v>
                </c:pt>
                <c:pt idx="5">
                  <c:v>1028</c:v>
                </c:pt>
                <c:pt idx="6">
                  <c:v>1116</c:v>
                </c:pt>
              </c:numCache>
            </c:numRef>
          </c:val>
        </c:ser>
        <c:ser>
          <c:idx val="1"/>
          <c:order val="1"/>
          <c:tx>
            <c:strRef>
              <c:f>Sheet1!$C$1</c:f>
              <c:strCache>
                <c:ptCount val="1"/>
                <c:pt idx="0">
                  <c:v>R&amp;D charged to the P&amp;L</c:v>
                </c:pt>
              </c:strCache>
            </c:strRef>
          </c:tx>
          <c:spPr>
            <a:solidFill>
              <a:srgbClr val="D5001C"/>
            </a:solidFill>
            <a:effectLst/>
          </c:spPr>
          <c:invertIfNegative val="0"/>
          <c:dLbls>
            <c:numFmt formatCode="#,##0" sourceLinked="0"/>
            <c:txPr>
              <a:bodyPr/>
              <a:lstStyle/>
              <a:p>
                <a:pPr>
                  <a:defRPr b="0" i="0" strike="noStrike" sz="800" u="none">
                    <a:solidFill>
                      <a:srgbClr val="EEE6E2"/>
                    </a:solidFill>
                    <a:latin typeface="Calibri"/>
                  </a:defRPr>
                </a:pPr>
              </a:p>
            </c:txPr>
            <c:showLegendKey val="0"/>
            <c:showVal val="1"/>
            <c:showCatName val="0"/>
            <c:showSerName val="0"/>
            <c:showPercent val="0"/>
            <c:showBubbleSize val="0"/>
            <c:showLeaderLines val="0"/>
          </c:dLbls>
          <c:cat>
            <c:multiLvlStrRef>
              <c:f>Sheet1!$A$2:$A$8</c:f>
              <c:multiLvlStrCache>
                <c:ptCount val="7"/>
                <c:lvl>
                  <c:pt idx="0">
                    <c:v>H1 2023</c:v>
                  </c:pt>
                  <c:pt idx="1">
                    <c:v>H2 2023</c:v>
                  </c:pt>
                  <c:pt idx="2">
                    <c:v>H1 2024</c:v>
                  </c:pt>
                  <c:pt idx="3">
                    <c:v>H2 2024</c:v>
                  </c:pt>
                  <c:pt idx="4">
                    <c:v>H1 2025</c:v>
                  </c:pt>
                  <c:pt idx="5">
                    <c:v>H2 2025</c:v>
                  </c:pt>
                  <c:pt idx="6">
                    <c:v>H1 2026</c:v>
                  </c:pt>
                </c:lvl>
              </c:multiLvlStrCache>
            </c:multiLvlStrRef>
          </c:cat>
          <c:val>
            <c:numRef>
              <c:f>Sheet1!$C$2:$C$8</c:f>
              <c:numCache>
                <c:formatCode>General</c:formatCode>
                <c:ptCount val="7"/>
                <c:pt idx="0">
                  <c:v>770</c:v>
                </c:pt>
                <c:pt idx="1">
                  <c:v>943</c:v>
                </c:pt>
                <c:pt idx="2">
                  <c:v>1057</c:v>
                </c:pt>
                <c:pt idx="3">
                  <c:v>989</c:v>
                </c:pt>
                <c:pt idx="4">
                  <c:v>1290</c:v>
                </c:pt>
                <c:pt idx="5">
                  <c:v>1869</c:v>
                </c:pt>
                <c:pt idx="6">
                  <c:v>1334</c:v>
                </c:pt>
              </c:numCache>
            </c:numRef>
          </c:val>
        </c:ser>
        <c:dLbls>
          <c:numFmt formatCode="#,##0" sourceLinked="0"/>
          <c:txPr>
            <a:bodyPr/>
            <a:lstStyle/>
            <a:p>
              <a:pPr>
                <a:defRPr b="0" i="0" strike="noStrike" sz="800" u="none">
                  <a:solidFill>
                    <a:srgbClr val="EEE6E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1020"/>
            </a:solidFill>
            <a:prstDash val="solid"/>
            <a:round/>
          </a:ln>
        </c:spPr>
        <c:txPr>
          <a:bodyPr/>
          <a:lstStyle/>
          <a:p>
            <a:pPr>
              <a:defRPr sz="1000" b="0" i="0" u="none" strike="noStrike">
                <a:solidFill>
                  <a:srgbClr val="9C8F8E"/>
                </a:solidFill>
                <a:latin typeface="Calibri"/>
              </a:defRPr>
            </a:pPr>
            <a:endParaRPr lang="en-US"/>
          </a:p>
        </c:txPr>
        <c:crossAx val="2094734552"/>
        <c:crosses val="autoZero"/>
        <c:auto val="1"/>
        <c:lblAlgn val="ctr"/>
        <c:noMultiLvlLbl val="1"/>
      </c:catAx>
      <c:valAx>
        <c:axId val="2094734552"/>
        <c:scaling>
          <c:orientation val="minMax"/>
          <c:max val="2000"/>
        </c:scaling>
        <c:delete val="0"/>
        <c:axPos val="l"/>
        <c:majorGridlines>
          <c:spPr>
            <a:ln w="6350" cap="flat">
              <a:solidFill>
                <a:srgbClr val="2A1F21"/>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9C8F8E"/>
                </a:solidFill>
                <a:latin typeface="Calibri"/>
              </a:defRPr>
            </a:pPr>
            <a:endParaRPr lang="en-US"/>
          </a:p>
        </c:txPr>
        <c:crossAx val="2094734554"/>
        <c:crosses val="autoZero"/>
        <c:crossBetween val="between"/>
      </c:valAx>
      <c:spPr>
        <a:solidFill>
          <a:srgbClr val="050203">
            <a:alpha val="0"/>
          </a:srgbClr>
        </a:solidFill>
        <a:ln>
          <a:noFill/>
        </a:ln>
        <a:effectLst/>
      </c:spPr>
    </c:plotArea>
    <c:legend>
      <c:legendPos val="t"/>
      <c:overlay val="0"/>
      <c:txPr>
        <a:bodyPr/>
        <a:lstStyle/>
        <a:p>
          <a:pPr>
            <a:defRPr sz="1000">
              <a:solidFill>
                <a:srgbClr val="EEE6E2"/>
              </a:solidFill>
              <a:latin typeface="Calibri"/>
              <a:cs typeface="Calibri"/>
            </a:defRPr>
          </a:pPr>
          <a:endParaRPr lang="en-US"/>
        </a:p>
      </c:txPr>
    </c:legend>
    <c:plotVisOnly val="1"/>
    <c:dispBlanksAs val="span"/>
  </c:chart>
  <c:spPr>
    <a:solidFill>
      <a:srgbClr val="050203">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H1 2025</c:v>
                </c:pt>
              </c:strCache>
            </c:strRef>
          </c:tx>
          <c:spPr>
            <a:solidFill>
              <a:srgbClr val="5C4E50"/>
            </a:solidFill>
            <a:effectLst/>
          </c:spPr>
          <c:invertIfNegative val="0"/>
          <c:dLbls>
            <c:numFmt formatCode="0.0%" sourceLinked="0"/>
            <c:txPr>
              <a:bodyPr/>
              <a:lstStyle/>
              <a:p>
                <a:pPr>
                  <a:defRPr b="0" i="0" strike="noStrike" sz="850" u="none">
                    <a:solidFill>
                      <a:srgbClr val="EEE6E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718 Boxster/Cayman</c:v>
                  </c:pt>
                  <c:pt idx="1">
                    <c:v>Taycan</c:v>
                  </c:pt>
                  <c:pt idx="2">
                    <c:v>Panamera</c:v>
                  </c:pt>
                  <c:pt idx="3">
                    <c:v>911</c:v>
                  </c:pt>
                  <c:pt idx="4">
                    <c:v>Macan (total)</c:v>
                  </c:pt>
                  <c:pt idx="5">
                    <c:v>Cayenne</c:v>
                  </c:pt>
                </c:lvl>
              </c:multiLvlStrCache>
            </c:multiLvlStrRef>
          </c:cat>
          <c:val>
            <c:numRef>
              <c:f>Sheet1!$B$2:$B$7</c:f>
              <c:numCache>
                <c:formatCode>General</c:formatCode>
                <c:ptCount val="6"/>
                <c:pt idx="0">
                  <c:v>0.07169839675936363</c:v>
                </c:pt>
                <c:pt idx="1">
                  <c:v>0.05671113661358963</c:v>
                </c:pt>
                <c:pt idx="2">
                  <c:v>0.10229453996488855</c:v>
                </c:pt>
                <c:pt idx="3">
                  <c:v>0.17492878660573397</c:v>
                </c:pt>
                <c:pt idx="4">
                  <c:v>0.308331796353601</c:v>
                </c:pt>
                <c:pt idx="5">
                  <c:v>0.28603534370282324</c:v>
                </c:pt>
              </c:numCache>
            </c:numRef>
          </c:val>
        </c:ser>
        <c:ser>
          <c:idx val="1"/>
          <c:order val="1"/>
          <c:tx>
            <c:strRef>
              <c:f>Sheet1!$C$1</c:f>
              <c:strCache>
                <c:ptCount val="1"/>
                <c:pt idx="0">
                  <c:v>H1 2026</c:v>
                </c:pt>
              </c:strCache>
            </c:strRef>
          </c:tx>
          <c:spPr>
            <a:solidFill>
              <a:srgbClr val="D5001C"/>
            </a:solidFill>
            <a:effectLst/>
          </c:spPr>
          <c:invertIfNegative val="0"/>
          <c:dLbls>
            <c:numFmt formatCode="0.0%" sourceLinked="0"/>
            <c:txPr>
              <a:bodyPr/>
              <a:lstStyle/>
              <a:p>
                <a:pPr>
                  <a:defRPr b="0" i="0" strike="noStrike" sz="850" u="none">
                    <a:solidFill>
                      <a:srgbClr val="EEE6E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718 Boxster/Cayman</c:v>
                  </c:pt>
                  <c:pt idx="1">
                    <c:v>Taycan</c:v>
                  </c:pt>
                  <c:pt idx="2">
                    <c:v>Panamera</c:v>
                  </c:pt>
                  <c:pt idx="3">
                    <c:v>911</c:v>
                  </c:pt>
                  <c:pt idx="4">
                    <c:v>Macan (total)</c:v>
                  </c:pt>
                  <c:pt idx="5">
                    <c:v>Cayenne</c:v>
                  </c:pt>
                </c:lvl>
              </c:multiLvlStrCache>
            </c:multiLvlStrRef>
          </c:cat>
          <c:val>
            <c:numRef>
              <c:f>Sheet1!$C$2:$C$7</c:f>
              <c:numCache>
                <c:formatCode>General</c:formatCode>
                <c:ptCount val="6"/>
                <c:pt idx="0">
                  <c:v>0.02280346017366278</c:v>
                </c:pt>
                <c:pt idx="1">
                  <c:v>0.0508478733668013</c:v>
                </c:pt>
                <c:pt idx="2">
                  <c:v>0.07610419766814383</c:v>
                </c:pt>
                <c:pt idx="3">
                  <c:v>0.24965251091524537</c:v>
                </c:pt>
                <c:pt idx="4">
                  <c:v>0.2887429888967017</c:v>
                </c:pt>
                <c:pt idx="5">
                  <c:v>0.311848968979445</c:v>
                </c:pt>
              </c:numCache>
            </c:numRef>
          </c:val>
        </c:ser>
        <c:dLbls>
          <c:numFmt formatCode="0.0%" sourceLinked="0"/>
          <c:txPr>
            <a:bodyPr/>
            <a:lstStyle/>
            <a:p>
              <a:pPr>
                <a:defRPr b="0" i="0" strike="noStrike" sz="850" u="none">
                  <a:solidFill>
                    <a:srgbClr val="EEE6E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A1020"/>
            </a:solidFill>
            <a:prstDash val="solid"/>
            <a:round/>
          </a:ln>
        </c:spPr>
        <c:txPr>
          <a:bodyPr/>
          <a:lstStyle/>
          <a:p>
            <a:pPr>
              <a:defRPr sz="1000" b="0" i="0" u="none" strike="noStrike">
                <a:solidFill>
                  <a:srgbClr val="EEE6E2"/>
                </a:solidFill>
                <a:latin typeface="Calibri"/>
              </a:defRPr>
            </a:pPr>
            <a:endParaRPr lang="en-US"/>
          </a:p>
        </c:txPr>
        <c:crossAx val="2094734552"/>
        <c:crosses val="autoZero"/>
        <c:auto val="1"/>
        <c:lblAlgn val="ctr"/>
        <c:noMultiLvlLbl val="1"/>
      </c:catAx>
      <c:valAx>
        <c:axId val="2094734552"/>
        <c:scaling>
          <c:orientation val="minMax"/>
          <c:max val="0.38"/>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9C8F8E"/>
                </a:solidFill>
                <a:latin typeface="Calibri"/>
              </a:defRPr>
            </a:pPr>
            <a:endParaRPr lang="en-US"/>
          </a:p>
        </c:txPr>
        <c:crossAx val="2094734554"/>
        <c:crosses val="autoZero"/>
        <c:crossBetween val="between"/>
      </c:valAx>
      <c:spPr>
        <a:solidFill>
          <a:srgbClr val="050203">
            <a:alpha val="0"/>
          </a:srgbClr>
        </a:solidFill>
        <a:ln>
          <a:noFill/>
        </a:ln>
        <a:effectLst/>
      </c:spPr>
    </c:plotArea>
    <c:legend>
      <c:legendPos val="t"/>
      <c:overlay val="0"/>
      <c:txPr>
        <a:bodyPr/>
        <a:lstStyle/>
        <a:p>
          <a:pPr>
            <a:defRPr sz="1000">
              <a:solidFill>
                <a:srgbClr val="EEE6E2"/>
              </a:solidFill>
              <a:latin typeface="Calibri"/>
              <a:cs typeface="Calibri"/>
            </a:defRPr>
          </a:pPr>
          <a:endParaRPr lang="en-US"/>
        </a:p>
      </c:txPr>
    </c:legend>
    <c:plotVisOnly val="1"/>
    <c:dispBlanksAs val="span"/>
  </c:chart>
  <c:spPr>
    <a:solidFill>
      <a:srgbClr val="050203">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H1 2025</c:v>
                </c:pt>
              </c:strCache>
            </c:strRef>
          </c:tx>
          <c:spPr>
            <a:solidFill>
              <a:srgbClr val="5C4E50"/>
            </a:solidFill>
            <a:effectLst/>
          </c:spPr>
          <c:invertIfNegative val="0"/>
          <c:dLbls>
            <c:numFmt formatCode="0.0%" sourceLinked="0"/>
            <c:txPr>
              <a:bodyPr/>
              <a:lstStyle/>
              <a:p>
                <a:pPr>
                  <a:defRPr b="0" i="0" strike="noStrike" sz="850" u="none">
                    <a:solidFill>
                      <a:srgbClr val="EEE6E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China</c:v>
                  </c:pt>
                  <c:pt idx="1">
                    <c:v>Germany</c:v>
                  </c:pt>
                  <c:pt idx="2">
                    <c:v>Overseas &amp; Emerging Markets</c:v>
                  </c:pt>
                  <c:pt idx="3">
                    <c:v>Europe excl. Germany</c:v>
                  </c:pt>
                  <c:pt idx="4">
                    <c:v>North America</c:v>
                  </c:pt>
                </c:lvl>
              </c:multiLvlStrCache>
            </c:multiLvlStrRef>
          </c:cat>
          <c:val>
            <c:numRef>
              <c:f>Sheet1!$B$2:$B$6</c:f>
              <c:numCache>
                <c:formatCode>General</c:formatCode>
                <c:ptCount val="5"/>
                <c:pt idx="0">
                  <c:v>0.1455144100388685</c:v>
                </c:pt>
                <c:pt idx="1">
                  <c:v>0.10911189895553688</c:v>
                </c:pt>
                <c:pt idx="2">
                  <c:v>0.20600993230458156</c:v>
                </c:pt>
                <c:pt idx="3">
                  <c:v>0.24168835515844553</c:v>
                </c:pt>
                <c:pt idx="4">
                  <c:v>0.2976754035425675</c:v>
                </c:pt>
              </c:numCache>
            </c:numRef>
          </c:val>
        </c:ser>
        <c:ser>
          <c:idx val="1"/>
          <c:order val="1"/>
          <c:tx>
            <c:strRef>
              <c:f>Sheet1!$C$1</c:f>
              <c:strCache>
                <c:ptCount val="1"/>
                <c:pt idx="0">
                  <c:v>H1 2026</c:v>
                </c:pt>
              </c:strCache>
            </c:strRef>
          </c:tx>
          <c:spPr>
            <a:solidFill>
              <a:srgbClr val="D5001C"/>
            </a:solidFill>
            <a:effectLst/>
          </c:spPr>
          <c:invertIfNegative val="0"/>
          <c:dLbls>
            <c:numFmt formatCode="0.0%" sourceLinked="0"/>
            <c:txPr>
              <a:bodyPr/>
              <a:lstStyle/>
              <a:p>
                <a:pPr>
                  <a:defRPr b="0" i="0" strike="noStrike" sz="850" u="none">
                    <a:solidFill>
                      <a:srgbClr val="EEE6E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China</c:v>
                  </c:pt>
                  <c:pt idx="1">
                    <c:v>Germany</c:v>
                  </c:pt>
                  <c:pt idx="2">
                    <c:v>Overseas &amp; Emerging Markets</c:v>
                  </c:pt>
                  <c:pt idx="3">
                    <c:v>Europe excl. Germany</c:v>
                  </c:pt>
                  <c:pt idx="4">
                    <c:v>North America</c:v>
                  </c:pt>
                </c:lvl>
              </c:multiLvlStrCache>
            </c:multiLvlStrRef>
          </c:cat>
          <c:val>
            <c:numRef>
              <c:f>Sheet1!$C$2:$C$6</c:f>
              <c:numCache>
                <c:formatCode>General</c:formatCode>
                <c:ptCount val="5"/>
                <c:pt idx="0">
                  <c:v>0.11856327571828038</c:v>
                </c:pt>
                <c:pt idx="1">
                  <c:v>0.12213628113093389</c:v>
                </c:pt>
                <c:pt idx="2">
                  <c:v>0.20339966968096415</c:v>
                </c:pt>
                <c:pt idx="3">
                  <c:v>0.24755940019295863</c:v>
                </c:pt>
                <c:pt idx="4">
                  <c:v>0.30834137327686295</c:v>
                </c:pt>
              </c:numCache>
            </c:numRef>
          </c:val>
        </c:ser>
        <c:dLbls>
          <c:numFmt formatCode="0.0%" sourceLinked="0"/>
          <c:txPr>
            <a:bodyPr/>
            <a:lstStyle/>
            <a:p>
              <a:pPr>
                <a:defRPr b="0" i="0" strike="noStrike" sz="850" u="none">
                  <a:solidFill>
                    <a:srgbClr val="EEE6E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A1020"/>
            </a:solidFill>
            <a:prstDash val="solid"/>
            <a:round/>
          </a:ln>
        </c:spPr>
        <c:txPr>
          <a:bodyPr/>
          <a:lstStyle/>
          <a:p>
            <a:pPr>
              <a:defRPr sz="1000" b="0" i="0" u="none" strike="noStrike">
                <a:solidFill>
                  <a:srgbClr val="EEE6E2"/>
                </a:solidFill>
                <a:latin typeface="Calibri"/>
              </a:defRPr>
            </a:pPr>
            <a:endParaRPr lang="en-US"/>
          </a:p>
        </c:txPr>
        <c:crossAx val="2094734552"/>
        <c:crosses val="autoZero"/>
        <c:auto val="1"/>
        <c:lblAlgn val="ctr"/>
        <c:noMultiLvlLbl val="1"/>
      </c:catAx>
      <c:valAx>
        <c:axId val="2094734552"/>
        <c:scaling>
          <c:orientation val="minMax"/>
          <c:max val="0.38"/>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9C8F8E"/>
                </a:solidFill>
                <a:latin typeface="Calibri"/>
              </a:defRPr>
            </a:pPr>
            <a:endParaRPr lang="en-US"/>
          </a:p>
        </c:txPr>
        <c:crossAx val="2094734554"/>
        <c:crosses val="autoZero"/>
        <c:crossBetween val="between"/>
      </c:valAx>
      <c:spPr>
        <a:solidFill>
          <a:srgbClr val="050203">
            <a:alpha val="0"/>
          </a:srgbClr>
        </a:solidFill>
        <a:ln>
          <a:noFill/>
        </a:ln>
        <a:effectLst/>
      </c:spPr>
    </c:plotArea>
    <c:legend>
      <c:legendPos val="t"/>
      <c:overlay val="0"/>
      <c:txPr>
        <a:bodyPr/>
        <a:lstStyle/>
        <a:p>
          <a:pPr>
            <a:defRPr sz="1000">
              <a:solidFill>
                <a:srgbClr val="EEE6E2"/>
              </a:solidFill>
              <a:latin typeface="Calibri"/>
              <a:cs typeface="Calibri"/>
            </a:defRPr>
          </a:pPr>
          <a:endParaRPr lang="en-US"/>
        </a:p>
      </c:txPr>
    </c:legend>
    <c:plotVisOnly val="1"/>
    <c:dispBlanksAs val="span"/>
  </c:chart>
  <c:spPr>
    <a:solidFill>
      <a:srgbClr val="050203">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Automotive EBITDA margin</c:v>
                </c:pt>
              </c:strCache>
            </c:strRef>
          </c:tx>
          <c:spPr>
            <a:solidFill>
              <a:srgbClr val="EEE6E2"/>
            </a:solidFill>
            <a:ln w="25400" cap="flat">
              <a:solidFill>
                <a:srgbClr val="EEE6E2"/>
              </a:solidFill>
              <a:prstDash val="solid"/>
              <a:round/>
            </a:ln>
            <a:effectLst/>
          </c:spPr>
          <c:invertIfNegative val="0"/>
          <c:dLbls>
            <c:numFmt formatCode="0.0%" sourceLinked="0"/>
            <c:txPr>
              <a:bodyPr/>
              <a:lstStyle/>
              <a:p>
                <a:pPr>
                  <a:defRPr b="0" i="0" strike="noStrike" sz="850" u="none">
                    <a:solidFill>
                      <a:srgbClr val="EEE6E2"/>
                    </a:solidFill>
                    <a:latin typeface="Calibri"/>
                  </a:defRPr>
                </a:pPr>
              </a:p>
            </c:txPr>
            <c:dLblPos val="t"/>
            <c:showLegendKey val="0"/>
            <c:showVal val="1"/>
            <c:showCatName val="0"/>
            <c:showSerName val="0"/>
            <c:showPercent val="0"/>
            <c:showBubbleSize val="0"/>
            <c:showLeaderLines val="0"/>
          </c:dLbls>
          <c:marker>
            <c:symbol val="circle"/>
            <c:size val="5"/>
            <c:spPr>
              <a:solidFill>
                <a:srgbClr val="EEE6E2"/>
              </a:solidFill>
              <a:ln w="9525" cap="flat">
                <a:solidFill>
                  <a:srgbClr val="EEE6E2"/>
                </a:solidFill>
                <a:prstDash val="solid"/>
                <a:round/>
              </a:ln>
              <a:effectLst/>
            </c:spPr>
          </c:marker>
          <c:cat>
            <c:multiLvlStrRef>
              <c:f>Sheet1!$A$2:$A$8</c:f>
              <c:multiLvlStrCache>
                <c:ptCount val="7"/>
                <c:lvl>
                  <c:pt idx="0">
                    <c:v>H1 2023</c:v>
                  </c:pt>
                  <c:pt idx="1">
                    <c:v>H2 2023</c:v>
                  </c:pt>
                  <c:pt idx="2">
                    <c:v>H1 2024</c:v>
                  </c:pt>
                  <c:pt idx="3">
                    <c:v>H2 2024</c:v>
                  </c:pt>
                  <c:pt idx="4">
                    <c:v>H1 2025</c:v>
                  </c:pt>
                  <c:pt idx="5">
                    <c:v>H2 2025</c:v>
                  </c:pt>
                  <c:pt idx="6">
                    <c:v>H1 2026</c:v>
                  </c:pt>
                </c:lvl>
              </c:multiLvlStrCache>
            </c:multiLvlStrRef>
          </c:cat>
          <c:val>
            <c:numRef>
              <c:f>Sheet1!$B$2:$B$8</c:f>
              <c:numCache>
                <c:formatCode>General</c:formatCode>
                <c:ptCount val="7"/>
                <c:pt idx="0">
                  <c:v>0.25561084056743594</c:v>
                </c:pt>
                <c:pt idx="1">
                  <c:v>0.2581676328764155</c:v>
                </c:pt>
                <c:pt idx="2">
                  <c:v>0.24119807855326364</c:v>
                </c:pt>
                <c:pt idx="3">
                  <c:v>0.21357306727845063</c:v>
                </c:pt>
                <c:pt idx="4">
                  <c:v>0.1603668360391622</c:v>
                </c:pt>
                <c:pt idx="5">
                  <c:v>0.10556490309715212</c:v>
                </c:pt>
                <c:pt idx="6">
                  <c:v>0.1825438712231165</c:v>
                </c:pt>
              </c:numCache>
            </c:numRef>
          </c:val>
          <c:smooth val="0"/>
        </c:ser>
        <c:ser>
          <c:idx val="1"/>
          <c:order val="1"/>
          <c:tx>
            <c:strRef>
              <c:f>Sheet1!$C$1</c:f>
              <c:strCache>
                <c:ptCount val="1"/>
                <c:pt idx="0">
                  <c:v>Automotive NCF margin</c:v>
                </c:pt>
              </c:strCache>
            </c:strRef>
          </c:tx>
          <c:spPr>
            <a:solidFill>
              <a:srgbClr val="D5001C"/>
            </a:solidFill>
            <a:ln w="25400" cap="flat">
              <a:solidFill>
                <a:srgbClr val="D5001C"/>
              </a:solidFill>
              <a:prstDash val="solid"/>
              <a:round/>
            </a:ln>
            <a:effectLst/>
          </c:spPr>
          <c:invertIfNegative val="0"/>
          <c:dLbls>
            <c:numFmt formatCode="0.0%" sourceLinked="0"/>
            <c:txPr>
              <a:bodyPr/>
              <a:lstStyle/>
              <a:p>
                <a:pPr>
                  <a:defRPr b="0" i="0" strike="noStrike" sz="850" u="none">
                    <a:solidFill>
                      <a:srgbClr val="EEE6E2"/>
                    </a:solidFill>
                    <a:latin typeface="Calibri"/>
                  </a:defRPr>
                </a:pPr>
              </a:p>
            </c:txPr>
            <c:dLblPos val="t"/>
            <c:showLegendKey val="0"/>
            <c:showVal val="1"/>
            <c:showCatName val="0"/>
            <c:showSerName val="0"/>
            <c:showPercent val="0"/>
            <c:showBubbleSize val="0"/>
            <c:showLeaderLines val="0"/>
          </c:dLbls>
          <c:marker>
            <c:symbol val="circle"/>
            <c:size val="5"/>
            <c:spPr>
              <a:solidFill>
                <a:srgbClr val="D5001C"/>
              </a:solidFill>
              <a:ln w="9525" cap="flat">
                <a:solidFill>
                  <a:srgbClr val="D5001C"/>
                </a:solidFill>
                <a:prstDash val="solid"/>
                <a:round/>
              </a:ln>
              <a:effectLst/>
            </c:spPr>
          </c:marker>
          <c:cat>
            <c:multiLvlStrRef>
              <c:f>Sheet1!$A$2:$A$8</c:f>
              <c:multiLvlStrCache>
                <c:ptCount val="7"/>
                <c:lvl>
                  <c:pt idx="0">
                    <c:v>H1 2023</c:v>
                  </c:pt>
                  <c:pt idx="1">
                    <c:v>H2 2023</c:v>
                  </c:pt>
                  <c:pt idx="2">
                    <c:v>H1 2024</c:v>
                  </c:pt>
                  <c:pt idx="3">
                    <c:v>H2 2024</c:v>
                  </c:pt>
                  <c:pt idx="4">
                    <c:v>H1 2025</c:v>
                  </c:pt>
                  <c:pt idx="5">
                    <c:v>H2 2025</c:v>
                  </c:pt>
                  <c:pt idx="6">
                    <c:v>H1 2026</c:v>
                  </c:pt>
                </c:lvl>
              </c:multiLvlStrCache>
            </c:multiLvlStrRef>
          </c:cat>
          <c:val>
            <c:numRef>
              <c:f>Sheet1!$C$2:$C$8</c:f>
              <c:numCache>
                <c:formatCode>General</c:formatCode>
                <c:ptCount val="7"/>
                <c:pt idx="0">
                  <c:v>0.11735024650645776</c:v>
                </c:pt>
                <c:pt idx="1">
                  <c:v>0.09516435455382781</c:v>
                </c:pt>
                <c:pt idx="2">
                  <c:v>0.06312517660356033</c:v>
                </c:pt>
                <c:pt idx="3">
                  <c:v>0.13965885039748174</c:v>
                </c:pt>
                <c:pt idx="4">
                  <c:v>0.02441407051679266</c:v>
                </c:pt>
                <c:pt idx="5">
                  <c:v>0.06961560372655326</c:v>
                </c:pt>
                <c:pt idx="6">
                  <c:v>0.067307350112152</c:v>
                </c:pt>
              </c:numCache>
            </c:numRef>
          </c:val>
          <c:smooth val="0"/>
        </c:ser>
        <c:dLbls>
          <c:numFmt formatCode="0.0%" sourceLinked="0"/>
          <c:txPr>
            <a:bodyPr/>
            <a:lstStyle/>
            <a:p>
              <a:pPr>
                <a:defRPr b="0" i="0" strike="noStrike" sz="850" u="none">
                  <a:solidFill>
                    <a:srgbClr val="EEE6E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1020"/>
            </a:solidFill>
            <a:prstDash val="solid"/>
            <a:round/>
          </a:ln>
        </c:spPr>
        <c:txPr>
          <a:bodyPr/>
          <a:lstStyle/>
          <a:p>
            <a:pPr>
              <a:defRPr sz="1000" b="0" i="0" u="none" strike="noStrike">
                <a:solidFill>
                  <a:srgbClr val="9C8F8E"/>
                </a:solidFill>
                <a:latin typeface="Calibri"/>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6350" cap="flat">
              <a:solidFill>
                <a:srgbClr val="2A1F21"/>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9C8F8E"/>
                </a:solidFill>
                <a:latin typeface="Calibri"/>
              </a:defRPr>
            </a:pPr>
            <a:endParaRPr lang="en-US"/>
          </a:p>
        </c:txPr>
        <c:crossAx val="2094734554"/>
        <c:crosses val="autoZero"/>
        <c:crossBetween val="between"/>
        <c:majorUnit val="0.1"/>
      </c:valAx>
      <c:spPr>
        <a:solidFill>
          <a:srgbClr val="050203">
            <a:alpha val="0"/>
          </a:srgbClr>
        </a:solidFill>
        <a:ln>
          <a:noFill/>
        </a:ln>
        <a:effectLst/>
      </c:spPr>
    </c:plotArea>
    <c:legend>
      <c:legendPos val="t"/>
      <c:overlay val="0"/>
      <c:txPr>
        <a:bodyPr/>
        <a:lstStyle/>
        <a:p>
          <a:pPr>
            <a:defRPr sz="1000">
              <a:solidFill>
                <a:srgbClr val="EEE6E2"/>
              </a:solidFill>
              <a:latin typeface="Calibri"/>
              <a:cs typeface="Calibri"/>
            </a:defRPr>
          </a:pPr>
          <a:endParaRPr lang="en-US"/>
        </a:p>
      </c:txPr>
    </c:legend>
    <c:plotVisOnly val="1"/>
    <c:dispBlanksAs val="span"/>
  </c:chart>
  <c:spPr>
    <a:solidFill>
      <a:srgbClr val="05020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one live business question and answered it with a pipeline where every number can be traced back to Porsche's own disclosures: a PostgreSQL data model, an audited Excel model and a six-page Power BI dashboard. The question is simple: Porsche's reported margin recovered in H1 2026. Is the business actually improving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thing: the headline improved because the one-off charges shrank, not because the business improved. Reported margin rose from 5.5% to 7.8%. Remove the realignment and battery items Porsche itself discloses, and the underlying margin fell from 9.4% to 8.4%. Lower one-offs of +€600m are larger than the whole EBIT gain of +€341m. Cash is the clearly positive signal. And on Porsche's own guidance, H2 has to improve on H1 — that last point is scenario arithmetic,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framed it the way a CFO office would: what would have to be true for this recovery to be real? Three things can make a headline look better than the business: smaller one-off charges, accounting choices on R&amp;D capitalisation and depreciation, and a richer price and mix compensating for fewer cars. Each one is tested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profit levels, only three of them KPIs. L0 is Porsche's reported EBIT. L1 adds back the strategic realignment and battery items Porsche discloses — that is the headline underlying KPI. L2 also adds back US import tariffs. In H1 2026: €1,348m, €1,448m and €1,848m. I use Porsche's own disclosed items, so there is no judgement about what counts as a one-off. Until 2025 all three lines are identical, because no one-offs were disclosed. From 2025 the reported line falls much further, and in H1 2026 only the reported line is up on the same half a year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year-on-year bridge explains the change in reported EBIT, from 1,007 to 1,348 million euros. Lower one-offs contributed +600; tariffs were the same in both halves, so zero; capitalised development −88; clean D&amp;A −37; Financial Services +6; and the residual −140. The residual isn't operating performance: it bundles price, mix, costs and FX that Porsche doesn't split out. But it is negative in both cases I tested, including −€79m if the H1 2026 impairments are not inside D&amp;A.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worry is that companies flatter EBIT by capitalising more R&amp;D. Here the opposite is happening. The capitalisation rate fell from 45.5% to 43.6%, and it was 77.7% in H1 2023. Past capitalisation is now being amortised through the P&amp;L, so the R&amp;D charge of €1,334m is above total R&amp;D costs of €1,116m. At the prior year's rate, the P&amp;L charge would have been about 20.7 million lower — illustrative, with amortisation held fixed. L3 is shown only to size the non-cash wedge and is never compared with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Porsche sold 10.8% fewer vehicles, 120,508 in H1 2026, while the average selling price rose 5.3% to 125.8 thousand euros. The volume effect of −1,748 million plus the ASP effect of +768 equals the automotive revenue change of −980. The higher price recovered only 44% of what volume took away. The ASP effect is price plus mix, options and FX, not pure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 moved towards the 911 and the Cayenne. The 911 rose to 25.0% of deliveries, up +7.5 pp; the Cayenne to 31.2%. The 718 fell to 2.3% as production ended, and China's share fell to 11.9%. One caveat: these are shares of retail deliveries, while revenue follows wholesale units. Richer mix helps, but as the previous slide showed, it does not replace lost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Cash is the clearly positive signal. Automotive net cash flow was €1,020m, a margin of 6.7% against 2.4% a year earlier, despite the cash-outs Porsche disclosed: about 0.4 billion for the first Audi licence tranche and the realignment, and about 0.3 billion of pension funding. Cash conversion, CFO over EBITDA, was 0.88. These are actuals as published. The next slide shows why the guidance arithmetic implies a much weaker H2 cash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forecast. I translate Porsche's published guidance ranges into what they require from H2. Each range is taken at its low, mid and high end, and the ends are combined: 27 combinations for the group, 9 for the automotive segment. With every range at its midpoint, the implied H2 underlying margin is 9.36%, against 8.41% in H1 — about one point of improvement. Across all combinations it runs from 7.10% to 11.69%, so the low end is compatible with H2 not improving. All midpoints is not a most-likely case, and no probabilities are attached. The implied H2 automotive cash margin is much weaker than H1's 6.73%. Assumptions: A-05 for the automotive share, A-06 that the extraordinary-expense guidance is net, A-07 that H2 tariffs equal 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more than a dashboard. Every value starts in a registered source, labelled fact, derived, assumption or proxy. SQL runs 305 data-quality and 116 model-quality checks; Excel has 50 audit checks; Power BI recomputes 388 measures against the SQL reference — all 388 pass. Across the tools, 1,524 comparisons, zero failures. The review caught real errors, including one that only showed up in a different calculation engine, and a DAX filter-context error in the mix shares. That is why the checks are automated rather than eyeballed.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H1 2026's margin rebound is explained by smaller one-offs; the underlying margin and the other drivers are still weakening. Price and mix help but do not replace volume, accounting is a headwind rather than a hidden tailwind, and cash is the bright spot. On Porsche's own guidance, sustainability depends on H2 improving on H1 — that is scenario arithmetic, not a forecast. What to monitor at the FY2026 results: the L1 margin against the guidance-implied requirement, the share of the EBIT change coming from one-offs, the sign of the residual, ASP coverage of the volume decline, the capitalisation rate, and H2 cash conversion. My part was to frame the question, validate the data, review each phase, build the dashboard, run the audit and tell the story. Happy to walk through any number back to its source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jp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Slide-4-image-1.jpeg"/><Relationship Id="rId2"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Slide-6-image-1.jpe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chart" Target="/ppt/charts/chart3.xml"/><Relationship Id="rId4" Type="http://schemas.openxmlformats.org/officeDocument/2006/relationships/chart" Target="/ppt/charts/chart4.xml"/><Relationship Id="rId1" Type="http://schemas.openxmlformats.org/officeDocument/2006/relationships/image" Target="../media/Slide-8-image-1.jpeg"/><Relationship Id="rId2" Type="http://schemas.openxmlformats.org/officeDocument/2006/relationships/image" Target="../media/image-8-2.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chart" Target="/ppt/charts/chart5.xml"/><Relationship Id="rId1" Type="http://schemas.openxmlformats.org/officeDocument/2006/relationships/image" Target="../media/Slide-9-image-1.jpe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11480"/>
            <a:ext cx="3657600" cy="274320"/>
          </a:xfrm>
          <a:prstGeom prst="rect">
            <a:avLst/>
          </a:prstGeom>
          <a:noFill/>
          <a:ln/>
        </p:spPr>
        <p:txBody>
          <a:bodyPr wrap="square" lIns="0" tIns="0" rIns="0" bIns="0" rtlCol="0" anchor="t"/>
          <a:lstStyle/>
          <a:p>
            <a:pPr indent="0" marL="0">
              <a:buNone/>
            </a:pPr>
            <a:r>
              <a:rPr lang="en-US" sz="1200" b="1" spc="600" kern="0" dirty="0">
                <a:solidFill>
                  <a:srgbClr val="EEE6E2"/>
                </a:solidFill>
                <a:latin typeface="Calibri" pitchFamily="34" charset="0"/>
                <a:ea typeface="Calibri" pitchFamily="34" charset="-122"/>
                <a:cs typeface="Calibri" pitchFamily="34" charset="-120"/>
              </a:rPr>
              <a:t>COMPANY LENS</a:t>
            </a:r>
            <a:endParaRPr lang="en-US" sz="1200" dirty="0"/>
          </a:p>
        </p:txBody>
      </p:sp>
      <p:pic>
        <p:nvPicPr>
          <p:cNvPr id="3" name="Image 0" descr="Slide artwork">    </p:cNvPr>
          <p:cNvPicPr>
            <a:picLocks noChangeAspect="1"/>
          </p:cNvPicPr>
          <p:nvPr/>
        </p:nvPicPr>
        <p:blipFill>
          <a:blip r:embed="rId2"/>
          <a:stretch>
            <a:fillRect/>
          </a:stretch>
        </p:blipFill>
        <p:spPr>
          <a:xfrm>
            <a:off x="502920" y="713232"/>
            <a:ext cx="2912190" cy="365760"/>
          </a:xfrm>
          <a:prstGeom prst="rect">
            <a:avLst/>
          </a:prstGeom>
        </p:spPr>
      </p:pic>
      <p:sp>
        <p:nvSpPr>
          <p:cNvPr id="4" name="Text 1"/>
          <p:cNvSpPr txBox="1"/>
          <p:nvPr/>
        </p:nvSpPr>
        <p:spPr>
          <a:xfrm>
            <a:off x="6613855" y="411480"/>
            <a:ext cx="5029200" cy="548640"/>
          </a:xfrm>
          <a:prstGeom prst="rect">
            <a:avLst/>
          </a:prstGeom>
          <a:noFill/>
          <a:ln/>
        </p:spPr>
        <p:txBody>
          <a:bodyPr wrap="square" lIns="0" tIns="0" rIns="0" bIns="0" rtlCol="0" anchor="t"/>
          <a:lstStyle/>
          <a:p>
            <a:pPr algn="r" indent="0" marL="0">
              <a:buNone/>
            </a:pPr>
            <a:r>
              <a:rPr lang="en-US" sz="1100" dirty="0">
                <a:solidFill>
                  <a:srgbClr val="9C8F8E"/>
                </a:solidFill>
                <a:latin typeface="Calibri" pitchFamily="34" charset="0"/>
                <a:ea typeface="Calibri" pitchFamily="34" charset="-122"/>
                <a:cs typeface="Calibri" pitchFamily="34" charset="-120"/>
              </a:rPr>
              <a:t>Vigneshwari Nalla</a:t>
            </a:r>
            <a:endParaRPr lang="en-US" sz="1100" dirty="0"/>
          </a:p>
          <a:p>
            <a:pPr algn="r" indent="0" marL="0">
              <a:buNone/>
            </a:pPr>
            <a:r>
              <a:rPr lang="en-US" sz="1100" dirty="0">
                <a:solidFill>
                  <a:srgbClr val="9C8F8E"/>
                </a:solidFill>
                <a:latin typeface="Calibri" pitchFamily="34" charset="0"/>
                <a:ea typeface="Calibri" pitchFamily="34" charset="-122"/>
                <a:cs typeface="Calibri" pitchFamily="34" charset="-120"/>
              </a:rPr>
              <a:t>MSc Data Analytics for Business, KEDGE Business School</a:t>
            </a:r>
            <a:endParaRPr lang="en-US" sz="1100" dirty="0"/>
          </a:p>
        </p:txBody>
      </p:sp>
      <p:sp>
        <p:nvSpPr>
          <p:cNvPr id="5" name="Text 2"/>
          <p:cNvSpPr txBox="1"/>
          <p:nvPr/>
        </p:nvSpPr>
        <p:spPr>
          <a:xfrm>
            <a:off x="1371600" y="5577840"/>
            <a:ext cx="9448495" cy="566928"/>
          </a:xfrm>
          <a:prstGeom prst="rect">
            <a:avLst/>
          </a:prstGeom>
          <a:noFill/>
          <a:ln/>
        </p:spPr>
        <p:txBody>
          <a:bodyPr wrap="square" lIns="0" tIns="0" rIns="0" bIns="0" rtlCol="0" anchor="t"/>
          <a:lstStyle/>
          <a:p>
            <a:pPr algn="ctr" indent="0" marL="0">
              <a:buNone/>
            </a:pPr>
            <a:r>
              <a:rPr lang="en-US" sz="3800" b="1" spc="100" kern="0" dirty="0">
                <a:solidFill>
                  <a:srgbClr val="D5001C"/>
                </a:solidFill>
                <a:latin typeface="Calibri" pitchFamily="34" charset="0"/>
                <a:ea typeface="Calibri" pitchFamily="34" charset="-122"/>
                <a:cs typeface="Calibri" pitchFamily="34" charset="-120"/>
              </a:rPr>
              <a:t>2026  </a:t>
            </a:r>
            <a:pPr algn="ctr" indent="0" marL="0">
              <a:buNone/>
            </a:pPr>
            <a:r>
              <a:rPr lang="en-US" sz="3800" b="1" spc="100" kern="0" dirty="0">
                <a:solidFill>
                  <a:srgbClr val="EEE6E2"/>
                </a:solidFill>
                <a:latin typeface="Calibri" pitchFamily="34" charset="0"/>
                <a:ea typeface="Calibri" pitchFamily="34" charset="-122"/>
                <a:cs typeface="Calibri" pitchFamily="34" charset="-120"/>
              </a:rPr>
              <a:t>MARGIN RECOVERY</a:t>
            </a:r>
            <a:endParaRPr lang="en-US" sz="3800" dirty="0"/>
          </a:p>
        </p:txBody>
      </p:sp>
      <p:sp>
        <p:nvSpPr>
          <p:cNvPr id="6" name="Text 3"/>
          <p:cNvSpPr txBox="1"/>
          <p:nvPr/>
        </p:nvSpPr>
        <p:spPr>
          <a:xfrm>
            <a:off x="1371600" y="6126480"/>
            <a:ext cx="9448495" cy="292608"/>
          </a:xfrm>
          <a:prstGeom prst="rect">
            <a:avLst/>
          </a:prstGeom>
          <a:noFill/>
          <a:ln/>
        </p:spPr>
        <p:txBody>
          <a:bodyPr wrap="square" lIns="0" tIns="0" rIns="0" bIns="0" rtlCol="0" anchor="t"/>
          <a:lstStyle/>
          <a:p>
            <a:pPr algn="ctr" indent="0" marL="0">
              <a:buNone/>
            </a:pPr>
            <a:r>
              <a:rPr lang="en-US" sz="1400" i="1" dirty="0">
                <a:solidFill>
                  <a:srgbClr val="EEE6E2"/>
                </a:solidFill>
                <a:latin typeface="Cambria" pitchFamily="34" charset="0"/>
                <a:ea typeface="Cambria" pitchFamily="34" charset="-122"/>
                <a:cs typeface="Cambria" pitchFamily="34" charset="-120"/>
              </a:rPr>
              <a:t>Is Porsche's 2026 margin recovery actually improving underneath the reported numbers?</a:t>
            </a:r>
            <a:endParaRPr lang="en-US" sz="1400" dirty="0"/>
          </a:p>
        </p:txBody>
      </p:sp>
      <p:sp>
        <p:nvSpPr>
          <p:cNvPr id="7" name="Text 4"/>
          <p:cNvSpPr txBox="1"/>
          <p:nvPr/>
        </p:nvSpPr>
        <p:spPr>
          <a:xfrm>
            <a:off x="1371600" y="6464808"/>
            <a:ext cx="9448495" cy="201168"/>
          </a:xfrm>
          <a:prstGeom prst="rect">
            <a:avLst/>
          </a:prstGeom>
          <a:noFill/>
          <a:ln/>
        </p:spPr>
        <p:txBody>
          <a:bodyPr wrap="square" lIns="0" tIns="0" rIns="0" bIns="0" rtlCol="0" anchor="t"/>
          <a:lstStyle/>
          <a:p>
            <a:pPr algn="ctr" indent="0" marL="0">
              <a:buNone/>
            </a:pPr>
            <a:r>
              <a:rPr lang="en-US" sz="850" b="1" spc="300" kern="0" dirty="0">
                <a:solidFill>
                  <a:srgbClr val="9C8F8E"/>
                </a:solidFill>
                <a:latin typeface="Calibri" pitchFamily="34" charset="0"/>
                <a:ea typeface="Calibri" pitchFamily="34" charset="-122"/>
                <a:cs typeface="Calibri" pitchFamily="34" charset="-120"/>
              </a:rPr>
              <a:t>H1 2023 TO H1 2026  /  SQL  /  EXCEL  /  POWER BI  /  PUBLIC DISCLOSURES ONLY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02</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Executive overview</a:t>
            </a:r>
            <a:endParaRPr lang="en-US" sz="1200" dirty="0"/>
          </a:p>
        </p:txBody>
      </p:sp>
      <p:sp>
        <p:nvSpPr>
          <p:cNvPr id="5" name="Text 3"/>
          <p:cNvSpPr txBox="1"/>
          <p:nvPr/>
        </p:nvSpPr>
        <p:spPr>
          <a:xfrm>
            <a:off x="548640" y="731520"/>
            <a:ext cx="694944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A REPORTED RECOVERY, NOT YET AN UNDERLYING ONE.</a:t>
            </a:r>
            <a:endParaRPr lang="en-US" sz="3000" dirty="0"/>
          </a:p>
        </p:txBody>
      </p:sp>
      <p:pic>
        <p:nvPicPr>
          <p:cNvPr id="6" name="Image 0" descr="Slide artwork">    </p:cNvPr>
          <p:cNvPicPr>
            <a:picLocks noChangeAspect="1"/>
          </p:cNvPicPr>
          <p:nvPr/>
        </p:nvPicPr>
        <p:blipFill>
          <a:blip r:embed="rId2"/>
          <a:stretch>
            <a:fillRect/>
          </a:stretch>
        </p:blipFill>
        <p:spPr>
          <a:xfrm>
            <a:off x="512064" y="1700784"/>
            <a:ext cx="1606614" cy="329184"/>
          </a:xfrm>
          <a:prstGeom prst="rect">
            <a:avLst/>
          </a:prstGeom>
        </p:spPr>
      </p:pic>
      <p:sp>
        <p:nvSpPr>
          <p:cNvPr id="7" name="Shape 4"/>
          <p:cNvSpPr/>
          <p:nvPr/>
        </p:nvSpPr>
        <p:spPr>
          <a:xfrm>
            <a:off x="548640" y="2240280"/>
            <a:ext cx="3246120" cy="1572768"/>
          </a:xfrm>
          <a:prstGeom prst="roundRect">
            <a:avLst>
              <a:gd name="adj" fmla="val 348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8" name="Text 5"/>
          <p:cNvSpPr txBox="1"/>
          <p:nvPr/>
        </p:nvSpPr>
        <p:spPr>
          <a:xfrm>
            <a:off x="749808" y="2404872"/>
            <a:ext cx="2843784" cy="274320"/>
          </a:xfrm>
          <a:prstGeom prst="rect">
            <a:avLst/>
          </a:prstGeom>
          <a:noFill/>
          <a:ln/>
        </p:spPr>
        <p:txBody>
          <a:bodyPr wrap="square" lIns="0" tIns="0" rIns="0" bIns="0" rtlCol="0" anchor="t"/>
          <a:lstStyle/>
          <a:p>
            <a:pPr indent="0" marL="0">
              <a:buNone/>
            </a:pPr>
            <a:r>
              <a:rPr lang="en-US" sz="1100" dirty="0">
                <a:solidFill>
                  <a:srgbClr val="9C8F8E"/>
                </a:solidFill>
                <a:latin typeface="Calibri" pitchFamily="34" charset="0"/>
                <a:ea typeface="Calibri" pitchFamily="34" charset="-122"/>
                <a:cs typeface="Calibri" pitchFamily="34" charset="-120"/>
              </a:rPr>
              <a:t>Reported margin (L0), H1 2026</a:t>
            </a:r>
            <a:endParaRPr lang="en-US" sz="1100" dirty="0"/>
          </a:p>
        </p:txBody>
      </p:sp>
      <p:sp>
        <p:nvSpPr>
          <p:cNvPr id="9" name="Text 6"/>
          <p:cNvSpPr txBox="1"/>
          <p:nvPr/>
        </p:nvSpPr>
        <p:spPr>
          <a:xfrm>
            <a:off x="749808" y="2660904"/>
            <a:ext cx="2843784" cy="685800"/>
          </a:xfrm>
          <a:prstGeom prst="rect">
            <a:avLst/>
          </a:prstGeom>
          <a:noFill/>
          <a:ln/>
        </p:spPr>
        <p:txBody>
          <a:bodyPr wrap="square" lIns="0" tIns="0" rIns="0" bIns="0" rtlCol="0" anchor="t"/>
          <a:lstStyle/>
          <a:p>
            <a:pPr indent="0" marL="0">
              <a:buNone/>
            </a:pPr>
            <a:r>
              <a:rPr lang="en-US" sz="4000" b="1" dirty="0">
                <a:solidFill>
                  <a:srgbClr val="EEE6E2"/>
                </a:solidFill>
                <a:latin typeface="Calibri" pitchFamily="34" charset="0"/>
                <a:ea typeface="Calibri" pitchFamily="34" charset="-122"/>
                <a:cs typeface="Calibri" pitchFamily="34" charset="-120"/>
              </a:rPr>
              <a:t>7.8%</a:t>
            </a:r>
            <a:endParaRPr lang="en-US" sz="4000" dirty="0"/>
          </a:p>
        </p:txBody>
      </p:sp>
      <p:sp>
        <p:nvSpPr>
          <p:cNvPr id="10" name="Text 7"/>
          <p:cNvSpPr txBox="1"/>
          <p:nvPr/>
        </p:nvSpPr>
        <p:spPr>
          <a:xfrm>
            <a:off x="749808" y="3355848"/>
            <a:ext cx="2843784" cy="347472"/>
          </a:xfrm>
          <a:prstGeom prst="rect">
            <a:avLst/>
          </a:prstGeom>
          <a:noFill/>
          <a:ln/>
        </p:spPr>
        <p:txBody>
          <a:bodyPr wrap="square" lIns="0" tIns="0" rIns="0" bIns="0" rtlCol="0" anchor="b"/>
          <a:lstStyle/>
          <a:p>
            <a:pPr indent="0" marL="0">
              <a:buNone/>
            </a:pPr>
            <a:r>
              <a:rPr lang="en-US" sz="1050" dirty="0">
                <a:solidFill>
                  <a:srgbClr val="9C8F8E"/>
                </a:solidFill>
                <a:latin typeface="Calibri" pitchFamily="34" charset="0"/>
                <a:ea typeface="Calibri" pitchFamily="34" charset="-122"/>
                <a:cs typeface="Calibri" pitchFamily="34" charset="-120"/>
              </a:rPr>
              <a:t>from 5.5% in H1 2025, +2.28 pp</a:t>
            </a:r>
            <a:endParaRPr lang="en-US" sz="1050" dirty="0"/>
          </a:p>
        </p:txBody>
      </p:sp>
      <p:sp>
        <p:nvSpPr>
          <p:cNvPr id="11" name="Shape 8"/>
          <p:cNvSpPr/>
          <p:nvPr/>
        </p:nvSpPr>
        <p:spPr>
          <a:xfrm>
            <a:off x="4023360" y="2240280"/>
            <a:ext cx="3246120" cy="1572768"/>
          </a:xfrm>
          <a:prstGeom prst="roundRect">
            <a:avLst>
              <a:gd name="adj" fmla="val 348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2" name="Text 9"/>
          <p:cNvSpPr txBox="1"/>
          <p:nvPr/>
        </p:nvSpPr>
        <p:spPr>
          <a:xfrm>
            <a:off x="4224528" y="2404872"/>
            <a:ext cx="2843784" cy="274320"/>
          </a:xfrm>
          <a:prstGeom prst="rect">
            <a:avLst/>
          </a:prstGeom>
          <a:noFill/>
          <a:ln/>
        </p:spPr>
        <p:txBody>
          <a:bodyPr wrap="square" lIns="0" tIns="0" rIns="0" bIns="0" rtlCol="0" anchor="t"/>
          <a:lstStyle/>
          <a:p>
            <a:pPr indent="0" marL="0">
              <a:buNone/>
            </a:pPr>
            <a:r>
              <a:rPr lang="en-US" sz="1100" dirty="0">
                <a:solidFill>
                  <a:srgbClr val="9C8F8E"/>
                </a:solidFill>
                <a:latin typeface="Calibri" pitchFamily="34" charset="0"/>
                <a:ea typeface="Calibri" pitchFamily="34" charset="-122"/>
                <a:cs typeface="Calibri" pitchFamily="34" charset="-120"/>
              </a:rPr>
              <a:t>Underlying margin (L1), H1 2026</a:t>
            </a:r>
            <a:endParaRPr lang="en-US" sz="1100" dirty="0"/>
          </a:p>
        </p:txBody>
      </p:sp>
      <p:sp>
        <p:nvSpPr>
          <p:cNvPr id="13" name="Text 10"/>
          <p:cNvSpPr txBox="1"/>
          <p:nvPr/>
        </p:nvSpPr>
        <p:spPr>
          <a:xfrm>
            <a:off x="4224528" y="2660904"/>
            <a:ext cx="2843784" cy="685800"/>
          </a:xfrm>
          <a:prstGeom prst="rect">
            <a:avLst/>
          </a:prstGeom>
          <a:noFill/>
          <a:ln/>
        </p:spPr>
        <p:txBody>
          <a:bodyPr wrap="square" lIns="0" tIns="0" rIns="0" bIns="0" rtlCol="0" anchor="t"/>
          <a:lstStyle/>
          <a:p>
            <a:pPr indent="0" marL="0">
              <a:buNone/>
            </a:pPr>
            <a:r>
              <a:rPr lang="en-US" sz="4000" b="1" dirty="0">
                <a:solidFill>
                  <a:srgbClr val="D5001C"/>
                </a:solidFill>
                <a:latin typeface="Calibri" pitchFamily="34" charset="0"/>
                <a:ea typeface="Calibri" pitchFamily="34" charset="-122"/>
                <a:cs typeface="Calibri" pitchFamily="34" charset="-120"/>
              </a:rPr>
              <a:t>8.4%</a:t>
            </a:r>
            <a:endParaRPr lang="en-US" sz="4000" dirty="0"/>
          </a:p>
        </p:txBody>
      </p:sp>
      <p:sp>
        <p:nvSpPr>
          <p:cNvPr id="14" name="Text 11"/>
          <p:cNvSpPr txBox="1"/>
          <p:nvPr/>
        </p:nvSpPr>
        <p:spPr>
          <a:xfrm>
            <a:off x="4224528" y="3355848"/>
            <a:ext cx="2843784" cy="347472"/>
          </a:xfrm>
          <a:prstGeom prst="rect">
            <a:avLst/>
          </a:prstGeom>
          <a:noFill/>
          <a:ln/>
        </p:spPr>
        <p:txBody>
          <a:bodyPr wrap="square" lIns="0" tIns="0" rIns="0" bIns="0" rtlCol="0" anchor="b"/>
          <a:lstStyle/>
          <a:p>
            <a:pPr indent="0" marL="0">
              <a:buNone/>
            </a:pPr>
            <a:r>
              <a:rPr lang="en-US" sz="1050" dirty="0">
                <a:solidFill>
                  <a:srgbClr val="9C8F8E"/>
                </a:solidFill>
                <a:latin typeface="Calibri" pitchFamily="34" charset="0"/>
                <a:ea typeface="Calibri" pitchFamily="34" charset="-122"/>
                <a:cs typeface="Calibri" pitchFamily="34" charset="-120"/>
              </a:rPr>
              <a:t>from 9.4% in H1 2025, −0.99 pp</a:t>
            </a:r>
            <a:endParaRPr lang="en-US" sz="1050" dirty="0"/>
          </a:p>
        </p:txBody>
      </p:sp>
      <p:sp>
        <p:nvSpPr>
          <p:cNvPr id="15" name="Shape 12"/>
          <p:cNvSpPr/>
          <p:nvPr/>
        </p:nvSpPr>
        <p:spPr>
          <a:xfrm>
            <a:off x="548640" y="4041648"/>
            <a:ext cx="3246120" cy="1572768"/>
          </a:xfrm>
          <a:prstGeom prst="roundRect">
            <a:avLst>
              <a:gd name="adj" fmla="val 348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6" name="Text 13"/>
          <p:cNvSpPr txBox="1"/>
          <p:nvPr/>
        </p:nvSpPr>
        <p:spPr>
          <a:xfrm>
            <a:off x="749808" y="4206240"/>
            <a:ext cx="2843784" cy="274320"/>
          </a:xfrm>
          <a:prstGeom prst="rect">
            <a:avLst/>
          </a:prstGeom>
          <a:noFill/>
          <a:ln/>
        </p:spPr>
        <p:txBody>
          <a:bodyPr wrap="square" lIns="0" tIns="0" rIns="0" bIns="0" rtlCol="0" anchor="t"/>
          <a:lstStyle/>
          <a:p>
            <a:pPr indent="0" marL="0">
              <a:buNone/>
            </a:pPr>
            <a:r>
              <a:rPr lang="en-US" sz="1100" dirty="0">
                <a:solidFill>
                  <a:srgbClr val="9C8F8E"/>
                </a:solidFill>
                <a:latin typeface="Calibri" pitchFamily="34" charset="0"/>
                <a:ea typeface="Calibri" pitchFamily="34" charset="-122"/>
                <a:cs typeface="Calibri" pitchFamily="34" charset="-120"/>
              </a:rPr>
              <a:t>One-offs share of the EBIT gain</a:t>
            </a:r>
            <a:endParaRPr lang="en-US" sz="1100" dirty="0"/>
          </a:p>
        </p:txBody>
      </p:sp>
      <p:sp>
        <p:nvSpPr>
          <p:cNvPr id="17" name="Text 14"/>
          <p:cNvSpPr txBox="1"/>
          <p:nvPr/>
        </p:nvSpPr>
        <p:spPr>
          <a:xfrm>
            <a:off x="749808" y="4462272"/>
            <a:ext cx="2843784" cy="685800"/>
          </a:xfrm>
          <a:prstGeom prst="rect">
            <a:avLst/>
          </a:prstGeom>
          <a:noFill/>
          <a:ln/>
        </p:spPr>
        <p:txBody>
          <a:bodyPr wrap="square" lIns="0" tIns="0" rIns="0" bIns="0" rtlCol="0" anchor="t"/>
          <a:lstStyle/>
          <a:p>
            <a:pPr indent="0" marL="0">
              <a:buNone/>
            </a:pPr>
            <a:r>
              <a:rPr lang="en-US" sz="4000" b="1" dirty="0">
                <a:solidFill>
                  <a:srgbClr val="EEE6E2"/>
                </a:solidFill>
                <a:latin typeface="Calibri" pitchFamily="34" charset="0"/>
                <a:ea typeface="Calibri" pitchFamily="34" charset="-122"/>
                <a:cs typeface="Calibri" pitchFamily="34" charset="-120"/>
              </a:rPr>
              <a:t>176%</a:t>
            </a:r>
            <a:endParaRPr lang="en-US" sz="4000" dirty="0"/>
          </a:p>
        </p:txBody>
      </p:sp>
      <p:sp>
        <p:nvSpPr>
          <p:cNvPr id="18" name="Text 15"/>
          <p:cNvSpPr txBox="1"/>
          <p:nvPr/>
        </p:nvSpPr>
        <p:spPr>
          <a:xfrm>
            <a:off x="749808" y="5157216"/>
            <a:ext cx="2843784" cy="347472"/>
          </a:xfrm>
          <a:prstGeom prst="rect">
            <a:avLst/>
          </a:prstGeom>
          <a:noFill/>
          <a:ln/>
        </p:spPr>
        <p:txBody>
          <a:bodyPr wrap="square" lIns="0" tIns="0" rIns="0" bIns="0" rtlCol="0" anchor="b"/>
          <a:lstStyle/>
          <a:p>
            <a:pPr indent="0" marL="0">
              <a:buNone/>
            </a:pPr>
            <a:r>
              <a:rPr lang="en-US" sz="1050" dirty="0">
                <a:solidFill>
                  <a:srgbClr val="9C8F8E"/>
                </a:solidFill>
                <a:latin typeface="Calibri" pitchFamily="34" charset="0"/>
                <a:ea typeface="Calibri" pitchFamily="34" charset="-122"/>
                <a:cs typeface="Calibri" pitchFamily="34" charset="-120"/>
              </a:rPr>
              <a:t>lower one-offs +€600m vs total EBIT gain +€341m</a:t>
            </a:r>
            <a:endParaRPr lang="en-US" sz="1050" dirty="0"/>
          </a:p>
        </p:txBody>
      </p:sp>
      <p:sp>
        <p:nvSpPr>
          <p:cNvPr id="19" name="Shape 16"/>
          <p:cNvSpPr/>
          <p:nvPr/>
        </p:nvSpPr>
        <p:spPr>
          <a:xfrm>
            <a:off x="4023360" y="4041648"/>
            <a:ext cx="3246120" cy="1572768"/>
          </a:xfrm>
          <a:prstGeom prst="roundRect">
            <a:avLst>
              <a:gd name="adj" fmla="val 348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0" name="Text 17"/>
          <p:cNvSpPr txBox="1"/>
          <p:nvPr/>
        </p:nvSpPr>
        <p:spPr>
          <a:xfrm>
            <a:off x="4224528" y="4206240"/>
            <a:ext cx="2843784" cy="274320"/>
          </a:xfrm>
          <a:prstGeom prst="rect">
            <a:avLst/>
          </a:prstGeom>
          <a:noFill/>
          <a:ln/>
        </p:spPr>
        <p:txBody>
          <a:bodyPr wrap="square" lIns="0" tIns="0" rIns="0" bIns="0" rtlCol="0" anchor="t"/>
          <a:lstStyle/>
          <a:p>
            <a:pPr indent="0" marL="0">
              <a:buNone/>
            </a:pPr>
            <a:r>
              <a:rPr lang="en-US" sz="1100" dirty="0">
                <a:solidFill>
                  <a:srgbClr val="9C8F8E"/>
                </a:solidFill>
                <a:latin typeface="Calibri" pitchFamily="34" charset="0"/>
                <a:ea typeface="Calibri" pitchFamily="34" charset="-122"/>
                <a:cs typeface="Calibri" pitchFamily="34" charset="-120"/>
              </a:rPr>
              <a:t>Automotive net cash flow margin</a:t>
            </a:r>
            <a:endParaRPr lang="en-US" sz="1100" dirty="0"/>
          </a:p>
        </p:txBody>
      </p:sp>
      <p:sp>
        <p:nvSpPr>
          <p:cNvPr id="21" name="Text 18"/>
          <p:cNvSpPr txBox="1"/>
          <p:nvPr/>
        </p:nvSpPr>
        <p:spPr>
          <a:xfrm>
            <a:off x="4224528" y="4462272"/>
            <a:ext cx="2843784" cy="685800"/>
          </a:xfrm>
          <a:prstGeom prst="rect">
            <a:avLst/>
          </a:prstGeom>
          <a:noFill/>
          <a:ln/>
        </p:spPr>
        <p:txBody>
          <a:bodyPr wrap="square" lIns="0" tIns="0" rIns="0" bIns="0" rtlCol="0" anchor="t"/>
          <a:lstStyle/>
          <a:p>
            <a:pPr indent="0" marL="0">
              <a:buNone/>
            </a:pPr>
            <a:r>
              <a:rPr lang="en-US" sz="4000" b="1" dirty="0">
                <a:solidFill>
                  <a:srgbClr val="EEE6E2"/>
                </a:solidFill>
                <a:latin typeface="Calibri" pitchFamily="34" charset="0"/>
                <a:ea typeface="Calibri" pitchFamily="34" charset="-122"/>
                <a:cs typeface="Calibri" pitchFamily="34" charset="-120"/>
              </a:rPr>
              <a:t>6.7%</a:t>
            </a:r>
            <a:endParaRPr lang="en-US" sz="4000" dirty="0"/>
          </a:p>
        </p:txBody>
      </p:sp>
      <p:sp>
        <p:nvSpPr>
          <p:cNvPr id="22" name="Text 19"/>
          <p:cNvSpPr txBox="1"/>
          <p:nvPr/>
        </p:nvSpPr>
        <p:spPr>
          <a:xfrm>
            <a:off x="4224528" y="5157216"/>
            <a:ext cx="2843784" cy="347472"/>
          </a:xfrm>
          <a:prstGeom prst="rect">
            <a:avLst/>
          </a:prstGeom>
          <a:noFill/>
          <a:ln/>
        </p:spPr>
        <p:txBody>
          <a:bodyPr wrap="square" lIns="0" tIns="0" rIns="0" bIns="0" rtlCol="0" anchor="b"/>
          <a:lstStyle/>
          <a:p>
            <a:pPr indent="0" marL="0">
              <a:buNone/>
            </a:pPr>
            <a:r>
              <a:rPr lang="en-US" sz="1050" dirty="0">
                <a:solidFill>
                  <a:srgbClr val="9C8F8E"/>
                </a:solidFill>
                <a:latin typeface="Calibri" pitchFamily="34" charset="0"/>
                <a:ea typeface="Calibri" pitchFamily="34" charset="-122"/>
                <a:cs typeface="Calibri" pitchFamily="34" charset="-120"/>
              </a:rPr>
              <a:t>from 2.4% in H1 2025</a:t>
            </a:r>
            <a:endParaRPr lang="en-US" sz="1050" dirty="0"/>
          </a:p>
        </p:txBody>
      </p:sp>
      <p:sp>
        <p:nvSpPr>
          <p:cNvPr id="23" name="Shape 20"/>
          <p:cNvSpPr/>
          <p:nvPr/>
        </p:nvSpPr>
        <p:spPr>
          <a:xfrm>
            <a:off x="548640" y="5669280"/>
            <a:ext cx="6720840" cy="566928"/>
          </a:xfrm>
          <a:prstGeom prst="roundRect">
            <a:avLst>
              <a:gd name="adj" fmla="val 9677"/>
            </a:avLst>
          </a:prstGeom>
          <a:solidFill>
            <a:srgbClr val="120709"/>
          </a:solidFill>
          <a:ln w="9525">
            <a:solidFill>
              <a:srgbClr val="6E5A5C"/>
            </a:solidFill>
            <a:prstDash val="dash"/>
          </a:ln>
        </p:spPr>
      </p:sp>
      <p:sp>
        <p:nvSpPr>
          <p:cNvPr id="24" name="Text 21"/>
          <p:cNvSpPr txBox="1"/>
          <p:nvPr/>
        </p:nvSpPr>
        <p:spPr>
          <a:xfrm>
            <a:off x="749808" y="5742432"/>
            <a:ext cx="6318504" cy="420624"/>
          </a:xfrm>
          <a:prstGeom prst="rect">
            <a:avLst/>
          </a:prstGeom>
          <a:noFill/>
          <a:ln/>
        </p:spPr>
        <p:txBody>
          <a:bodyPr wrap="square" lIns="0" tIns="0" rIns="0" bIns="0" rtlCol="0" anchor="ctr"/>
          <a:lstStyle/>
          <a:p>
            <a:pPr indent="0" marL="0">
              <a:buNone/>
            </a:pPr>
            <a:r>
              <a:rPr lang="en-US" sz="1100" b="1" dirty="0">
                <a:solidFill>
                  <a:srgbClr val="EEE6E2"/>
                </a:solidFill>
                <a:latin typeface="Calibri" pitchFamily="34" charset="0"/>
                <a:ea typeface="Calibri" pitchFamily="34" charset="-122"/>
                <a:cs typeface="Calibri" pitchFamily="34" charset="-120"/>
              </a:rPr>
              <a:t>Scenario, not a forecast.  </a:t>
            </a:r>
            <a:pPr indent="0" marL="0">
              <a:buNone/>
            </a:pPr>
            <a:r>
              <a:rPr lang="en-US" sz="1100" dirty="0">
                <a:solidFill>
                  <a:srgbClr val="9C8F8E"/>
                </a:solidFill>
                <a:latin typeface="Calibri" pitchFamily="34" charset="0"/>
                <a:ea typeface="Calibri" pitchFamily="34" charset="-122"/>
                <a:cs typeface="Calibri" pitchFamily="34" charset="-120"/>
              </a:rPr>
              <a:t>With every FY2026 guidance range at its midpoint, the implied H2 L1 margin is 9.36% vs 8.41% in H1 2026.</a:t>
            </a:r>
            <a:endParaRPr lang="en-US" sz="1100" dirty="0"/>
          </a:p>
        </p:txBody>
      </p:sp>
      <p:sp>
        <p:nvSpPr>
          <p:cNvPr id="25" name="Shape 22"/>
          <p:cNvSpPr/>
          <p:nvPr/>
        </p:nvSpPr>
        <p:spPr>
          <a:xfrm>
            <a:off x="7781544" y="2221992"/>
            <a:ext cx="3913632" cy="2738729"/>
          </a:xfrm>
          <a:prstGeom prst="roundRect">
            <a:avLst>
              <a:gd name="adj" fmla="val 2671"/>
            </a:avLst>
          </a:prstGeom>
          <a:solidFill>
            <a:srgbClr val="140C0E"/>
          </a:solidFill>
          <a:ln w="9525">
            <a:solidFill>
              <a:srgbClr val="3A1A20"/>
            </a:solidFill>
            <a:prstDash val="solid"/>
          </a:ln>
          <a:effectLst>
            <a:outerShdw sx="100000" sy="100000" kx="0" ky="0" algn="bl" rotWithShape="0" blurRad="304800" dist="50800" dir="5400000">
              <a:srgbClr val="B0001A">
                <a:alpha val="35000"/>
              </a:srgbClr>
            </a:outerShdw>
          </a:effectLst>
        </p:spPr>
      </p:sp>
      <p:sp>
        <p:nvSpPr>
          <p:cNvPr id="26" name="Shape 23"/>
          <p:cNvSpPr/>
          <p:nvPr/>
        </p:nvSpPr>
        <p:spPr>
          <a:xfrm>
            <a:off x="7882128" y="2322576"/>
            <a:ext cx="64008" cy="64008"/>
          </a:xfrm>
          <a:prstGeom prst="ellipse">
            <a:avLst/>
          </a:prstGeom>
          <a:solidFill>
            <a:srgbClr val="FF4252"/>
          </a:solidFill>
          <a:ln w="12700">
            <a:solidFill>
              <a:srgbClr val="FF4252"/>
            </a:solidFill>
            <a:prstDash val="solid"/>
          </a:ln>
        </p:spPr>
      </p:sp>
      <p:sp>
        <p:nvSpPr>
          <p:cNvPr id="27" name="Text 24"/>
          <p:cNvSpPr txBox="1"/>
          <p:nvPr/>
        </p:nvSpPr>
        <p:spPr>
          <a:xfrm>
            <a:off x="8010144" y="2267712"/>
            <a:ext cx="3566160" cy="164592"/>
          </a:xfrm>
          <a:prstGeom prst="rect">
            <a:avLst/>
          </a:prstGeom>
          <a:noFill/>
          <a:ln/>
        </p:spPr>
        <p:txBody>
          <a:bodyPr wrap="square" lIns="0" tIns="0" rIns="0" bIns="0" rtlCol="0" anchor="t"/>
          <a:lstStyle/>
          <a:p>
            <a:pPr indent="0" marL="0">
              <a:buNone/>
            </a:pPr>
            <a:r>
              <a:rPr lang="en-US" sz="850" b="1" dirty="0">
                <a:solidFill>
                  <a:srgbClr val="9C8F8E"/>
                </a:solidFill>
                <a:latin typeface="Calibri" pitchFamily="34" charset="0"/>
                <a:ea typeface="Calibri" pitchFamily="34" charset="-122"/>
                <a:cs typeface="Calibri" pitchFamily="34" charset="-120"/>
              </a:rPr>
              <a:t>POWER BI, PAGE 1: THE DASHBOARD'S SIGNAL PANEL</a:t>
            </a:r>
            <a:endParaRPr lang="en-US" sz="850" dirty="0"/>
          </a:p>
        </p:txBody>
      </p:sp>
      <p:pic>
        <p:nvPicPr>
          <p:cNvPr id="28" name="Image 1" descr="Power BI page 1 signal cards">    </p:cNvPr>
          <p:cNvPicPr>
            <a:picLocks noChangeAspect="1"/>
          </p:cNvPicPr>
          <p:nvPr/>
        </p:nvPicPr>
        <p:blipFill>
          <a:blip r:embed="rId3"/>
          <a:stretch>
            <a:fillRect/>
          </a:stretch>
        </p:blipFill>
        <p:spPr>
          <a:xfrm>
            <a:off x="7863840" y="2514600"/>
            <a:ext cx="3749040" cy="2363825"/>
          </a:xfrm>
          <a:prstGeom prst="rect">
            <a:avLst/>
          </a:prstGeom>
        </p:spPr>
      </p:pic>
      <p:sp>
        <p:nvSpPr>
          <p:cNvPr id="29" name="Text 25"/>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30" name="Text 26"/>
          <p:cNvSpPr txBox="1"/>
          <p:nvPr/>
        </p:nvSpPr>
        <p:spPr>
          <a:xfrm>
            <a:off x="4754880" y="6473952"/>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Source: Porsche AG public disclosures; project analysis. € million unless stated.</a:t>
            </a:r>
            <a:endParaRPr lang="en-US" sz="850" dirty="0"/>
          </a:p>
        </p:txBody>
      </p:sp>
      <p:sp>
        <p:nvSpPr>
          <p:cNvPr id="31" name="Text 27"/>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hotograph: Porsche crest">    </p:cNvPr>
          <p:cNvPicPr>
            <a:picLocks noChangeAspect="1"/>
          </p:cNvPicPr>
          <p:nvPr/>
        </p:nvPicPr>
        <p:blipFill>
          <a:blip r:embed="rId2"/>
          <a:stretch>
            <a:fillRect/>
          </a:stretch>
        </p:blipFill>
        <p:spPr>
          <a:xfrm>
            <a:off x="0" y="0"/>
            <a:ext cx="4480560" cy="6858000"/>
          </a:xfrm>
          <a:prstGeom prst="rect">
            <a:avLst/>
          </a:prstGeom>
        </p:spPr>
      </p:pic>
      <p:sp>
        <p:nvSpPr>
          <p:cNvPr id="3" name="Text 0"/>
          <p:cNvSpPr txBox="1"/>
          <p:nvPr/>
        </p:nvSpPr>
        <p:spPr>
          <a:xfrm>
            <a:off x="4983480" y="384048"/>
            <a:ext cx="457200" cy="228600"/>
          </a:xfrm>
          <a:prstGeom prst="rect">
            <a:avLst/>
          </a:prstGeom>
          <a:noFill/>
          <a:ln/>
        </p:spPr>
        <p:txBody>
          <a:bodyPr wrap="square" lIns="0" tIns="0" rIns="0" bIns="0" rtlCol="0" anchor="t"/>
          <a:lstStyle/>
          <a:p>
            <a:pPr indent="0" marL="0">
              <a:buNone/>
            </a:pPr>
            <a:r>
              <a:rPr lang="en-US" sz="1200" b="1" dirty="0">
                <a:solidFill>
                  <a:srgbClr val="D5001C"/>
                </a:solidFill>
                <a:latin typeface="Calibri" pitchFamily="34" charset="0"/>
                <a:ea typeface="Calibri" pitchFamily="34" charset="-122"/>
                <a:cs typeface="Calibri" pitchFamily="34" charset="-120"/>
              </a:rPr>
              <a:t>03</a:t>
            </a:r>
            <a:endParaRPr lang="en-US" sz="1200" dirty="0"/>
          </a:p>
        </p:txBody>
      </p:sp>
      <p:sp>
        <p:nvSpPr>
          <p:cNvPr id="4" name="Shape 1"/>
          <p:cNvSpPr/>
          <p:nvPr/>
        </p:nvSpPr>
        <p:spPr>
          <a:xfrm>
            <a:off x="536752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5" name="Text 2"/>
          <p:cNvSpPr txBox="1"/>
          <p:nvPr/>
        </p:nvSpPr>
        <p:spPr>
          <a:xfrm>
            <a:off x="5879592" y="384048"/>
            <a:ext cx="36576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Business question</a:t>
            </a:r>
            <a:endParaRPr lang="en-US" sz="1200" dirty="0"/>
          </a:p>
        </p:txBody>
      </p:sp>
      <p:sp>
        <p:nvSpPr>
          <p:cNvPr id="6" name="Text 3"/>
          <p:cNvSpPr txBox="1"/>
          <p:nvPr/>
        </p:nvSpPr>
        <p:spPr>
          <a:xfrm>
            <a:off x="4983480" y="777240"/>
            <a:ext cx="6659575" cy="1737360"/>
          </a:xfrm>
          <a:prstGeom prst="rect">
            <a:avLst/>
          </a:prstGeom>
          <a:noFill/>
          <a:ln/>
        </p:spPr>
        <p:txBody>
          <a:bodyPr wrap="square" lIns="0" tIns="0" rIns="0" bIns="0" rtlCol="0" anchor="t"/>
          <a:lstStyle/>
          <a:p>
            <a:pPr indent="0" marL="0">
              <a:lnSpc>
                <a:spcPct val="105000"/>
              </a:lnSpc>
              <a:buNone/>
            </a:pPr>
            <a:r>
              <a:rPr lang="en-US" sz="2400" dirty="0">
                <a:solidFill>
                  <a:srgbClr val="EEE6E2"/>
                </a:solidFill>
                <a:latin typeface="Cambria" pitchFamily="34" charset="0"/>
                <a:ea typeface="Cambria" pitchFamily="34" charset="-122"/>
                <a:cs typeface="Cambria" pitchFamily="34" charset="-120"/>
              </a:rPr>
              <a:t>After removing Porsche's disclosed one-offs and isolating non-cash accounting effects, is underlying profitability improving, and what does FY2026 guidance require from H2?</a:t>
            </a:r>
            <a:endParaRPr lang="en-US" sz="2400" dirty="0"/>
          </a:p>
        </p:txBody>
      </p:sp>
      <p:sp>
        <p:nvSpPr>
          <p:cNvPr id="7" name="Text 4"/>
          <p:cNvSpPr txBox="1"/>
          <p:nvPr/>
        </p:nvSpPr>
        <p:spPr>
          <a:xfrm>
            <a:off x="4983480" y="2606040"/>
            <a:ext cx="6659575" cy="274320"/>
          </a:xfrm>
          <a:prstGeom prst="rect">
            <a:avLst/>
          </a:prstGeom>
          <a:noFill/>
          <a:ln/>
        </p:spPr>
        <p:txBody>
          <a:bodyPr wrap="square" lIns="0" tIns="0" rIns="0" bIns="0" rtlCol="0" anchor="t"/>
          <a:lstStyle/>
          <a:p>
            <a:pPr indent="0" marL="0">
              <a:buNone/>
            </a:pPr>
            <a:r>
              <a:rPr lang="en-US" sz="1300" dirty="0">
                <a:solidFill>
                  <a:srgbClr val="9C8F8E"/>
                </a:solidFill>
                <a:latin typeface="Calibri" pitchFamily="34" charset="0"/>
                <a:ea typeface="Calibri" pitchFamily="34" charset="-122"/>
                <a:cs typeface="Calibri" pitchFamily="34" charset="-120"/>
              </a:rPr>
              <a:t>The headline: </a:t>
            </a:r>
            <a:pPr indent="0" marL="0">
              <a:buNone/>
            </a:pPr>
            <a:r>
              <a:rPr lang="en-US" sz="1300" b="1" dirty="0">
                <a:solidFill>
                  <a:srgbClr val="EEE6E2"/>
                </a:solidFill>
                <a:latin typeface="Calibri" pitchFamily="34" charset="0"/>
                <a:ea typeface="Calibri" pitchFamily="34" charset="-122"/>
                <a:cs typeface="Calibri" pitchFamily="34" charset="-120"/>
              </a:rPr>
              <a:t>reported margin 5.5% → 7.8%</a:t>
            </a:r>
            <a:pPr indent="0" marL="0">
              <a:buNone/>
            </a:pPr>
            <a:r>
              <a:rPr lang="en-US" sz="1300" dirty="0">
                <a:solidFill>
                  <a:srgbClr val="9C8F8E"/>
                </a:solidFill>
                <a:latin typeface="Calibri" pitchFamily="34" charset="0"/>
                <a:ea typeface="Calibri" pitchFamily="34" charset="-122"/>
                <a:cs typeface="Calibri" pitchFamily="34" charset="-120"/>
              </a:rPr>
              <a:t>, H1 2025 to H1 2026.</a:t>
            </a:r>
            <a:endParaRPr lang="en-US" sz="1300" dirty="0"/>
          </a:p>
        </p:txBody>
      </p:sp>
      <p:pic>
        <p:nvPicPr>
          <p:cNvPr id="8" name="Image 1" descr="Slide artwork">    </p:cNvPr>
          <p:cNvPicPr>
            <a:picLocks noChangeAspect="1"/>
          </p:cNvPicPr>
          <p:nvPr/>
        </p:nvPicPr>
        <p:blipFill>
          <a:blip r:embed="rId3"/>
          <a:stretch>
            <a:fillRect/>
          </a:stretch>
        </p:blipFill>
        <p:spPr>
          <a:xfrm>
            <a:off x="4946904" y="3017520"/>
            <a:ext cx="2189789" cy="329184"/>
          </a:xfrm>
          <a:prstGeom prst="rect">
            <a:avLst/>
          </a:prstGeom>
        </p:spPr>
      </p:pic>
      <p:sp>
        <p:nvSpPr>
          <p:cNvPr id="9" name="Shape 5"/>
          <p:cNvSpPr/>
          <p:nvPr/>
        </p:nvSpPr>
        <p:spPr>
          <a:xfrm>
            <a:off x="4983480" y="3566160"/>
            <a:ext cx="6659575" cy="786384"/>
          </a:xfrm>
          <a:prstGeom prst="roundRect">
            <a:avLst>
              <a:gd name="adj" fmla="val 6977"/>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0" name="Text 6"/>
          <p:cNvSpPr txBox="1"/>
          <p:nvPr/>
        </p:nvSpPr>
        <p:spPr>
          <a:xfrm>
            <a:off x="5184648" y="3712464"/>
            <a:ext cx="457200" cy="502920"/>
          </a:xfrm>
          <a:prstGeom prst="rect">
            <a:avLst/>
          </a:prstGeom>
          <a:noFill/>
          <a:ln/>
        </p:spPr>
        <p:txBody>
          <a:bodyPr wrap="square" lIns="0" tIns="0" rIns="0" bIns="0" rtlCol="0" anchor="t"/>
          <a:lstStyle/>
          <a:p>
            <a:pPr indent="0" marL="0">
              <a:buNone/>
            </a:pPr>
            <a:r>
              <a:rPr lang="en-US" sz="3000" b="1" dirty="0">
                <a:solidFill>
                  <a:srgbClr val="D5001C"/>
                </a:solidFill>
                <a:latin typeface="Calibri" pitchFamily="34" charset="0"/>
                <a:ea typeface="Calibri" pitchFamily="34" charset="-122"/>
                <a:cs typeface="Calibri" pitchFamily="34" charset="-120"/>
              </a:rPr>
              <a:t>1</a:t>
            </a:r>
            <a:endParaRPr lang="en-US" sz="3000" dirty="0"/>
          </a:p>
        </p:txBody>
      </p:sp>
      <p:sp>
        <p:nvSpPr>
          <p:cNvPr id="11" name="Text 7"/>
          <p:cNvSpPr txBox="1"/>
          <p:nvPr/>
        </p:nvSpPr>
        <p:spPr>
          <a:xfrm>
            <a:off x="5760720" y="3694176"/>
            <a:ext cx="2743200" cy="274320"/>
          </a:xfrm>
          <a:prstGeom prst="rect">
            <a:avLst/>
          </a:prstGeom>
          <a:noFill/>
          <a:ln/>
        </p:spPr>
        <p:txBody>
          <a:bodyPr wrap="square" lIns="0" tIns="0" rIns="0" bIns="0" rtlCol="0" anchor="t"/>
          <a:lstStyle/>
          <a:p>
            <a:pPr indent="0" marL="0">
              <a:buNone/>
            </a:pPr>
            <a:r>
              <a:rPr lang="en-US" sz="1400" b="1" dirty="0">
                <a:solidFill>
                  <a:srgbClr val="EEE6E2"/>
                </a:solidFill>
                <a:latin typeface="Calibri" pitchFamily="34" charset="0"/>
                <a:ea typeface="Calibri" pitchFamily="34" charset="-122"/>
                <a:cs typeface="Calibri" pitchFamily="34" charset="-120"/>
              </a:rPr>
              <a:t>Smaller one-offs</a:t>
            </a:r>
            <a:endParaRPr lang="en-US" sz="1400" dirty="0"/>
          </a:p>
        </p:txBody>
      </p:sp>
      <p:sp>
        <p:nvSpPr>
          <p:cNvPr id="12" name="Text 8"/>
          <p:cNvSpPr txBox="1"/>
          <p:nvPr/>
        </p:nvSpPr>
        <p:spPr>
          <a:xfrm>
            <a:off x="5760720" y="3977640"/>
            <a:ext cx="3520440" cy="292608"/>
          </a:xfrm>
          <a:prstGeom prst="rect">
            <a:avLst/>
          </a:prstGeom>
          <a:noFill/>
          <a:ln/>
        </p:spPr>
        <p:txBody>
          <a:bodyPr wrap="square" lIns="0" tIns="0" rIns="0" bIns="0" rtlCol="0" anchor="t"/>
          <a:lstStyle/>
          <a:p>
            <a:pPr indent="0" marL="0">
              <a:buNone/>
            </a:pPr>
            <a:r>
              <a:rPr lang="en-US" sz="1100" dirty="0">
                <a:solidFill>
                  <a:srgbClr val="9C8F8E"/>
                </a:solidFill>
                <a:latin typeface="Calibri" pitchFamily="34" charset="0"/>
                <a:ea typeface="Calibri" pitchFamily="34" charset="-122"/>
                <a:cs typeface="Calibri" pitchFamily="34" charset="-120"/>
              </a:rPr>
              <a:t>Is the gain just lower exceptional charges, rather than a better business?</a:t>
            </a:r>
            <a:endParaRPr lang="en-US" sz="1100" dirty="0"/>
          </a:p>
        </p:txBody>
      </p:sp>
      <p:sp>
        <p:nvSpPr>
          <p:cNvPr id="13" name="Text 9"/>
          <p:cNvSpPr txBox="1"/>
          <p:nvPr/>
        </p:nvSpPr>
        <p:spPr>
          <a:xfrm>
            <a:off x="9372600" y="3694176"/>
            <a:ext cx="2087575" cy="548640"/>
          </a:xfrm>
          <a:prstGeom prst="rect">
            <a:avLst/>
          </a:prstGeom>
          <a:noFill/>
          <a:ln/>
        </p:spPr>
        <p:txBody>
          <a:bodyPr wrap="square" lIns="0" tIns="0" rIns="0" bIns="0" rtlCol="0" anchor="ctr"/>
          <a:lstStyle/>
          <a:p>
            <a:pPr algn="r" indent="0" marL="0">
              <a:buNone/>
            </a:pPr>
            <a:r>
              <a:rPr lang="en-US" sz="1050" dirty="0">
                <a:solidFill>
                  <a:srgbClr val="E7B7BA"/>
                </a:solidFill>
                <a:latin typeface="Calibri" pitchFamily="34" charset="0"/>
                <a:ea typeface="Calibri" pitchFamily="34" charset="-122"/>
                <a:cs typeface="Calibri" pitchFamily="34" charset="-120"/>
              </a:rPr>
              <a:t>Tested in the EBIT bridge, slide 5</a:t>
            </a:r>
            <a:endParaRPr lang="en-US" sz="1050" dirty="0"/>
          </a:p>
        </p:txBody>
      </p:sp>
      <p:sp>
        <p:nvSpPr>
          <p:cNvPr id="14" name="Shape 10"/>
          <p:cNvSpPr/>
          <p:nvPr/>
        </p:nvSpPr>
        <p:spPr>
          <a:xfrm>
            <a:off x="4983480" y="4480560"/>
            <a:ext cx="6659575" cy="786384"/>
          </a:xfrm>
          <a:prstGeom prst="roundRect">
            <a:avLst>
              <a:gd name="adj" fmla="val 6977"/>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5" name="Text 11"/>
          <p:cNvSpPr txBox="1"/>
          <p:nvPr/>
        </p:nvSpPr>
        <p:spPr>
          <a:xfrm>
            <a:off x="5184648" y="4626864"/>
            <a:ext cx="457200" cy="502920"/>
          </a:xfrm>
          <a:prstGeom prst="rect">
            <a:avLst/>
          </a:prstGeom>
          <a:noFill/>
          <a:ln/>
        </p:spPr>
        <p:txBody>
          <a:bodyPr wrap="square" lIns="0" tIns="0" rIns="0" bIns="0" rtlCol="0" anchor="t"/>
          <a:lstStyle/>
          <a:p>
            <a:pPr indent="0" marL="0">
              <a:buNone/>
            </a:pPr>
            <a:r>
              <a:rPr lang="en-US" sz="3000" b="1" dirty="0">
                <a:solidFill>
                  <a:srgbClr val="D5001C"/>
                </a:solidFill>
                <a:latin typeface="Calibri" pitchFamily="34" charset="0"/>
                <a:ea typeface="Calibri" pitchFamily="34" charset="-122"/>
                <a:cs typeface="Calibri" pitchFamily="34" charset="-120"/>
              </a:rPr>
              <a:t>2</a:t>
            </a:r>
            <a:endParaRPr lang="en-US" sz="3000" dirty="0"/>
          </a:p>
        </p:txBody>
      </p:sp>
      <p:sp>
        <p:nvSpPr>
          <p:cNvPr id="16" name="Text 12"/>
          <p:cNvSpPr txBox="1"/>
          <p:nvPr/>
        </p:nvSpPr>
        <p:spPr>
          <a:xfrm>
            <a:off x="5760720" y="4608576"/>
            <a:ext cx="2743200" cy="274320"/>
          </a:xfrm>
          <a:prstGeom prst="rect">
            <a:avLst/>
          </a:prstGeom>
          <a:noFill/>
          <a:ln/>
        </p:spPr>
        <p:txBody>
          <a:bodyPr wrap="square" lIns="0" tIns="0" rIns="0" bIns="0" rtlCol="0" anchor="t"/>
          <a:lstStyle/>
          <a:p>
            <a:pPr indent="0" marL="0">
              <a:buNone/>
            </a:pPr>
            <a:r>
              <a:rPr lang="en-US" sz="1400" b="1" dirty="0">
                <a:solidFill>
                  <a:srgbClr val="EEE6E2"/>
                </a:solidFill>
                <a:latin typeface="Calibri" pitchFamily="34" charset="0"/>
                <a:ea typeface="Calibri" pitchFamily="34" charset="-122"/>
                <a:cs typeface="Calibri" pitchFamily="34" charset="-120"/>
              </a:rPr>
              <a:t>Accounting effects</a:t>
            </a:r>
            <a:endParaRPr lang="en-US" sz="1400" dirty="0"/>
          </a:p>
        </p:txBody>
      </p:sp>
      <p:sp>
        <p:nvSpPr>
          <p:cNvPr id="17" name="Text 13"/>
          <p:cNvSpPr txBox="1"/>
          <p:nvPr/>
        </p:nvSpPr>
        <p:spPr>
          <a:xfrm>
            <a:off x="5760720" y="4892040"/>
            <a:ext cx="3520440" cy="292608"/>
          </a:xfrm>
          <a:prstGeom prst="rect">
            <a:avLst/>
          </a:prstGeom>
          <a:noFill/>
          <a:ln/>
        </p:spPr>
        <p:txBody>
          <a:bodyPr wrap="square" lIns="0" tIns="0" rIns="0" bIns="0" rtlCol="0" anchor="t"/>
          <a:lstStyle/>
          <a:p>
            <a:pPr indent="0" marL="0">
              <a:buNone/>
            </a:pPr>
            <a:r>
              <a:rPr lang="en-US" sz="1100" dirty="0">
                <a:solidFill>
                  <a:srgbClr val="9C8F8E"/>
                </a:solidFill>
                <a:latin typeface="Calibri" pitchFamily="34" charset="0"/>
                <a:ea typeface="Calibri" pitchFamily="34" charset="-122"/>
                <a:cs typeface="Calibri" pitchFamily="34" charset="-120"/>
              </a:rPr>
              <a:t>Is more R&amp;D being capitalised, or less depreciation booked?</a:t>
            </a:r>
            <a:endParaRPr lang="en-US" sz="1100" dirty="0"/>
          </a:p>
        </p:txBody>
      </p:sp>
      <p:sp>
        <p:nvSpPr>
          <p:cNvPr id="18" name="Text 14"/>
          <p:cNvSpPr txBox="1"/>
          <p:nvPr/>
        </p:nvSpPr>
        <p:spPr>
          <a:xfrm>
            <a:off x="9372600" y="4608576"/>
            <a:ext cx="2087575" cy="548640"/>
          </a:xfrm>
          <a:prstGeom prst="rect">
            <a:avLst/>
          </a:prstGeom>
          <a:noFill/>
          <a:ln/>
        </p:spPr>
        <p:txBody>
          <a:bodyPr wrap="square" lIns="0" tIns="0" rIns="0" bIns="0" rtlCol="0" anchor="ctr"/>
          <a:lstStyle/>
          <a:p>
            <a:pPr algn="r" indent="0" marL="0">
              <a:buNone/>
            </a:pPr>
            <a:r>
              <a:rPr lang="en-US" sz="1050" dirty="0">
                <a:solidFill>
                  <a:srgbClr val="E7B7BA"/>
                </a:solidFill>
                <a:latin typeface="Calibri" pitchFamily="34" charset="0"/>
                <a:ea typeface="Calibri" pitchFamily="34" charset="-122"/>
                <a:cs typeface="Calibri" pitchFamily="34" charset="-120"/>
              </a:rPr>
              <a:t>Tested in R&amp;D and D&amp;A, slide 6</a:t>
            </a:r>
            <a:endParaRPr lang="en-US" sz="1050" dirty="0"/>
          </a:p>
        </p:txBody>
      </p:sp>
      <p:sp>
        <p:nvSpPr>
          <p:cNvPr id="19" name="Shape 15"/>
          <p:cNvSpPr/>
          <p:nvPr/>
        </p:nvSpPr>
        <p:spPr>
          <a:xfrm>
            <a:off x="4983480" y="5394960"/>
            <a:ext cx="6659575" cy="786384"/>
          </a:xfrm>
          <a:prstGeom prst="roundRect">
            <a:avLst>
              <a:gd name="adj" fmla="val 6977"/>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0" name="Text 16"/>
          <p:cNvSpPr txBox="1"/>
          <p:nvPr/>
        </p:nvSpPr>
        <p:spPr>
          <a:xfrm>
            <a:off x="5184648" y="5541264"/>
            <a:ext cx="457200" cy="502920"/>
          </a:xfrm>
          <a:prstGeom prst="rect">
            <a:avLst/>
          </a:prstGeom>
          <a:noFill/>
          <a:ln/>
        </p:spPr>
        <p:txBody>
          <a:bodyPr wrap="square" lIns="0" tIns="0" rIns="0" bIns="0" rtlCol="0" anchor="t"/>
          <a:lstStyle/>
          <a:p>
            <a:pPr indent="0" marL="0">
              <a:buNone/>
            </a:pPr>
            <a:r>
              <a:rPr lang="en-US" sz="3000" b="1" dirty="0">
                <a:solidFill>
                  <a:srgbClr val="D5001C"/>
                </a:solidFill>
                <a:latin typeface="Calibri" pitchFamily="34" charset="0"/>
                <a:ea typeface="Calibri" pitchFamily="34" charset="-122"/>
                <a:cs typeface="Calibri" pitchFamily="34" charset="-120"/>
              </a:rPr>
              <a:t>3</a:t>
            </a:r>
            <a:endParaRPr lang="en-US" sz="3000" dirty="0"/>
          </a:p>
        </p:txBody>
      </p:sp>
      <p:sp>
        <p:nvSpPr>
          <p:cNvPr id="21" name="Text 17"/>
          <p:cNvSpPr txBox="1"/>
          <p:nvPr/>
        </p:nvSpPr>
        <p:spPr>
          <a:xfrm>
            <a:off x="5760720" y="5522976"/>
            <a:ext cx="2743200" cy="274320"/>
          </a:xfrm>
          <a:prstGeom prst="rect">
            <a:avLst/>
          </a:prstGeom>
          <a:noFill/>
          <a:ln/>
        </p:spPr>
        <p:txBody>
          <a:bodyPr wrap="square" lIns="0" tIns="0" rIns="0" bIns="0" rtlCol="0" anchor="t"/>
          <a:lstStyle/>
          <a:p>
            <a:pPr indent="0" marL="0">
              <a:buNone/>
            </a:pPr>
            <a:r>
              <a:rPr lang="en-US" sz="1400" b="1" dirty="0">
                <a:solidFill>
                  <a:srgbClr val="EEE6E2"/>
                </a:solidFill>
                <a:latin typeface="Calibri" pitchFamily="34" charset="0"/>
                <a:ea typeface="Calibri" pitchFamily="34" charset="-122"/>
                <a:cs typeface="Calibri" pitchFamily="34" charset="-120"/>
              </a:rPr>
              <a:t>Price and mix</a:t>
            </a:r>
            <a:endParaRPr lang="en-US" sz="1400" dirty="0"/>
          </a:p>
        </p:txBody>
      </p:sp>
      <p:sp>
        <p:nvSpPr>
          <p:cNvPr id="22" name="Text 18"/>
          <p:cNvSpPr txBox="1"/>
          <p:nvPr/>
        </p:nvSpPr>
        <p:spPr>
          <a:xfrm>
            <a:off x="5760720" y="5806440"/>
            <a:ext cx="3520440" cy="292608"/>
          </a:xfrm>
          <a:prstGeom prst="rect">
            <a:avLst/>
          </a:prstGeom>
          <a:noFill/>
          <a:ln/>
        </p:spPr>
        <p:txBody>
          <a:bodyPr wrap="square" lIns="0" tIns="0" rIns="0" bIns="0" rtlCol="0" anchor="t"/>
          <a:lstStyle/>
          <a:p>
            <a:pPr indent="0" marL="0">
              <a:buNone/>
            </a:pPr>
            <a:r>
              <a:rPr lang="en-US" sz="1100" dirty="0">
                <a:solidFill>
                  <a:srgbClr val="9C8F8E"/>
                </a:solidFill>
                <a:latin typeface="Calibri" pitchFamily="34" charset="0"/>
                <a:ea typeface="Calibri" pitchFamily="34" charset="-122"/>
                <a:cs typeface="Calibri" pitchFamily="34" charset="-120"/>
              </a:rPr>
              <a:t>Is a higher price per car hiding fewer cars sold?</a:t>
            </a:r>
            <a:endParaRPr lang="en-US" sz="1100" dirty="0"/>
          </a:p>
        </p:txBody>
      </p:sp>
      <p:sp>
        <p:nvSpPr>
          <p:cNvPr id="23" name="Text 19"/>
          <p:cNvSpPr txBox="1"/>
          <p:nvPr/>
        </p:nvSpPr>
        <p:spPr>
          <a:xfrm>
            <a:off x="9372600" y="5522976"/>
            <a:ext cx="2087575" cy="548640"/>
          </a:xfrm>
          <a:prstGeom prst="rect">
            <a:avLst/>
          </a:prstGeom>
          <a:noFill/>
          <a:ln/>
        </p:spPr>
        <p:txBody>
          <a:bodyPr wrap="square" lIns="0" tIns="0" rIns="0" bIns="0" rtlCol="0" anchor="ctr"/>
          <a:lstStyle/>
          <a:p>
            <a:pPr algn="r" indent="0" marL="0">
              <a:buNone/>
            </a:pPr>
            <a:r>
              <a:rPr lang="en-US" sz="1050" dirty="0">
                <a:solidFill>
                  <a:srgbClr val="E7B7BA"/>
                </a:solidFill>
                <a:latin typeface="Calibri" pitchFamily="34" charset="0"/>
                <a:ea typeface="Calibri" pitchFamily="34" charset="-122"/>
                <a:cs typeface="Calibri" pitchFamily="34" charset="-120"/>
              </a:rPr>
              <a:t>Tested in commercial drivers, slides 7 and 8</a:t>
            </a:r>
            <a:endParaRPr lang="en-US" sz="1050" dirty="0"/>
          </a:p>
        </p:txBody>
      </p:sp>
      <p:sp>
        <p:nvSpPr>
          <p:cNvPr id="24" name="Text 20"/>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25" name="Text 21"/>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04</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H1 2026 financial performance</a:t>
            </a:r>
            <a:endParaRPr lang="en-US" sz="1200" dirty="0"/>
          </a:p>
        </p:txBody>
      </p:sp>
      <p:sp>
        <p:nvSpPr>
          <p:cNvPr id="5" name="Text 3"/>
          <p:cNvSpPr txBox="1"/>
          <p:nvPr/>
        </p:nvSpPr>
        <p:spPr>
          <a:xfrm>
            <a:off x="548640" y="731520"/>
            <a:ext cx="731520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ONLY THE REPORTED MARGIN RECOVERED.</a:t>
            </a:r>
            <a:endParaRPr lang="en-US" sz="3000" dirty="0"/>
          </a:p>
        </p:txBody>
      </p:sp>
      <p:pic>
        <p:nvPicPr>
          <p:cNvPr id="6" name="Image 0" descr="Slide artwork">    </p:cNvPr>
          <p:cNvPicPr>
            <a:picLocks noChangeAspect="1"/>
          </p:cNvPicPr>
          <p:nvPr/>
        </p:nvPicPr>
        <p:blipFill>
          <a:blip r:embed="rId2"/>
          <a:stretch>
            <a:fillRect/>
          </a:stretch>
        </p:blipFill>
        <p:spPr>
          <a:xfrm>
            <a:off x="512064" y="1298448"/>
            <a:ext cx="1951828" cy="329184"/>
          </a:xfrm>
          <a:prstGeom prst="rect">
            <a:avLst/>
          </a:prstGeom>
        </p:spPr>
      </p:pic>
      <p:sp>
        <p:nvSpPr>
          <p:cNvPr id="7" name="Shape 4"/>
          <p:cNvSpPr/>
          <p:nvPr/>
        </p:nvSpPr>
        <p:spPr>
          <a:xfrm>
            <a:off x="548640" y="1828800"/>
            <a:ext cx="3931920" cy="3429000"/>
          </a:xfrm>
          <a:prstGeom prst="roundRect">
            <a:avLst>
              <a:gd name="adj" fmla="val 1600"/>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8" name="Text 5"/>
          <p:cNvSpPr txBox="1"/>
          <p:nvPr/>
        </p:nvSpPr>
        <p:spPr>
          <a:xfrm>
            <a:off x="749808" y="1975104"/>
            <a:ext cx="2377440" cy="457200"/>
          </a:xfrm>
          <a:prstGeom prst="rect">
            <a:avLst/>
          </a:prstGeom>
          <a:noFill/>
          <a:ln/>
        </p:spPr>
        <p:txBody>
          <a:bodyPr wrap="square" lIns="0" tIns="0" rIns="0" bIns="0" rtlCol="0" anchor="ctr"/>
          <a:lstStyle/>
          <a:p>
            <a:pPr indent="0" marL="0">
              <a:buNone/>
            </a:pPr>
            <a:r>
              <a:rPr lang="en-US" sz="1200" b="1" dirty="0">
                <a:solidFill>
                  <a:srgbClr val="EEE6E2"/>
                </a:solidFill>
                <a:latin typeface="Calibri" pitchFamily="34" charset="0"/>
                <a:ea typeface="Calibri" pitchFamily="34" charset="-122"/>
                <a:cs typeface="Calibri" pitchFamily="34" charset="-120"/>
              </a:rPr>
              <a:t>L0  Reported EBIT</a:t>
            </a:r>
            <a:endParaRPr lang="en-US" sz="1200" dirty="0"/>
          </a:p>
        </p:txBody>
      </p:sp>
      <p:sp>
        <p:nvSpPr>
          <p:cNvPr id="9" name="Text 6"/>
          <p:cNvSpPr txBox="1"/>
          <p:nvPr/>
        </p:nvSpPr>
        <p:spPr>
          <a:xfrm>
            <a:off x="3063240" y="1938528"/>
            <a:ext cx="1234440" cy="329184"/>
          </a:xfrm>
          <a:prstGeom prst="rect">
            <a:avLst/>
          </a:prstGeom>
          <a:noFill/>
          <a:ln/>
        </p:spPr>
        <p:txBody>
          <a:bodyPr wrap="square" lIns="0" tIns="0" rIns="0" bIns="0" rtlCol="0" anchor="t"/>
          <a:lstStyle/>
          <a:p>
            <a:pPr algn="r" indent="0" marL="0">
              <a:buNone/>
            </a:pPr>
            <a:r>
              <a:rPr lang="en-US" sz="2200" b="1" dirty="0">
                <a:solidFill>
                  <a:srgbClr val="EEE6E2"/>
                </a:solidFill>
                <a:latin typeface="Calibri" pitchFamily="34" charset="0"/>
                <a:ea typeface="Calibri" pitchFamily="34" charset="-122"/>
                <a:cs typeface="Calibri" pitchFamily="34" charset="-120"/>
              </a:rPr>
              <a:t>€1,348m</a:t>
            </a:r>
            <a:endParaRPr lang="en-US" sz="2200" dirty="0"/>
          </a:p>
        </p:txBody>
      </p:sp>
      <p:sp>
        <p:nvSpPr>
          <p:cNvPr id="10" name="Text 7"/>
          <p:cNvSpPr txBox="1"/>
          <p:nvPr/>
        </p:nvSpPr>
        <p:spPr>
          <a:xfrm>
            <a:off x="2743200" y="2286000"/>
            <a:ext cx="1554480" cy="201168"/>
          </a:xfrm>
          <a:prstGeom prst="rect">
            <a:avLst/>
          </a:prstGeom>
          <a:noFill/>
          <a:ln/>
        </p:spPr>
        <p:txBody>
          <a:bodyPr wrap="square" lIns="0" tIns="0" rIns="0" bIns="0" rtlCol="0" anchor="t"/>
          <a:lstStyle/>
          <a:p>
            <a:pPr algn="r" indent="0" marL="0">
              <a:buNone/>
            </a:pPr>
            <a:r>
              <a:rPr lang="en-US" sz="950" dirty="0">
                <a:solidFill>
                  <a:srgbClr val="9C8F8E"/>
                </a:solidFill>
                <a:latin typeface="Calibri" pitchFamily="34" charset="0"/>
                <a:ea typeface="Calibri" pitchFamily="34" charset="-122"/>
                <a:cs typeface="Calibri" pitchFamily="34" charset="-120"/>
              </a:rPr>
              <a:t>margin 7.8%</a:t>
            </a:r>
            <a:endParaRPr lang="en-US" sz="950" dirty="0"/>
          </a:p>
        </p:txBody>
      </p:sp>
      <p:sp>
        <p:nvSpPr>
          <p:cNvPr id="11" name="Shape 8"/>
          <p:cNvSpPr/>
          <p:nvPr/>
        </p:nvSpPr>
        <p:spPr>
          <a:xfrm>
            <a:off x="749808" y="2551176"/>
            <a:ext cx="3529584" cy="0"/>
          </a:xfrm>
          <a:prstGeom prst="line">
            <a:avLst/>
          </a:prstGeom>
          <a:noFill/>
          <a:ln w="9525">
            <a:solidFill>
              <a:srgbClr val="2E2224"/>
            </a:solidFill>
            <a:prstDash val="solid"/>
          </a:ln>
        </p:spPr>
      </p:sp>
      <p:sp>
        <p:nvSpPr>
          <p:cNvPr id="12" name="Text 9"/>
          <p:cNvSpPr txBox="1"/>
          <p:nvPr/>
        </p:nvSpPr>
        <p:spPr>
          <a:xfrm>
            <a:off x="978408" y="2633472"/>
            <a:ext cx="2148840" cy="457200"/>
          </a:xfrm>
          <a:prstGeom prst="rect">
            <a:avLst/>
          </a:prstGeom>
          <a:noFill/>
          <a:ln/>
        </p:spPr>
        <p:txBody>
          <a:bodyPr wrap="square" lIns="0" tIns="0" rIns="0" bIns="0" rtlCol="0" anchor="ctr"/>
          <a:lstStyle/>
          <a:p>
            <a:pPr indent="0" marL="0">
              <a:buNone/>
            </a:pPr>
            <a:r>
              <a:rPr lang="en-US" sz="1050" dirty="0">
                <a:solidFill>
                  <a:srgbClr val="9C8F8E"/>
                </a:solidFill>
                <a:latin typeface="Calibri" pitchFamily="34" charset="0"/>
                <a:ea typeface="Calibri" pitchFamily="34" charset="-122"/>
                <a:cs typeface="Calibri" pitchFamily="34" charset="-120"/>
              </a:rPr>
              <a:t>+ Realignment and battery items (net)</a:t>
            </a:r>
            <a:endParaRPr lang="en-US" sz="1050" dirty="0"/>
          </a:p>
        </p:txBody>
      </p:sp>
      <p:sp>
        <p:nvSpPr>
          <p:cNvPr id="13" name="Text 10"/>
          <p:cNvSpPr txBox="1"/>
          <p:nvPr/>
        </p:nvSpPr>
        <p:spPr>
          <a:xfrm>
            <a:off x="3063240" y="2596896"/>
            <a:ext cx="1234440" cy="329184"/>
          </a:xfrm>
          <a:prstGeom prst="rect">
            <a:avLst/>
          </a:prstGeom>
          <a:noFill/>
          <a:ln/>
        </p:spPr>
        <p:txBody>
          <a:bodyPr wrap="square" lIns="0" tIns="0" rIns="0" bIns="0" rtlCol="0" anchor="t"/>
          <a:lstStyle/>
          <a:p>
            <a:pPr algn="r" indent="0" marL="0">
              <a:buNone/>
            </a:pPr>
            <a:r>
              <a:rPr lang="en-US" sz="1500" b="1" dirty="0">
                <a:solidFill>
                  <a:srgbClr val="9C8F8E"/>
                </a:solidFill>
                <a:latin typeface="Calibri" pitchFamily="34" charset="0"/>
                <a:ea typeface="Calibri" pitchFamily="34" charset="-122"/>
                <a:cs typeface="Calibri" pitchFamily="34" charset="-120"/>
              </a:rPr>
              <a:t>+€100m</a:t>
            </a:r>
            <a:endParaRPr lang="en-US" sz="1500" dirty="0"/>
          </a:p>
        </p:txBody>
      </p:sp>
      <p:sp>
        <p:nvSpPr>
          <p:cNvPr id="14" name="Text 11"/>
          <p:cNvSpPr txBox="1"/>
          <p:nvPr/>
        </p:nvSpPr>
        <p:spPr>
          <a:xfrm>
            <a:off x="2743200" y="2944368"/>
            <a:ext cx="1554480" cy="201168"/>
          </a:xfrm>
          <a:prstGeom prst="rect">
            <a:avLst/>
          </a:prstGeom>
          <a:noFill/>
          <a:ln/>
        </p:spPr>
        <p:txBody>
          <a:bodyPr wrap="square" lIns="0" tIns="0" rIns="0" bIns="0" rtlCol="0" anchor="t"/>
          <a:lstStyle/>
          <a:p>
            <a:pPr algn="r" indent="0" marL="0">
              <a:buNone/>
            </a:pPr>
            <a:r>
              <a:rPr lang="en-US" sz="950" dirty="0">
                <a:solidFill>
                  <a:srgbClr val="9C8F8E"/>
                </a:solidFill>
                <a:latin typeface="Calibri" pitchFamily="34" charset="0"/>
                <a:ea typeface="Calibri" pitchFamily="34" charset="-122"/>
                <a:cs typeface="Calibri" pitchFamily="34" charset="-120"/>
              </a:rPr>
              <a:t>disclosed by Porsche</a:t>
            </a:r>
            <a:endParaRPr lang="en-US" sz="950" dirty="0"/>
          </a:p>
        </p:txBody>
      </p:sp>
      <p:sp>
        <p:nvSpPr>
          <p:cNvPr id="15" name="Shape 12"/>
          <p:cNvSpPr/>
          <p:nvPr/>
        </p:nvSpPr>
        <p:spPr>
          <a:xfrm>
            <a:off x="749808" y="3209544"/>
            <a:ext cx="3529584" cy="0"/>
          </a:xfrm>
          <a:prstGeom prst="line">
            <a:avLst/>
          </a:prstGeom>
          <a:noFill/>
          <a:ln w="9525">
            <a:solidFill>
              <a:srgbClr val="2E2224"/>
            </a:solidFill>
            <a:prstDash val="solid"/>
          </a:ln>
        </p:spPr>
      </p:sp>
      <p:sp>
        <p:nvSpPr>
          <p:cNvPr id="16" name="Text 13"/>
          <p:cNvSpPr txBox="1"/>
          <p:nvPr/>
        </p:nvSpPr>
        <p:spPr>
          <a:xfrm>
            <a:off x="749808" y="3291840"/>
            <a:ext cx="2377440" cy="457200"/>
          </a:xfrm>
          <a:prstGeom prst="rect">
            <a:avLst/>
          </a:prstGeom>
          <a:noFill/>
          <a:ln/>
        </p:spPr>
        <p:txBody>
          <a:bodyPr wrap="square" lIns="0" tIns="0" rIns="0" bIns="0" rtlCol="0" anchor="ctr"/>
          <a:lstStyle/>
          <a:p>
            <a:pPr indent="0" marL="0">
              <a:buNone/>
            </a:pPr>
            <a:r>
              <a:rPr lang="en-US" sz="1200" b="1" dirty="0">
                <a:solidFill>
                  <a:srgbClr val="EEE6E2"/>
                </a:solidFill>
                <a:latin typeface="Calibri" pitchFamily="34" charset="0"/>
                <a:ea typeface="Calibri" pitchFamily="34" charset="-122"/>
                <a:cs typeface="Calibri" pitchFamily="34" charset="-120"/>
              </a:rPr>
              <a:t>L1  Underlying EBIT, headline KPI</a:t>
            </a:r>
            <a:endParaRPr lang="en-US" sz="1200" dirty="0"/>
          </a:p>
        </p:txBody>
      </p:sp>
      <p:sp>
        <p:nvSpPr>
          <p:cNvPr id="17" name="Text 14"/>
          <p:cNvSpPr txBox="1"/>
          <p:nvPr/>
        </p:nvSpPr>
        <p:spPr>
          <a:xfrm>
            <a:off x="3063240" y="3255264"/>
            <a:ext cx="1234440" cy="329184"/>
          </a:xfrm>
          <a:prstGeom prst="rect">
            <a:avLst/>
          </a:prstGeom>
          <a:noFill/>
          <a:ln/>
        </p:spPr>
        <p:txBody>
          <a:bodyPr wrap="square" lIns="0" tIns="0" rIns="0" bIns="0" rtlCol="0" anchor="t"/>
          <a:lstStyle/>
          <a:p>
            <a:pPr algn="r" indent="0" marL="0">
              <a:buNone/>
            </a:pPr>
            <a:r>
              <a:rPr lang="en-US" sz="2200" b="1" dirty="0">
                <a:solidFill>
                  <a:srgbClr val="D5001C"/>
                </a:solidFill>
                <a:latin typeface="Calibri" pitchFamily="34" charset="0"/>
                <a:ea typeface="Calibri" pitchFamily="34" charset="-122"/>
                <a:cs typeface="Calibri" pitchFamily="34" charset="-120"/>
              </a:rPr>
              <a:t>€1,448m</a:t>
            </a:r>
            <a:endParaRPr lang="en-US" sz="2200" dirty="0"/>
          </a:p>
        </p:txBody>
      </p:sp>
      <p:sp>
        <p:nvSpPr>
          <p:cNvPr id="18" name="Text 15"/>
          <p:cNvSpPr txBox="1"/>
          <p:nvPr/>
        </p:nvSpPr>
        <p:spPr>
          <a:xfrm>
            <a:off x="2743200" y="3602736"/>
            <a:ext cx="1554480" cy="201168"/>
          </a:xfrm>
          <a:prstGeom prst="rect">
            <a:avLst/>
          </a:prstGeom>
          <a:noFill/>
          <a:ln/>
        </p:spPr>
        <p:txBody>
          <a:bodyPr wrap="square" lIns="0" tIns="0" rIns="0" bIns="0" rtlCol="0" anchor="t"/>
          <a:lstStyle/>
          <a:p>
            <a:pPr algn="r" indent="0" marL="0">
              <a:buNone/>
            </a:pPr>
            <a:r>
              <a:rPr lang="en-US" sz="950" dirty="0">
                <a:solidFill>
                  <a:srgbClr val="9C8F8E"/>
                </a:solidFill>
                <a:latin typeface="Calibri" pitchFamily="34" charset="0"/>
                <a:ea typeface="Calibri" pitchFamily="34" charset="-122"/>
                <a:cs typeface="Calibri" pitchFamily="34" charset="-120"/>
              </a:rPr>
              <a:t>margin 8.4%</a:t>
            </a:r>
            <a:endParaRPr lang="en-US" sz="950" dirty="0"/>
          </a:p>
        </p:txBody>
      </p:sp>
      <p:sp>
        <p:nvSpPr>
          <p:cNvPr id="19" name="Shape 16"/>
          <p:cNvSpPr/>
          <p:nvPr/>
        </p:nvSpPr>
        <p:spPr>
          <a:xfrm>
            <a:off x="749808" y="3867912"/>
            <a:ext cx="3529584" cy="0"/>
          </a:xfrm>
          <a:prstGeom prst="line">
            <a:avLst/>
          </a:prstGeom>
          <a:noFill/>
          <a:ln w="9525">
            <a:solidFill>
              <a:srgbClr val="2E2224"/>
            </a:solidFill>
            <a:prstDash val="solid"/>
          </a:ln>
        </p:spPr>
      </p:sp>
      <p:sp>
        <p:nvSpPr>
          <p:cNvPr id="20" name="Text 17"/>
          <p:cNvSpPr txBox="1"/>
          <p:nvPr/>
        </p:nvSpPr>
        <p:spPr>
          <a:xfrm>
            <a:off x="978408" y="3950208"/>
            <a:ext cx="2148840" cy="457200"/>
          </a:xfrm>
          <a:prstGeom prst="rect">
            <a:avLst/>
          </a:prstGeom>
          <a:noFill/>
          <a:ln/>
        </p:spPr>
        <p:txBody>
          <a:bodyPr wrap="square" lIns="0" tIns="0" rIns="0" bIns="0" rtlCol="0" anchor="ctr"/>
          <a:lstStyle/>
          <a:p>
            <a:pPr indent="0" marL="0">
              <a:buNone/>
            </a:pPr>
            <a:r>
              <a:rPr lang="en-US" sz="1050" dirty="0">
                <a:solidFill>
                  <a:srgbClr val="9C8F8E"/>
                </a:solidFill>
                <a:latin typeface="Calibri" pitchFamily="34" charset="0"/>
                <a:ea typeface="Calibri" pitchFamily="34" charset="-122"/>
                <a:cs typeface="Calibri" pitchFamily="34" charset="-120"/>
              </a:rPr>
              <a:t>+ US import tariffs</a:t>
            </a:r>
            <a:endParaRPr lang="en-US" sz="1050" dirty="0"/>
          </a:p>
        </p:txBody>
      </p:sp>
      <p:sp>
        <p:nvSpPr>
          <p:cNvPr id="21" name="Text 18"/>
          <p:cNvSpPr txBox="1"/>
          <p:nvPr/>
        </p:nvSpPr>
        <p:spPr>
          <a:xfrm>
            <a:off x="3063240" y="3913632"/>
            <a:ext cx="1234440" cy="329184"/>
          </a:xfrm>
          <a:prstGeom prst="rect">
            <a:avLst/>
          </a:prstGeom>
          <a:noFill/>
          <a:ln/>
        </p:spPr>
        <p:txBody>
          <a:bodyPr wrap="square" lIns="0" tIns="0" rIns="0" bIns="0" rtlCol="0" anchor="t"/>
          <a:lstStyle/>
          <a:p>
            <a:pPr algn="r" indent="0" marL="0">
              <a:buNone/>
            </a:pPr>
            <a:r>
              <a:rPr lang="en-US" sz="1500" b="1" dirty="0">
                <a:solidFill>
                  <a:srgbClr val="9C8F8E"/>
                </a:solidFill>
                <a:latin typeface="Calibri" pitchFamily="34" charset="0"/>
                <a:ea typeface="Calibri" pitchFamily="34" charset="-122"/>
                <a:cs typeface="Calibri" pitchFamily="34" charset="-120"/>
              </a:rPr>
              <a:t>+€400m</a:t>
            </a:r>
            <a:endParaRPr lang="en-US" sz="1500" dirty="0"/>
          </a:p>
        </p:txBody>
      </p:sp>
      <p:sp>
        <p:nvSpPr>
          <p:cNvPr id="22" name="Text 19"/>
          <p:cNvSpPr txBox="1"/>
          <p:nvPr/>
        </p:nvSpPr>
        <p:spPr>
          <a:xfrm>
            <a:off x="2743200" y="4261104"/>
            <a:ext cx="1554480" cy="201168"/>
          </a:xfrm>
          <a:prstGeom prst="rect">
            <a:avLst/>
          </a:prstGeom>
          <a:noFill/>
          <a:ln/>
        </p:spPr>
        <p:txBody>
          <a:bodyPr wrap="square" lIns="0" tIns="0" rIns="0" bIns="0" rtlCol="0" anchor="t"/>
          <a:lstStyle/>
          <a:p>
            <a:pPr algn="r" indent="0" marL="0">
              <a:buNone/>
            </a:pPr>
            <a:r>
              <a:rPr lang="en-US" sz="950" dirty="0">
                <a:solidFill>
                  <a:srgbClr val="9C8F8E"/>
                </a:solidFill>
                <a:latin typeface="Calibri" pitchFamily="34" charset="0"/>
                <a:ea typeface="Calibri" pitchFamily="34" charset="-122"/>
                <a:cs typeface="Calibri" pitchFamily="34" charset="-120"/>
              </a:rPr>
              <a:t>disclosed by Porsche</a:t>
            </a:r>
            <a:endParaRPr lang="en-US" sz="950" dirty="0"/>
          </a:p>
        </p:txBody>
      </p:sp>
      <p:sp>
        <p:nvSpPr>
          <p:cNvPr id="23" name="Shape 20"/>
          <p:cNvSpPr/>
          <p:nvPr/>
        </p:nvSpPr>
        <p:spPr>
          <a:xfrm>
            <a:off x="749808" y="4526280"/>
            <a:ext cx="3529584" cy="0"/>
          </a:xfrm>
          <a:prstGeom prst="line">
            <a:avLst/>
          </a:prstGeom>
          <a:noFill/>
          <a:ln w="9525">
            <a:solidFill>
              <a:srgbClr val="2E2224"/>
            </a:solidFill>
            <a:prstDash val="solid"/>
          </a:ln>
        </p:spPr>
      </p:sp>
      <p:sp>
        <p:nvSpPr>
          <p:cNvPr id="24" name="Text 21"/>
          <p:cNvSpPr txBox="1"/>
          <p:nvPr/>
        </p:nvSpPr>
        <p:spPr>
          <a:xfrm>
            <a:off x="749808" y="4608576"/>
            <a:ext cx="2377440" cy="457200"/>
          </a:xfrm>
          <a:prstGeom prst="rect">
            <a:avLst/>
          </a:prstGeom>
          <a:noFill/>
          <a:ln/>
        </p:spPr>
        <p:txBody>
          <a:bodyPr wrap="square" lIns="0" tIns="0" rIns="0" bIns="0" rtlCol="0" anchor="ctr"/>
          <a:lstStyle/>
          <a:p>
            <a:pPr indent="0" marL="0">
              <a:buNone/>
            </a:pPr>
            <a:r>
              <a:rPr lang="en-US" sz="1200" b="1" dirty="0">
                <a:solidFill>
                  <a:srgbClr val="EEE6E2"/>
                </a:solidFill>
                <a:latin typeface="Calibri" pitchFamily="34" charset="0"/>
                <a:ea typeface="Calibri" pitchFamily="34" charset="-122"/>
                <a:cs typeface="Calibri" pitchFamily="34" charset="-120"/>
              </a:rPr>
              <a:t>L2  EBIT excluding tariffs</a:t>
            </a:r>
            <a:endParaRPr lang="en-US" sz="1200" dirty="0"/>
          </a:p>
        </p:txBody>
      </p:sp>
      <p:sp>
        <p:nvSpPr>
          <p:cNvPr id="25" name="Text 22"/>
          <p:cNvSpPr txBox="1"/>
          <p:nvPr/>
        </p:nvSpPr>
        <p:spPr>
          <a:xfrm>
            <a:off x="3063240" y="4572000"/>
            <a:ext cx="1234440" cy="329184"/>
          </a:xfrm>
          <a:prstGeom prst="rect">
            <a:avLst/>
          </a:prstGeom>
          <a:noFill/>
          <a:ln/>
        </p:spPr>
        <p:txBody>
          <a:bodyPr wrap="square" lIns="0" tIns="0" rIns="0" bIns="0" rtlCol="0" anchor="t"/>
          <a:lstStyle/>
          <a:p>
            <a:pPr algn="r" indent="0" marL="0">
              <a:buNone/>
            </a:pPr>
            <a:r>
              <a:rPr lang="en-US" sz="2200" b="1" dirty="0">
                <a:solidFill>
                  <a:srgbClr val="EEE6E2"/>
                </a:solidFill>
                <a:latin typeface="Calibri" pitchFamily="34" charset="0"/>
                <a:ea typeface="Calibri" pitchFamily="34" charset="-122"/>
                <a:cs typeface="Calibri" pitchFamily="34" charset="-120"/>
              </a:rPr>
              <a:t>€1,848m</a:t>
            </a:r>
            <a:endParaRPr lang="en-US" sz="2200" dirty="0"/>
          </a:p>
        </p:txBody>
      </p:sp>
      <p:sp>
        <p:nvSpPr>
          <p:cNvPr id="26" name="Text 23"/>
          <p:cNvSpPr txBox="1"/>
          <p:nvPr/>
        </p:nvSpPr>
        <p:spPr>
          <a:xfrm>
            <a:off x="2743200" y="4919472"/>
            <a:ext cx="1554480" cy="201168"/>
          </a:xfrm>
          <a:prstGeom prst="rect">
            <a:avLst/>
          </a:prstGeom>
          <a:noFill/>
          <a:ln/>
        </p:spPr>
        <p:txBody>
          <a:bodyPr wrap="square" lIns="0" tIns="0" rIns="0" bIns="0" rtlCol="0" anchor="t"/>
          <a:lstStyle/>
          <a:p>
            <a:pPr algn="r" indent="0" marL="0">
              <a:buNone/>
            </a:pPr>
            <a:r>
              <a:rPr lang="en-US" sz="950" dirty="0">
                <a:solidFill>
                  <a:srgbClr val="9C8F8E"/>
                </a:solidFill>
                <a:latin typeface="Calibri" pitchFamily="34" charset="0"/>
                <a:ea typeface="Calibri" pitchFamily="34" charset="-122"/>
                <a:cs typeface="Calibri" pitchFamily="34" charset="-120"/>
              </a:rPr>
              <a:t>margin 10.7%</a:t>
            </a:r>
            <a:endParaRPr lang="en-US" sz="950" dirty="0"/>
          </a:p>
        </p:txBody>
      </p:sp>
      <p:sp>
        <p:nvSpPr>
          <p:cNvPr id="27" name="Text 24"/>
          <p:cNvSpPr txBox="1"/>
          <p:nvPr/>
        </p:nvSpPr>
        <p:spPr>
          <a:xfrm>
            <a:off x="4846320" y="1828800"/>
            <a:ext cx="6796735" cy="256032"/>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Group margin by half-year: reported vs headline adjusted levels</a:t>
            </a:r>
            <a:endParaRPr lang="en-US" sz="1200" dirty="0"/>
          </a:p>
        </p:txBody>
      </p:sp>
      <p:graphicFrame>
        <p:nvGraphicFramePr>
          <p:cNvPr id="28" name="Chart 0" descr=""/>
          <p:cNvGraphicFramePr/>
          <p:nvPr/>
        </p:nvGraphicFramePr>
        <p:xfrm>
          <a:off x="4754880" y="2103120"/>
          <a:ext cx="6888175" cy="2880360"/>
        </p:xfrm>
        <a:graphic xmlns:a="http://schemas.openxmlformats.org/drawingml/2006/main">
          <a:graphicData uri="http://schemas.openxmlformats.org/drawingml/2006/chart">
            <c:chart xmlns:c="http://schemas.openxmlformats.org/drawingml/2006/chart" r:id="rId3"/>
          </a:graphicData>
        </a:graphic>
      </p:graphicFrame>
      <p:sp>
        <p:nvSpPr>
          <p:cNvPr id="29" name="Text 25"/>
          <p:cNvSpPr txBox="1"/>
          <p:nvPr/>
        </p:nvSpPr>
        <p:spPr>
          <a:xfrm>
            <a:off x="4846320" y="5001768"/>
            <a:ext cx="6796735" cy="27432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H2 2025: L0 −3.3% vs L1 10.0%. Until 2025 the three lines coincide: no one-offs were disclosed (A-01, A-02). H2 = FY − H1.</a:t>
            </a:r>
            <a:endParaRPr lang="en-US" sz="950" dirty="0"/>
          </a:p>
        </p:txBody>
      </p:sp>
      <p:sp>
        <p:nvSpPr>
          <p:cNvPr id="30" name="Shape 26"/>
          <p:cNvSpPr/>
          <p:nvPr/>
        </p:nvSpPr>
        <p:spPr>
          <a:xfrm>
            <a:off x="548640" y="5266944"/>
            <a:ext cx="11094415" cy="1189645"/>
          </a:xfrm>
          <a:prstGeom prst="roundRect">
            <a:avLst>
              <a:gd name="adj" fmla="val 6149"/>
            </a:avLst>
          </a:prstGeom>
          <a:solidFill>
            <a:srgbClr val="140C0E"/>
          </a:solidFill>
          <a:ln w="9525">
            <a:solidFill>
              <a:srgbClr val="3A1A20"/>
            </a:solidFill>
            <a:prstDash val="solid"/>
          </a:ln>
          <a:effectLst>
            <a:outerShdw sx="100000" sy="100000" kx="0" ky="0" algn="bl" rotWithShape="0" blurRad="304800" dist="50800" dir="5400000">
              <a:srgbClr val="B0001A">
                <a:alpha val="35000"/>
              </a:srgbClr>
            </a:outerShdw>
          </a:effectLst>
        </p:spPr>
      </p:sp>
      <p:sp>
        <p:nvSpPr>
          <p:cNvPr id="31" name="Shape 27"/>
          <p:cNvSpPr/>
          <p:nvPr/>
        </p:nvSpPr>
        <p:spPr>
          <a:xfrm>
            <a:off x="649224" y="5367528"/>
            <a:ext cx="64008" cy="64008"/>
          </a:xfrm>
          <a:prstGeom prst="ellipse">
            <a:avLst/>
          </a:prstGeom>
          <a:solidFill>
            <a:srgbClr val="FF4252"/>
          </a:solidFill>
          <a:ln w="12700">
            <a:solidFill>
              <a:srgbClr val="FF4252"/>
            </a:solidFill>
            <a:prstDash val="solid"/>
          </a:ln>
        </p:spPr>
      </p:sp>
      <p:sp>
        <p:nvSpPr>
          <p:cNvPr id="32" name="Text 28"/>
          <p:cNvSpPr txBox="1"/>
          <p:nvPr/>
        </p:nvSpPr>
        <p:spPr>
          <a:xfrm>
            <a:off x="777240" y="5312664"/>
            <a:ext cx="10746943" cy="164592"/>
          </a:xfrm>
          <a:prstGeom prst="rect">
            <a:avLst/>
          </a:prstGeom>
          <a:noFill/>
          <a:ln/>
        </p:spPr>
        <p:txBody>
          <a:bodyPr wrap="square" lIns="0" tIns="0" rIns="0" bIns="0" rtlCol="0" anchor="t"/>
          <a:lstStyle/>
          <a:p>
            <a:pPr indent="0" marL="0">
              <a:buNone/>
            </a:pPr>
            <a:r>
              <a:rPr lang="en-US" sz="850" b="1" dirty="0">
                <a:solidFill>
                  <a:srgbClr val="9C8F8E"/>
                </a:solidFill>
                <a:latin typeface="Calibri" pitchFamily="34" charset="0"/>
                <a:ea typeface="Calibri" pitchFamily="34" charset="-122"/>
                <a:cs typeface="Calibri" pitchFamily="34" charset="-120"/>
              </a:rPr>
              <a:t>POWER BI, PAGE 1: KPI ROW, H1 2026</a:t>
            </a:r>
            <a:endParaRPr lang="en-US" sz="850" dirty="0"/>
          </a:p>
        </p:txBody>
      </p:sp>
      <p:pic>
        <p:nvPicPr>
          <p:cNvPr id="33" name="Image 1" descr="Power BI page 1 KPI strip">    </p:cNvPr>
          <p:cNvPicPr>
            <a:picLocks noChangeAspect="1"/>
          </p:cNvPicPr>
          <p:nvPr/>
        </p:nvPicPr>
        <p:blipFill>
          <a:blip r:embed="rId4"/>
          <a:stretch>
            <a:fillRect/>
          </a:stretch>
        </p:blipFill>
        <p:spPr>
          <a:xfrm>
            <a:off x="630936" y="5559552"/>
            <a:ext cx="10929823" cy="814741"/>
          </a:xfrm>
          <a:prstGeom prst="rect">
            <a:avLst/>
          </a:prstGeom>
        </p:spPr>
      </p:pic>
      <p:sp>
        <p:nvSpPr>
          <p:cNvPr id="34" name="Text 29"/>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35" name="Text 30"/>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05</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EBIT recovery bridge</a:t>
            </a:r>
            <a:endParaRPr lang="en-US" sz="1200" dirty="0"/>
          </a:p>
        </p:txBody>
      </p:sp>
      <p:sp>
        <p:nvSpPr>
          <p:cNvPr id="5" name="Text 3"/>
          <p:cNvSpPr txBox="1"/>
          <p:nvPr/>
        </p:nvSpPr>
        <p:spPr>
          <a:xfrm>
            <a:off x="548640" y="731520"/>
            <a:ext cx="786384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WITHOUT THE ONE-OFF RELIEF, EBIT WOULD HAVE FALLEN.</a:t>
            </a:r>
            <a:endParaRPr lang="en-US" sz="3000" dirty="0"/>
          </a:p>
        </p:txBody>
      </p:sp>
      <p:pic>
        <p:nvPicPr>
          <p:cNvPr id="6" name="Image 0" descr="Slide artwork">    </p:cNvPr>
          <p:cNvPicPr>
            <a:picLocks noChangeAspect="1"/>
          </p:cNvPicPr>
          <p:nvPr/>
        </p:nvPicPr>
        <p:blipFill>
          <a:blip r:embed="rId2"/>
          <a:stretch>
            <a:fillRect/>
          </a:stretch>
        </p:blipFill>
        <p:spPr>
          <a:xfrm>
            <a:off x="512064" y="1700784"/>
            <a:ext cx="1989416" cy="329184"/>
          </a:xfrm>
          <a:prstGeom prst="rect">
            <a:avLst/>
          </a:prstGeom>
        </p:spPr>
      </p:pic>
      <p:sp>
        <p:nvSpPr>
          <p:cNvPr id="7" name="Shape 4"/>
          <p:cNvSpPr/>
          <p:nvPr/>
        </p:nvSpPr>
        <p:spPr>
          <a:xfrm>
            <a:off x="640080" y="5303520"/>
            <a:ext cx="7040880" cy="0"/>
          </a:xfrm>
          <a:prstGeom prst="line">
            <a:avLst/>
          </a:prstGeom>
          <a:noFill/>
          <a:ln w="15875">
            <a:solidFill>
              <a:srgbClr val="D5001C"/>
            </a:solidFill>
            <a:prstDash val="solid"/>
          </a:ln>
          <a:effectLst>
            <a:outerShdw sx="100000" sy="100000" kx="0" ky="0" algn="bl" rotWithShape="0" blurRad="63500" dist="50800" dir="5400000">
              <a:srgbClr val="FF2030">
                <a:alpha val="80000"/>
              </a:srgbClr>
            </a:outerShdw>
          </a:effectLst>
        </p:spPr>
      </p:sp>
      <p:sp>
        <p:nvSpPr>
          <p:cNvPr id="8" name="Shape 5"/>
          <p:cNvSpPr/>
          <p:nvPr/>
        </p:nvSpPr>
        <p:spPr>
          <a:xfrm>
            <a:off x="816102" y="3543530"/>
            <a:ext cx="528066" cy="1759990"/>
          </a:xfrm>
          <a:prstGeom prst="rect">
            <a:avLst/>
          </a:prstGeom>
          <a:solidFill>
            <a:srgbClr val="EEE6E2"/>
          </a:solidFill>
          <a:ln w="12700">
            <a:solidFill>
              <a:srgbClr val="EEE6E2"/>
            </a:solidFill>
            <a:prstDash val="solid"/>
          </a:ln>
        </p:spPr>
      </p:sp>
      <p:sp>
        <p:nvSpPr>
          <p:cNvPr id="9" name="Text 6"/>
          <p:cNvSpPr txBox="1"/>
          <p:nvPr/>
        </p:nvSpPr>
        <p:spPr>
          <a:xfrm>
            <a:off x="587502" y="3269210"/>
            <a:ext cx="985266" cy="237744"/>
          </a:xfrm>
          <a:prstGeom prst="rect">
            <a:avLst/>
          </a:prstGeom>
          <a:noFill/>
          <a:ln/>
        </p:spPr>
        <p:txBody>
          <a:bodyPr wrap="square" lIns="0" tIns="0" rIns="0" bIns="0" rtlCol="0" anchor="t"/>
          <a:lstStyle/>
          <a:p>
            <a:pPr algn="ctr" indent="0" marL="0">
              <a:buNone/>
            </a:pPr>
            <a:r>
              <a:rPr lang="en-US" sz="1200" b="1" dirty="0">
                <a:solidFill>
                  <a:srgbClr val="EEE6E2"/>
                </a:solidFill>
                <a:latin typeface="Calibri" pitchFamily="34" charset="0"/>
                <a:ea typeface="Calibri" pitchFamily="34" charset="-122"/>
                <a:cs typeface="Calibri" pitchFamily="34" charset="-120"/>
              </a:rPr>
              <a:t>1,007</a:t>
            </a:r>
            <a:endParaRPr lang="en-US" sz="1200" dirty="0"/>
          </a:p>
        </p:txBody>
      </p:sp>
      <p:sp>
        <p:nvSpPr>
          <p:cNvPr id="10" name="Text 7"/>
          <p:cNvSpPr txBox="1"/>
          <p:nvPr/>
        </p:nvSpPr>
        <p:spPr>
          <a:xfrm>
            <a:off x="541782" y="5376672"/>
            <a:ext cx="1076706" cy="384048"/>
          </a:xfrm>
          <a:prstGeom prst="rect">
            <a:avLst/>
          </a:prstGeom>
          <a:noFill/>
          <a:ln/>
        </p:spPr>
        <p:txBody>
          <a:bodyPr wrap="square" lIns="0" tIns="0" rIns="0" bIns="0" rtlCol="0" anchor="t"/>
          <a:lstStyle/>
          <a:p>
            <a:pPr algn="ctr" indent="0" marL="0">
              <a:buNone/>
            </a:pPr>
            <a:r>
              <a:rPr lang="en-US" sz="900" b="1" dirty="0">
                <a:solidFill>
                  <a:srgbClr val="EEE6E2"/>
                </a:solidFill>
                <a:latin typeface="Calibri" pitchFamily="34" charset="0"/>
                <a:ea typeface="Calibri" pitchFamily="34" charset="-122"/>
                <a:cs typeface="Calibri" pitchFamily="34" charset="-120"/>
              </a:rPr>
              <a:t>EBIT</a:t>
            </a:r>
            <a:endParaRPr lang="en-US" sz="900" dirty="0"/>
          </a:p>
          <a:p>
            <a:pPr algn="ctr" indent="0" marL="0">
              <a:buNone/>
            </a:pPr>
            <a:r>
              <a:rPr lang="en-US" sz="900" b="1" dirty="0">
                <a:solidFill>
                  <a:srgbClr val="EEE6E2"/>
                </a:solidFill>
                <a:latin typeface="Calibri" pitchFamily="34" charset="0"/>
                <a:ea typeface="Calibri" pitchFamily="34" charset="-122"/>
                <a:cs typeface="Calibri" pitchFamily="34" charset="-120"/>
              </a:rPr>
              <a:t>H1 2025</a:t>
            </a:r>
            <a:endParaRPr lang="en-US" sz="900" dirty="0"/>
          </a:p>
        </p:txBody>
      </p:sp>
      <p:sp>
        <p:nvSpPr>
          <p:cNvPr id="11" name="Shape 8"/>
          <p:cNvSpPr/>
          <p:nvPr/>
        </p:nvSpPr>
        <p:spPr>
          <a:xfrm>
            <a:off x="1344168" y="3543530"/>
            <a:ext cx="352044" cy="0"/>
          </a:xfrm>
          <a:prstGeom prst="line">
            <a:avLst/>
          </a:prstGeom>
          <a:noFill/>
          <a:ln w="9525">
            <a:solidFill>
              <a:srgbClr val="5A4D4E"/>
            </a:solidFill>
            <a:prstDash val="dash"/>
          </a:ln>
        </p:spPr>
      </p:sp>
      <p:sp>
        <p:nvSpPr>
          <p:cNvPr id="12" name="Shape 9"/>
          <p:cNvSpPr/>
          <p:nvPr/>
        </p:nvSpPr>
        <p:spPr>
          <a:xfrm>
            <a:off x="1696212" y="2494660"/>
            <a:ext cx="528066" cy="1048871"/>
          </a:xfrm>
          <a:prstGeom prst="rect">
            <a:avLst/>
          </a:prstGeom>
          <a:solidFill>
            <a:srgbClr val="D5001C"/>
          </a:solidFill>
          <a:ln w="12700">
            <a:solidFill>
              <a:srgbClr val="D5001C"/>
            </a:solidFill>
            <a:prstDash val="solid"/>
          </a:ln>
        </p:spPr>
      </p:sp>
      <p:sp>
        <p:nvSpPr>
          <p:cNvPr id="13" name="Text 10"/>
          <p:cNvSpPr txBox="1"/>
          <p:nvPr/>
        </p:nvSpPr>
        <p:spPr>
          <a:xfrm>
            <a:off x="1467612" y="2220340"/>
            <a:ext cx="985266" cy="237744"/>
          </a:xfrm>
          <a:prstGeom prst="rect">
            <a:avLst/>
          </a:prstGeom>
          <a:noFill/>
          <a:ln/>
        </p:spPr>
        <p:txBody>
          <a:bodyPr wrap="square" lIns="0" tIns="0" rIns="0" bIns="0" rtlCol="0" anchor="t"/>
          <a:lstStyle/>
          <a:p>
            <a:pPr algn="ctr" indent="0" marL="0">
              <a:buNone/>
            </a:pPr>
            <a:r>
              <a:rPr lang="en-US" sz="1200" b="1" dirty="0">
                <a:solidFill>
                  <a:srgbClr val="EEE6E2"/>
                </a:solidFill>
                <a:latin typeface="Calibri" pitchFamily="34" charset="0"/>
                <a:ea typeface="Calibri" pitchFamily="34" charset="-122"/>
                <a:cs typeface="Calibri" pitchFamily="34" charset="-120"/>
              </a:rPr>
              <a:t>+600</a:t>
            </a:r>
            <a:endParaRPr lang="en-US" sz="1200" dirty="0"/>
          </a:p>
        </p:txBody>
      </p:sp>
      <p:sp>
        <p:nvSpPr>
          <p:cNvPr id="14" name="Text 11"/>
          <p:cNvSpPr txBox="1"/>
          <p:nvPr/>
        </p:nvSpPr>
        <p:spPr>
          <a:xfrm>
            <a:off x="1421892" y="5376672"/>
            <a:ext cx="1076706" cy="384048"/>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Exceptional</a:t>
            </a:r>
            <a:endParaRPr lang="en-US" sz="900" dirty="0"/>
          </a:p>
          <a:p>
            <a:pPr algn="ctr" indent="0" marL="0">
              <a:buNone/>
            </a:pPr>
            <a:r>
              <a:rPr lang="en-US" sz="900" dirty="0">
                <a:solidFill>
                  <a:srgbClr val="9C8F8E"/>
                </a:solidFill>
                <a:latin typeface="Calibri" pitchFamily="34" charset="0"/>
                <a:ea typeface="Calibri" pitchFamily="34" charset="-122"/>
                <a:cs typeface="Calibri" pitchFamily="34" charset="-120"/>
              </a:rPr>
              <a:t>items</a:t>
            </a:r>
            <a:endParaRPr lang="en-US" sz="900" dirty="0"/>
          </a:p>
        </p:txBody>
      </p:sp>
      <p:sp>
        <p:nvSpPr>
          <p:cNvPr id="15" name="Shape 12"/>
          <p:cNvSpPr/>
          <p:nvPr/>
        </p:nvSpPr>
        <p:spPr>
          <a:xfrm>
            <a:off x="2224278" y="2494660"/>
            <a:ext cx="352044" cy="0"/>
          </a:xfrm>
          <a:prstGeom prst="line">
            <a:avLst/>
          </a:prstGeom>
          <a:noFill/>
          <a:ln w="9525">
            <a:solidFill>
              <a:srgbClr val="5A4D4E"/>
            </a:solidFill>
            <a:prstDash val="dash"/>
          </a:ln>
        </p:spPr>
      </p:sp>
      <p:sp>
        <p:nvSpPr>
          <p:cNvPr id="16" name="Shape 13"/>
          <p:cNvSpPr/>
          <p:nvPr/>
        </p:nvSpPr>
        <p:spPr>
          <a:xfrm>
            <a:off x="2576322" y="2494660"/>
            <a:ext cx="528066" cy="18288"/>
          </a:xfrm>
          <a:prstGeom prst="rect">
            <a:avLst/>
          </a:prstGeom>
          <a:solidFill>
            <a:srgbClr val="D5001C"/>
          </a:solidFill>
          <a:ln w="12700">
            <a:solidFill>
              <a:srgbClr val="D5001C"/>
            </a:solidFill>
            <a:prstDash val="solid"/>
          </a:ln>
        </p:spPr>
      </p:sp>
      <p:sp>
        <p:nvSpPr>
          <p:cNvPr id="17" name="Text 14"/>
          <p:cNvSpPr txBox="1"/>
          <p:nvPr/>
        </p:nvSpPr>
        <p:spPr>
          <a:xfrm>
            <a:off x="2347722" y="2220340"/>
            <a:ext cx="985266" cy="237744"/>
          </a:xfrm>
          <a:prstGeom prst="rect">
            <a:avLst/>
          </a:prstGeom>
          <a:noFill/>
          <a:ln/>
        </p:spPr>
        <p:txBody>
          <a:bodyPr wrap="square" lIns="0" tIns="0" rIns="0" bIns="0" rtlCol="0" anchor="t"/>
          <a:lstStyle/>
          <a:p>
            <a:pPr algn="ctr" indent="0" marL="0">
              <a:buNone/>
            </a:pPr>
            <a:r>
              <a:rPr lang="en-US" sz="1200" b="1" dirty="0">
                <a:solidFill>
                  <a:srgbClr val="EEE6E2"/>
                </a:solidFill>
                <a:latin typeface="Calibri" pitchFamily="34" charset="0"/>
                <a:ea typeface="Calibri" pitchFamily="34" charset="-122"/>
                <a:cs typeface="Calibri" pitchFamily="34" charset="-120"/>
              </a:rPr>
              <a:t>0</a:t>
            </a:r>
            <a:endParaRPr lang="en-US" sz="1200" dirty="0"/>
          </a:p>
        </p:txBody>
      </p:sp>
      <p:sp>
        <p:nvSpPr>
          <p:cNvPr id="18" name="Text 15"/>
          <p:cNvSpPr txBox="1"/>
          <p:nvPr/>
        </p:nvSpPr>
        <p:spPr>
          <a:xfrm>
            <a:off x="2302002" y="5376672"/>
            <a:ext cx="1076706" cy="384048"/>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US import</a:t>
            </a:r>
            <a:endParaRPr lang="en-US" sz="900" dirty="0"/>
          </a:p>
          <a:p>
            <a:pPr algn="ctr" indent="0" marL="0">
              <a:buNone/>
            </a:pPr>
            <a:r>
              <a:rPr lang="en-US" sz="900" dirty="0">
                <a:solidFill>
                  <a:srgbClr val="9C8F8E"/>
                </a:solidFill>
                <a:latin typeface="Calibri" pitchFamily="34" charset="0"/>
                <a:ea typeface="Calibri" pitchFamily="34" charset="-122"/>
                <a:cs typeface="Calibri" pitchFamily="34" charset="-120"/>
              </a:rPr>
              <a:t>tariffs</a:t>
            </a:r>
            <a:endParaRPr lang="en-US" sz="900" dirty="0"/>
          </a:p>
        </p:txBody>
      </p:sp>
      <p:sp>
        <p:nvSpPr>
          <p:cNvPr id="19" name="Shape 16"/>
          <p:cNvSpPr/>
          <p:nvPr/>
        </p:nvSpPr>
        <p:spPr>
          <a:xfrm>
            <a:off x="3104388" y="2494660"/>
            <a:ext cx="352044" cy="0"/>
          </a:xfrm>
          <a:prstGeom prst="line">
            <a:avLst/>
          </a:prstGeom>
          <a:noFill/>
          <a:ln w="9525">
            <a:solidFill>
              <a:srgbClr val="5A4D4E"/>
            </a:solidFill>
            <a:prstDash val="dash"/>
          </a:ln>
        </p:spPr>
      </p:sp>
      <p:sp>
        <p:nvSpPr>
          <p:cNvPr id="20" name="Shape 17"/>
          <p:cNvSpPr/>
          <p:nvPr/>
        </p:nvSpPr>
        <p:spPr>
          <a:xfrm>
            <a:off x="3456432" y="2494660"/>
            <a:ext cx="528066" cy="153834"/>
          </a:xfrm>
          <a:prstGeom prst="rect">
            <a:avLst/>
          </a:prstGeom>
          <a:solidFill>
            <a:srgbClr val="8E4450"/>
          </a:solidFill>
          <a:ln w="12700">
            <a:solidFill>
              <a:srgbClr val="8E4450"/>
            </a:solidFill>
            <a:prstDash val="solid"/>
          </a:ln>
        </p:spPr>
      </p:sp>
      <p:sp>
        <p:nvSpPr>
          <p:cNvPr id="21" name="Text 18"/>
          <p:cNvSpPr txBox="1"/>
          <p:nvPr/>
        </p:nvSpPr>
        <p:spPr>
          <a:xfrm>
            <a:off x="3227832" y="2220340"/>
            <a:ext cx="985266" cy="237744"/>
          </a:xfrm>
          <a:prstGeom prst="rect">
            <a:avLst/>
          </a:prstGeom>
          <a:noFill/>
          <a:ln/>
        </p:spPr>
        <p:txBody>
          <a:bodyPr wrap="square" lIns="0" tIns="0" rIns="0" bIns="0" rtlCol="0" anchor="t"/>
          <a:lstStyle/>
          <a:p>
            <a:pPr algn="ctr" indent="0" marL="0">
              <a:buNone/>
            </a:pPr>
            <a:r>
              <a:rPr lang="en-US" sz="1200" b="1" dirty="0">
                <a:solidFill>
                  <a:srgbClr val="FF4252"/>
                </a:solidFill>
                <a:latin typeface="Calibri" pitchFamily="34" charset="0"/>
                <a:ea typeface="Calibri" pitchFamily="34" charset="-122"/>
                <a:cs typeface="Calibri" pitchFamily="34" charset="-120"/>
              </a:rPr>
              <a:t>−88</a:t>
            </a:r>
            <a:endParaRPr lang="en-US" sz="1200" dirty="0"/>
          </a:p>
        </p:txBody>
      </p:sp>
      <p:sp>
        <p:nvSpPr>
          <p:cNvPr id="22" name="Text 19"/>
          <p:cNvSpPr txBox="1"/>
          <p:nvPr/>
        </p:nvSpPr>
        <p:spPr>
          <a:xfrm>
            <a:off x="3182112" y="5376672"/>
            <a:ext cx="1076706" cy="384048"/>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Capitalised</a:t>
            </a:r>
            <a:endParaRPr lang="en-US" sz="900" dirty="0"/>
          </a:p>
          <a:p>
            <a:pPr algn="ctr" indent="0" marL="0">
              <a:buNone/>
            </a:pPr>
            <a:r>
              <a:rPr lang="en-US" sz="900" dirty="0">
                <a:solidFill>
                  <a:srgbClr val="9C8F8E"/>
                </a:solidFill>
                <a:latin typeface="Calibri" pitchFamily="34" charset="0"/>
                <a:ea typeface="Calibri" pitchFamily="34" charset="-122"/>
                <a:cs typeface="Calibri" pitchFamily="34" charset="-120"/>
              </a:rPr>
              <a:t>dev. costs</a:t>
            </a:r>
            <a:endParaRPr lang="en-US" sz="900" dirty="0"/>
          </a:p>
        </p:txBody>
      </p:sp>
      <p:sp>
        <p:nvSpPr>
          <p:cNvPr id="23" name="Shape 20"/>
          <p:cNvSpPr/>
          <p:nvPr/>
        </p:nvSpPr>
        <p:spPr>
          <a:xfrm>
            <a:off x="3984498" y="2648494"/>
            <a:ext cx="352044" cy="0"/>
          </a:xfrm>
          <a:prstGeom prst="line">
            <a:avLst/>
          </a:prstGeom>
          <a:noFill/>
          <a:ln w="9525">
            <a:solidFill>
              <a:srgbClr val="5A4D4E"/>
            </a:solidFill>
            <a:prstDash val="dash"/>
          </a:ln>
        </p:spPr>
      </p:sp>
      <p:sp>
        <p:nvSpPr>
          <p:cNvPr id="24" name="Shape 21"/>
          <p:cNvSpPr/>
          <p:nvPr/>
        </p:nvSpPr>
        <p:spPr>
          <a:xfrm>
            <a:off x="4336542" y="2648494"/>
            <a:ext cx="528066" cy="64680"/>
          </a:xfrm>
          <a:prstGeom prst="rect">
            <a:avLst/>
          </a:prstGeom>
          <a:solidFill>
            <a:srgbClr val="8E4450"/>
          </a:solidFill>
          <a:ln w="12700">
            <a:solidFill>
              <a:srgbClr val="8E4450"/>
            </a:solidFill>
            <a:prstDash val="solid"/>
          </a:ln>
        </p:spPr>
      </p:sp>
      <p:sp>
        <p:nvSpPr>
          <p:cNvPr id="25" name="Text 22"/>
          <p:cNvSpPr txBox="1"/>
          <p:nvPr/>
        </p:nvSpPr>
        <p:spPr>
          <a:xfrm>
            <a:off x="4107942" y="2374174"/>
            <a:ext cx="985266" cy="237744"/>
          </a:xfrm>
          <a:prstGeom prst="rect">
            <a:avLst/>
          </a:prstGeom>
          <a:noFill/>
          <a:ln/>
        </p:spPr>
        <p:txBody>
          <a:bodyPr wrap="square" lIns="0" tIns="0" rIns="0" bIns="0" rtlCol="0" anchor="t"/>
          <a:lstStyle/>
          <a:p>
            <a:pPr algn="ctr" indent="0" marL="0">
              <a:buNone/>
            </a:pPr>
            <a:r>
              <a:rPr lang="en-US" sz="1200" b="1" dirty="0">
                <a:solidFill>
                  <a:srgbClr val="FF4252"/>
                </a:solidFill>
                <a:latin typeface="Calibri" pitchFamily="34" charset="0"/>
                <a:ea typeface="Calibri" pitchFamily="34" charset="-122"/>
                <a:cs typeface="Calibri" pitchFamily="34" charset="-120"/>
              </a:rPr>
              <a:t>−37</a:t>
            </a:r>
            <a:endParaRPr lang="en-US" sz="1200" dirty="0"/>
          </a:p>
        </p:txBody>
      </p:sp>
      <p:sp>
        <p:nvSpPr>
          <p:cNvPr id="26" name="Text 23"/>
          <p:cNvSpPr txBox="1"/>
          <p:nvPr/>
        </p:nvSpPr>
        <p:spPr>
          <a:xfrm>
            <a:off x="4062222" y="5376672"/>
            <a:ext cx="1076706" cy="384048"/>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Clean</a:t>
            </a:r>
            <a:endParaRPr lang="en-US" sz="900" dirty="0"/>
          </a:p>
          <a:p>
            <a:pPr algn="ctr" indent="0" marL="0">
              <a:buNone/>
            </a:pPr>
            <a:r>
              <a:rPr lang="en-US" sz="900" dirty="0">
                <a:solidFill>
                  <a:srgbClr val="9C8F8E"/>
                </a:solidFill>
                <a:latin typeface="Calibri" pitchFamily="34" charset="0"/>
                <a:ea typeface="Calibri" pitchFamily="34" charset="-122"/>
                <a:cs typeface="Calibri" pitchFamily="34" charset="-120"/>
              </a:rPr>
              <a:t>auto D&amp;A</a:t>
            </a:r>
            <a:endParaRPr lang="en-US" sz="900" dirty="0"/>
          </a:p>
        </p:txBody>
      </p:sp>
      <p:sp>
        <p:nvSpPr>
          <p:cNvPr id="27" name="Shape 24"/>
          <p:cNvSpPr/>
          <p:nvPr/>
        </p:nvSpPr>
        <p:spPr>
          <a:xfrm>
            <a:off x="4864608" y="2713174"/>
            <a:ext cx="352044" cy="0"/>
          </a:xfrm>
          <a:prstGeom prst="line">
            <a:avLst/>
          </a:prstGeom>
          <a:noFill/>
          <a:ln w="9525">
            <a:solidFill>
              <a:srgbClr val="5A4D4E"/>
            </a:solidFill>
            <a:prstDash val="dash"/>
          </a:ln>
        </p:spPr>
      </p:sp>
      <p:sp>
        <p:nvSpPr>
          <p:cNvPr id="28" name="Shape 25"/>
          <p:cNvSpPr/>
          <p:nvPr/>
        </p:nvSpPr>
        <p:spPr>
          <a:xfrm>
            <a:off x="5216652" y="2702686"/>
            <a:ext cx="528066" cy="18288"/>
          </a:xfrm>
          <a:prstGeom prst="rect">
            <a:avLst/>
          </a:prstGeom>
          <a:solidFill>
            <a:srgbClr val="6E6263"/>
          </a:solidFill>
          <a:ln w="12700">
            <a:solidFill>
              <a:srgbClr val="6E6263"/>
            </a:solidFill>
            <a:prstDash val="solid"/>
          </a:ln>
        </p:spPr>
      </p:sp>
      <p:sp>
        <p:nvSpPr>
          <p:cNvPr id="29" name="Text 26"/>
          <p:cNvSpPr txBox="1"/>
          <p:nvPr/>
        </p:nvSpPr>
        <p:spPr>
          <a:xfrm>
            <a:off x="4988052" y="2428366"/>
            <a:ext cx="985266" cy="237744"/>
          </a:xfrm>
          <a:prstGeom prst="rect">
            <a:avLst/>
          </a:prstGeom>
          <a:noFill/>
          <a:ln/>
        </p:spPr>
        <p:txBody>
          <a:bodyPr wrap="square" lIns="0" tIns="0" rIns="0" bIns="0" rtlCol="0" anchor="t"/>
          <a:lstStyle/>
          <a:p>
            <a:pPr algn="ctr" indent="0" marL="0">
              <a:buNone/>
            </a:pPr>
            <a:r>
              <a:rPr lang="en-US" sz="1200" b="1" dirty="0">
                <a:solidFill>
                  <a:srgbClr val="EEE6E2"/>
                </a:solidFill>
                <a:latin typeface="Calibri" pitchFamily="34" charset="0"/>
                <a:ea typeface="Calibri" pitchFamily="34" charset="-122"/>
                <a:cs typeface="Calibri" pitchFamily="34" charset="-120"/>
              </a:rPr>
              <a:t>+6</a:t>
            </a:r>
            <a:endParaRPr lang="en-US" sz="1200" dirty="0"/>
          </a:p>
        </p:txBody>
      </p:sp>
      <p:sp>
        <p:nvSpPr>
          <p:cNvPr id="30" name="Text 27"/>
          <p:cNvSpPr txBox="1"/>
          <p:nvPr/>
        </p:nvSpPr>
        <p:spPr>
          <a:xfrm>
            <a:off x="4942332" y="5376672"/>
            <a:ext cx="1076706" cy="384048"/>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Financial</a:t>
            </a:r>
            <a:endParaRPr lang="en-US" sz="900" dirty="0"/>
          </a:p>
          <a:p>
            <a:pPr algn="ctr" indent="0" marL="0">
              <a:buNone/>
            </a:pPr>
            <a:r>
              <a:rPr lang="en-US" sz="900" dirty="0">
                <a:solidFill>
                  <a:srgbClr val="9C8F8E"/>
                </a:solidFill>
                <a:latin typeface="Calibri" pitchFamily="34" charset="0"/>
                <a:ea typeface="Calibri" pitchFamily="34" charset="-122"/>
                <a:cs typeface="Calibri" pitchFamily="34" charset="-120"/>
              </a:rPr>
              <a:t>Services</a:t>
            </a:r>
            <a:endParaRPr lang="en-US" sz="900" dirty="0"/>
          </a:p>
        </p:txBody>
      </p:sp>
      <p:sp>
        <p:nvSpPr>
          <p:cNvPr id="31" name="Shape 28"/>
          <p:cNvSpPr/>
          <p:nvPr/>
        </p:nvSpPr>
        <p:spPr>
          <a:xfrm>
            <a:off x="5744718" y="2702686"/>
            <a:ext cx="352044" cy="0"/>
          </a:xfrm>
          <a:prstGeom prst="line">
            <a:avLst/>
          </a:prstGeom>
          <a:noFill/>
          <a:ln w="9525">
            <a:solidFill>
              <a:srgbClr val="5A4D4E"/>
            </a:solidFill>
            <a:prstDash val="dash"/>
          </a:ln>
        </p:spPr>
      </p:sp>
      <p:sp>
        <p:nvSpPr>
          <p:cNvPr id="32" name="Shape 29"/>
          <p:cNvSpPr/>
          <p:nvPr/>
        </p:nvSpPr>
        <p:spPr>
          <a:xfrm>
            <a:off x="6096762" y="2702686"/>
            <a:ext cx="528066" cy="244048"/>
          </a:xfrm>
          <a:prstGeom prst="rect">
            <a:avLst/>
          </a:prstGeom>
          <a:solidFill>
            <a:srgbClr val="2A2022"/>
          </a:solidFill>
          <a:ln w="12700">
            <a:solidFill>
              <a:srgbClr val="C9B9B4"/>
            </a:solidFill>
            <a:prstDash val="dash"/>
          </a:ln>
        </p:spPr>
      </p:sp>
      <p:sp>
        <p:nvSpPr>
          <p:cNvPr id="33" name="Text 30"/>
          <p:cNvSpPr txBox="1"/>
          <p:nvPr/>
        </p:nvSpPr>
        <p:spPr>
          <a:xfrm>
            <a:off x="5868162" y="2428366"/>
            <a:ext cx="985266" cy="237744"/>
          </a:xfrm>
          <a:prstGeom prst="rect">
            <a:avLst/>
          </a:prstGeom>
          <a:noFill/>
          <a:ln/>
        </p:spPr>
        <p:txBody>
          <a:bodyPr wrap="square" lIns="0" tIns="0" rIns="0" bIns="0" rtlCol="0" anchor="t"/>
          <a:lstStyle/>
          <a:p>
            <a:pPr algn="ctr" indent="0" marL="0">
              <a:buNone/>
            </a:pPr>
            <a:r>
              <a:rPr lang="en-US" sz="1200" b="1" dirty="0">
                <a:solidFill>
                  <a:srgbClr val="FF4252"/>
                </a:solidFill>
                <a:latin typeface="Calibri" pitchFamily="34" charset="0"/>
                <a:ea typeface="Calibri" pitchFamily="34" charset="-122"/>
                <a:cs typeface="Calibri" pitchFamily="34" charset="-120"/>
              </a:rPr>
              <a:t>−140</a:t>
            </a:r>
            <a:endParaRPr lang="en-US" sz="1200" dirty="0"/>
          </a:p>
        </p:txBody>
      </p:sp>
      <p:sp>
        <p:nvSpPr>
          <p:cNvPr id="34" name="Text 31"/>
          <p:cNvSpPr txBox="1"/>
          <p:nvPr/>
        </p:nvSpPr>
        <p:spPr>
          <a:xfrm>
            <a:off x="5822442" y="5376672"/>
            <a:ext cx="1076706" cy="384048"/>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Residual,</a:t>
            </a:r>
            <a:endParaRPr lang="en-US" sz="900" dirty="0"/>
          </a:p>
          <a:p>
            <a:pPr algn="ctr" indent="0" marL="0">
              <a:buNone/>
            </a:pPr>
            <a:r>
              <a:rPr lang="en-US" sz="900" dirty="0">
                <a:solidFill>
                  <a:srgbClr val="9C8F8E"/>
                </a:solidFill>
                <a:latin typeface="Calibri" pitchFamily="34" charset="0"/>
                <a:ea typeface="Calibri" pitchFamily="34" charset="-122"/>
                <a:cs typeface="Calibri" pitchFamily="34" charset="-120"/>
              </a:rPr>
              <a:t>not separated</a:t>
            </a:r>
            <a:endParaRPr lang="en-US" sz="900" dirty="0"/>
          </a:p>
        </p:txBody>
      </p:sp>
      <p:sp>
        <p:nvSpPr>
          <p:cNvPr id="35" name="Shape 32"/>
          <p:cNvSpPr/>
          <p:nvPr/>
        </p:nvSpPr>
        <p:spPr>
          <a:xfrm>
            <a:off x="6624828" y="2946734"/>
            <a:ext cx="352044" cy="0"/>
          </a:xfrm>
          <a:prstGeom prst="line">
            <a:avLst/>
          </a:prstGeom>
          <a:noFill/>
          <a:ln w="9525">
            <a:solidFill>
              <a:srgbClr val="5A4D4E"/>
            </a:solidFill>
            <a:prstDash val="dash"/>
          </a:ln>
        </p:spPr>
      </p:sp>
      <p:sp>
        <p:nvSpPr>
          <p:cNvPr id="36" name="Shape 33"/>
          <p:cNvSpPr/>
          <p:nvPr/>
        </p:nvSpPr>
        <p:spPr>
          <a:xfrm>
            <a:off x="6976872" y="2946734"/>
            <a:ext cx="528066" cy="2356786"/>
          </a:xfrm>
          <a:prstGeom prst="rect">
            <a:avLst/>
          </a:prstGeom>
          <a:solidFill>
            <a:srgbClr val="EEE6E2"/>
          </a:solidFill>
          <a:ln w="12700">
            <a:solidFill>
              <a:srgbClr val="EEE6E2"/>
            </a:solidFill>
            <a:prstDash val="solid"/>
          </a:ln>
        </p:spPr>
      </p:sp>
      <p:sp>
        <p:nvSpPr>
          <p:cNvPr id="37" name="Text 34"/>
          <p:cNvSpPr txBox="1"/>
          <p:nvPr/>
        </p:nvSpPr>
        <p:spPr>
          <a:xfrm>
            <a:off x="6748272" y="2672414"/>
            <a:ext cx="985266" cy="237744"/>
          </a:xfrm>
          <a:prstGeom prst="rect">
            <a:avLst/>
          </a:prstGeom>
          <a:noFill/>
          <a:ln/>
        </p:spPr>
        <p:txBody>
          <a:bodyPr wrap="square" lIns="0" tIns="0" rIns="0" bIns="0" rtlCol="0" anchor="t"/>
          <a:lstStyle/>
          <a:p>
            <a:pPr algn="ctr" indent="0" marL="0">
              <a:buNone/>
            </a:pPr>
            <a:r>
              <a:rPr lang="en-US" sz="1200" b="1" dirty="0">
                <a:solidFill>
                  <a:srgbClr val="EEE6E2"/>
                </a:solidFill>
                <a:latin typeface="Calibri" pitchFamily="34" charset="0"/>
                <a:ea typeface="Calibri" pitchFamily="34" charset="-122"/>
                <a:cs typeface="Calibri" pitchFamily="34" charset="-120"/>
              </a:rPr>
              <a:t>1,348</a:t>
            </a:r>
            <a:endParaRPr lang="en-US" sz="1200" dirty="0"/>
          </a:p>
        </p:txBody>
      </p:sp>
      <p:sp>
        <p:nvSpPr>
          <p:cNvPr id="38" name="Text 35"/>
          <p:cNvSpPr txBox="1"/>
          <p:nvPr/>
        </p:nvSpPr>
        <p:spPr>
          <a:xfrm>
            <a:off x="6702552" y="5376672"/>
            <a:ext cx="1076706" cy="384048"/>
          </a:xfrm>
          <a:prstGeom prst="rect">
            <a:avLst/>
          </a:prstGeom>
          <a:noFill/>
          <a:ln/>
        </p:spPr>
        <p:txBody>
          <a:bodyPr wrap="square" lIns="0" tIns="0" rIns="0" bIns="0" rtlCol="0" anchor="t"/>
          <a:lstStyle/>
          <a:p>
            <a:pPr algn="ctr" indent="0" marL="0">
              <a:buNone/>
            </a:pPr>
            <a:r>
              <a:rPr lang="en-US" sz="900" b="1" dirty="0">
                <a:solidFill>
                  <a:srgbClr val="EEE6E2"/>
                </a:solidFill>
                <a:latin typeface="Calibri" pitchFamily="34" charset="0"/>
                <a:ea typeface="Calibri" pitchFamily="34" charset="-122"/>
                <a:cs typeface="Calibri" pitchFamily="34" charset="-120"/>
              </a:rPr>
              <a:t>EBIT</a:t>
            </a:r>
            <a:endParaRPr lang="en-US" sz="900" dirty="0"/>
          </a:p>
          <a:p>
            <a:pPr algn="ctr" indent="0" marL="0">
              <a:buNone/>
            </a:pPr>
            <a:r>
              <a:rPr lang="en-US" sz="900" b="1" dirty="0">
                <a:solidFill>
                  <a:srgbClr val="EEE6E2"/>
                </a:solidFill>
                <a:latin typeface="Calibri" pitchFamily="34" charset="0"/>
                <a:ea typeface="Calibri" pitchFamily="34" charset="-122"/>
                <a:cs typeface="Calibri" pitchFamily="34" charset="-120"/>
              </a:rPr>
              <a:t>H1 2026</a:t>
            </a:r>
            <a:endParaRPr lang="en-US" sz="900" dirty="0"/>
          </a:p>
        </p:txBody>
      </p:sp>
      <p:sp>
        <p:nvSpPr>
          <p:cNvPr id="39" name="Shape 36"/>
          <p:cNvSpPr/>
          <p:nvPr/>
        </p:nvSpPr>
        <p:spPr>
          <a:xfrm>
            <a:off x="640080" y="5897880"/>
            <a:ext cx="118872" cy="118872"/>
          </a:xfrm>
          <a:prstGeom prst="rect">
            <a:avLst/>
          </a:prstGeom>
          <a:solidFill>
            <a:srgbClr val="EEE6E2"/>
          </a:solidFill>
          <a:ln w="9525">
            <a:solidFill>
              <a:srgbClr val="EEE6E2"/>
            </a:solidFill>
            <a:prstDash val="solid"/>
          </a:ln>
        </p:spPr>
      </p:sp>
      <p:sp>
        <p:nvSpPr>
          <p:cNvPr id="40" name="Text 37"/>
          <p:cNvSpPr txBox="1"/>
          <p:nvPr/>
        </p:nvSpPr>
        <p:spPr>
          <a:xfrm>
            <a:off x="822960" y="5861304"/>
            <a:ext cx="1234440" cy="201168"/>
          </a:xfrm>
          <a:prstGeom prst="rect">
            <a:avLst/>
          </a:prstGeom>
          <a:noFill/>
          <a:ln/>
        </p:spPr>
        <p:txBody>
          <a:bodyPr wrap="square" lIns="0" tIns="0" rIns="0" bIns="0" rtlCol="0" anchor="t"/>
          <a:lstStyle/>
          <a:p>
            <a:pPr indent="0" marL="0">
              <a:buNone/>
            </a:pPr>
            <a:r>
              <a:rPr lang="en-US" sz="900" dirty="0">
                <a:solidFill>
                  <a:srgbClr val="9C8F8E"/>
                </a:solidFill>
                <a:latin typeface="Calibri" pitchFamily="34" charset="0"/>
                <a:ea typeface="Calibri" pitchFamily="34" charset="-122"/>
                <a:cs typeface="Calibri" pitchFamily="34" charset="-120"/>
              </a:rPr>
              <a:t>Reported EBIT</a:t>
            </a:r>
            <a:endParaRPr lang="en-US" sz="900" dirty="0"/>
          </a:p>
        </p:txBody>
      </p:sp>
      <p:sp>
        <p:nvSpPr>
          <p:cNvPr id="41" name="Shape 38"/>
          <p:cNvSpPr/>
          <p:nvPr/>
        </p:nvSpPr>
        <p:spPr>
          <a:xfrm>
            <a:off x="2066544" y="5897880"/>
            <a:ext cx="118872" cy="118872"/>
          </a:xfrm>
          <a:prstGeom prst="rect">
            <a:avLst/>
          </a:prstGeom>
          <a:solidFill>
            <a:srgbClr val="D5001C"/>
          </a:solidFill>
          <a:ln w="9525">
            <a:solidFill>
              <a:srgbClr val="D5001C"/>
            </a:solidFill>
            <a:prstDash val="solid"/>
          </a:ln>
        </p:spPr>
      </p:sp>
      <p:sp>
        <p:nvSpPr>
          <p:cNvPr id="42" name="Text 39"/>
          <p:cNvSpPr txBox="1"/>
          <p:nvPr/>
        </p:nvSpPr>
        <p:spPr>
          <a:xfrm>
            <a:off x="2249424" y="5861304"/>
            <a:ext cx="1234440" cy="201168"/>
          </a:xfrm>
          <a:prstGeom prst="rect">
            <a:avLst/>
          </a:prstGeom>
          <a:noFill/>
          <a:ln/>
        </p:spPr>
        <p:txBody>
          <a:bodyPr wrap="square" lIns="0" tIns="0" rIns="0" bIns="0" rtlCol="0" anchor="t"/>
          <a:lstStyle/>
          <a:p>
            <a:pPr indent="0" marL="0">
              <a:buNone/>
            </a:pPr>
            <a:r>
              <a:rPr lang="en-US" sz="900" dirty="0">
                <a:solidFill>
                  <a:srgbClr val="9C8F8E"/>
                </a:solidFill>
                <a:latin typeface="Calibri" pitchFamily="34" charset="0"/>
                <a:ea typeface="Calibri" pitchFamily="34" charset="-122"/>
                <a:cs typeface="Calibri" pitchFamily="34" charset="-120"/>
              </a:rPr>
              <a:t>Disclosed one-offs</a:t>
            </a:r>
            <a:endParaRPr lang="en-US" sz="900" dirty="0"/>
          </a:p>
        </p:txBody>
      </p:sp>
      <p:sp>
        <p:nvSpPr>
          <p:cNvPr id="43" name="Shape 40"/>
          <p:cNvSpPr/>
          <p:nvPr/>
        </p:nvSpPr>
        <p:spPr>
          <a:xfrm>
            <a:off x="3493008" y="5897880"/>
            <a:ext cx="118872" cy="118872"/>
          </a:xfrm>
          <a:prstGeom prst="rect">
            <a:avLst/>
          </a:prstGeom>
          <a:solidFill>
            <a:srgbClr val="8E4450"/>
          </a:solidFill>
          <a:ln w="9525">
            <a:solidFill>
              <a:srgbClr val="8E4450"/>
            </a:solidFill>
            <a:prstDash val="solid"/>
          </a:ln>
        </p:spPr>
      </p:sp>
      <p:sp>
        <p:nvSpPr>
          <p:cNvPr id="44" name="Text 41"/>
          <p:cNvSpPr txBox="1"/>
          <p:nvPr/>
        </p:nvSpPr>
        <p:spPr>
          <a:xfrm>
            <a:off x="3675888" y="5861304"/>
            <a:ext cx="1234440" cy="201168"/>
          </a:xfrm>
          <a:prstGeom prst="rect">
            <a:avLst/>
          </a:prstGeom>
          <a:noFill/>
          <a:ln/>
        </p:spPr>
        <p:txBody>
          <a:bodyPr wrap="square" lIns="0" tIns="0" rIns="0" bIns="0" rtlCol="0" anchor="t"/>
          <a:lstStyle/>
          <a:p>
            <a:pPr indent="0" marL="0">
              <a:buNone/>
            </a:pPr>
            <a:r>
              <a:rPr lang="en-US" sz="900" dirty="0">
                <a:solidFill>
                  <a:srgbClr val="9C8F8E"/>
                </a:solidFill>
                <a:latin typeface="Calibri" pitchFamily="34" charset="0"/>
                <a:ea typeface="Calibri" pitchFamily="34" charset="-122"/>
                <a:cs typeface="Calibri" pitchFamily="34" charset="-120"/>
              </a:rPr>
              <a:t>Accounting, non-cash</a:t>
            </a:r>
            <a:endParaRPr lang="en-US" sz="900" dirty="0"/>
          </a:p>
        </p:txBody>
      </p:sp>
      <p:sp>
        <p:nvSpPr>
          <p:cNvPr id="45" name="Shape 42"/>
          <p:cNvSpPr/>
          <p:nvPr/>
        </p:nvSpPr>
        <p:spPr>
          <a:xfrm>
            <a:off x="4919472" y="5897880"/>
            <a:ext cx="118872" cy="118872"/>
          </a:xfrm>
          <a:prstGeom prst="rect">
            <a:avLst/>
          </a:prstGeom>
          <a:solidFill>
            <a:srgbClr val="6E6263"/>
          </a:solidFill>
          <a:ln w="9525">
            <a:solidFill>
              <a:srgbClr val="6E6263"/>
            </a:solidFill>
            <a:prstDash val="solid"/>
          </a:ln>
        </p:spPr>
      </p:sp>
      <p:sp>
        <p:nvSpPr>
          <p:cNvPr id="46" name="Text 43"/>
          <p:cNvSpPr txBox="1"/>
          <p:nvPr/>
        </p:nvSpPr>
        <p:spPr>
          <a:xfrm>
            <a:off x="5102352" y="5861304"/>
            <a:ext cx="1234440" cy="201168"/>
          </a:xfrm>
          <a:prstGeom prst="rect">
            <a:avLst/>
          </a:prstGeom>
          <a:noFill/>
          <a:ln/>
        </p:spPr>
        <p:txBody>
          <a:bodyPr wrap="square" lIns="0" tIns="0" rIns="0" bIns="0" rtlCol="0" anchor="t"/>
          <a:lstStyle/>
          <a:p>
            <a:pPr indent="0" marL="0">
              <a:buNone/>
            </a:pPr>
            <a:r>
              <a:rPr lang="en-US" sz="900" dirty="0">
                <a:solidFill>
                  <a:srgbClr val="9C8F8E"/>
                </a:solidFill>
                <a:latin typeface="Calibri" pitchFamily="34" charset="0"/>
                <a:ea typeface="Calibri" pitchFamily="34" charset="-122"/>
                <a:cs typeface="Calibri" pitchFamily="34" charset="-120"/>
              </a:rPr>
              <a:t>Financial Services</a:t>
            </a:r>
            <a:endParaRPr lang="en-US" sz="900" dirty="0"/>
          </a:p>
        </p:txBody>
      </p:sp>
      <p:sp>
        <p:nvSpPr>
          <p:cNvPr id="47" name="Shape 44"/>
          <p:cNvSpPr/>
          <p:nvPr/>
        </p:nvSpPr>
        <p:spPr>
          <a:xfrm>
            <a:off x="6345936" y="5897880"/>
            <a:ext cx="118872" cy="118872"/>
          </a:xfrm>
          <a:prstGeom prst="rect">
            <a:avLst/>
          </a:prstGeom>
          <a:solidFill>
            <a:srgbClr val="2A2022"/>
          </a:solidFill>
          <a:ln w="9525">
            <a:solidFill>
              <a:srgbClr val="C9B9B4"/>
            </a:solidFill>
            <a:prstDash val="solid"/>
          </a:ln>
        </p:spPr>
      </p:sp>
      <p:sp>
        <p:nvSpPr>
          <p:cNvPr id="48" name="Text 45"/>
          <p:cNvSpPr txBox="1"/>
          <p:nvPr/>
        </p:nvSpPr>
        <p:spPr>
          <a:xfrm>
            <a:off x="6528816" y="5861304"/>
            <a:ext cx="1234440" cy="201168"/>
          </a:xfrm>
          <a:prstGeom prst="rect">
            <a:avLst/>
          </a:prstGeom>
          <a:noFill/>
          <a:ln/>
        </p:spPr>
        <p:txBody>
          <a:bodyPr wrap="square" lIns="0" tIns="0" rIns="0" bIns="0" rtlCol="0" anchor="t"/>
          <a:lstStyle/>
          <a:p>
            <a:pPr indent="0" marL="0">
              <a:buNone/>
            </a:pPr>
            <a:r>
              <a:rPr lang="en-US" sz="900" dirty="0">
                <a:solidFill>
                  <a:srgbClr val="9C8F8E"/>
                </a:solidFill>
                <a:latin typeface="Calibri" pitchFamily="34" charset="0"/>
                <a:ea typeface="Calibri" pitchFamily="34" charset="-122"/>
                <a:cs typeface="Calibri" pitchFamily="34" charset="-120"/>
              </a:rPr>
              <a:t>Residual, not separated</a:t>
            </a:r>
            <a:endParaRPr lang="en-US" sz="900" dirty="0"/>
          </a:p>
        </p:txBody>
      </p:sp>
      <p:sp>
        <p:nvSpPr>
          <p:cNvPr id="49" name="Shape 46"/>
          <p:cNvSpPr/>
          <p:nvPr/>
        </p:nvSpPr>
        <p:spPr>
          <a:xfrm>
            <a:off x="8183880" y="1965960"/>
            <a:ext cx="3459175" cy="1463040"/>
          </a:xfrm>
          <a:prstGeom prst="roundRect">
            <a:avLst>
              <a:gd name="adj" fmla="val 3750"/>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50" name="Text 47"/>
          <p:cNvSpPr txBox="1"/>
          <p:nvPr/>
        </p:nvSpPr>
        <p:spPr>
          <a:xfrm>
            <a:off x="8385048" y="2057400"/>
            <a:ext cx="3056839" cy="731520"/>
          </a:xfrm>
          <a:prstGeom prst="rect">
            <a:avLst/>
          </a:prstGeom>
          <a:noFill/>
          <a:ln/>
        </p:spPr>
        <p:txBody>
          <a:bodyPr wrap="square" lIns="0" tIns="0" rIns="0" bIns="0" rtlCol="0" anchor="t"/>
          <a:lstStyle/>
          <a:p>
            <a:pPr indent="0" marL="0">
              <a:buNone/>
            </a:pPr>
            <a:r>
              <a:rPr lang="en-US" sz="4800" b="1" dirty="0">
                <a:solidFill>
                  <a:srgbClr val="D5001C"/>
                </a:solidFill>
                <a:latin typeface="Calibri" pitchFamily="34" charset="0"/>
                <a:ea typeface="Calibri" pitchFamily="34" charset="-122"/>
                <a:cs typeface="Calibri" pitchFamily="34" charset="-120"/>
              </a:rPr>
              <a:t>176%</a:t>
            </a:r>
            <a:endParaRPr lang="en-US" sz="4800" dirty="0"/>
          </a:p>
        </p:txBody>
      </p:sp>
      <p:sp>
        <p:nvSpPr>
          <p:cNvPr id="51" name="Text 48"/>
          <p:cNvSpPr txBox="1"/>
          <p:nvPr/>
        </p:nvSpPr>
        <p:spPr>
          <a:xfrm>
            <a:off x="8385048" y="2788920"/>
            <a:ext cx="3056839" cy="548640"/>
          </a:xfrm>
          <a:prstGeom prst="rect">
            <a:avLst/>
          </a:prstGeom>
          <a:noFill/>
          <a:ln/>
        </p:spPr>
        <p:txBody>
          <a:bodyPr wrap="square" lIns="0" tIns="0" rIns="0" bIns="0" rtlCol="0" anchor="t"/>
          <a:lstStyle/>
          <a:p>
            <a:pPr indent="0" marL="0">
              <a:buNone/>
            </a:pPr>
            <a:r>
              <a:rPr lang="en-US" sz="1100" dirty="0">
                <a:solidFill>
                  <a:srgbClr val="9C8F8E"/>
                </a:solidFill>
                <a:latin typeface="Calibri" pitchFamily="34" charset="0"/>
                <a:ea typeface="Calibri" pitchFamily="34" charset="-122"/>
                <a:cs typeface="Calibri" pitchFamily="34" charset="-120"/>
              </a:rPr>
              <a:t>of the reported EBIT gain came from lower one-offs: +€600m vs a total gain of +€341m.</a:t>
            </a:r>
            <a:endParaRPr lang="en-US" sz="1100" dirty="0"/>
          </a:p>
        </p:txBody>
      </p:sp>
      <p:sp>
        <p:nvSpPr>
          <p:cNvPr id="52" name="Shape 49"/>
          <p:cNvSpPr/>
          <p:nvPr/>
        </p:nvSpPr>
        <p:spPr>
          <a:xfrm>
            <a:off x="8183880" y="3611880"/>
            <a:ext cx="3459175" cy="1143000"/>
          </a:xfrm>
          <a:prstGeom prst="roundRect">
            <a:avLst>
              <a:gd name="adj" fmla="val 4800"/>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53" name="Text 50"/>
          <p:cNvSpPr txBox="1"/>
          <p:nvPr/>
        </p:nvSpPr>
        <p:spPr>
          <a:xfrm>
            <a:off x="8385048" y="3721608"/>
            <a:ext cx="3056839" cy="960120"/>
          </a:xfrm>
          <a:prstGeom prst="rect">
            <a:avLst/>
          </a:prstGeom>
          <a:noFill/>
          <a:ln/>
        </p:spPr>
        <p:txBody>
          <a:bodyPr wrap="square" lIns="0" tIns="0" rIns="0" bIns="0" rtlCol="0" anchor="t"/>
          <a:lstStyle/>
          <a:p>
            <a:pPr indent="0" marL="0">
              <a:buNone/>
            </a:pPr>
            <a:r>
              <a:rPr lang="en-US" sz="1100" b="1" dirty="0">
                <a:solidFill>
                  <a:srgbClr val="EEE6E2"/>
                </a:solidFill>
                <a:latin typeface="Calibri" pitchFamily="34" charset="0"/>
                <a:ea typeface="Calibri" pitchFamily="34" charset="-122"/>
                <a:cs typeface="Calibri" pitchFamily="34" charset="-120"/>
              </a:rPr>
              <a:t>Residual −€140m</a:t>
            </a:r>
            <a:endParaRPr lang="en-US" sz="1100" dirty="0"/>
          </a:p>
          <a:p>
            <a:pPr indent="0" marL="0">
              <a:buNone/>
            </a:pPr>
            <a:r>
              <a:rPr lang="en-US" sz="1100" dirty="0">
                <a:solidFill>
                  <a:srgbClr val="9C8F8E"/>
                </a:solidFill>
                <a:latin typeface="Calibri" pitchFamily="34" charset="0"/>
                <a:ea typeface="Calibri" pitchFamily="34" charset="-122"/>
                <a:cs typeface="Calibri" pitchFamily="34" charset="-120"/>
              </a:rPr>
              <a:t>Price, mix, volume, cost and FX together: not separated, and not "operating performance". Still −€79m if A-04 is reversed.</a:t>
            </a:r>
            <a:endParaRPr lang="en-US" sz="1100" dirty="0"/>
          </a:p>
        </p:txBody>
      </p:sp>
      <p:sp>
        <p:nvSpPr>
          <p:cNvPr id="54" name="Shape 51"/>
          <p:cNvSpPr/>
          <p:nvPr/>
        </p:nvSpPr>
        <p:spPr>
          <a:xfrm>
            <a:off x="8183880" y="4937760"/>
            <a:ext cx="3459175" cy="1143000"/>
          </a:xfrm>
          <a:prstGeom prst="roundRect">
            <a:avLst>
              <a:gd name="adj" fmla="val 4800"/>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55" name="Text 52"/>
          <p:cNvSpPr txBox="1"/>
          <p:nvPr/>
        </p:nvSpPr>
        <p:spPr>
          <a:xfrm>
            <a:off x="8385048" y="5047488"/>
            <a:ext cx="3056839" cy="960120"/>
          </a:xfrm>
          <a:prstGeom prst="rect">
            <a:avLst/>
          </a:prstGeom>
          <a:noFill/>
          <a:ln/>
        </p:spPr>
        <p:txBody>
          <a:bodyPr wrap="square" lIns="0" tIns="0" rIns="0" bIns="0" rtlCol="0" anchor="t"/>
          <a:lstStyle/>
          <a:p>
            <a:pPr indent="0" marL="0">
              <a:buNone/>
            </a:pPr>
            <a:r>
              <a:rPr lang="en-US" sz="1100" b="1" dirty="0">
                <a:solidFill>
                  <a:srgbClr val="EEE6E2"/>
                </a:solidFill>
                <a:latin typeface="Calibri" pitchFamily="34" charset="0"/>
                <a:ea typeface="Calibri" pitchFamily="34" charset="-122"/>
                <a:cs typeface="Calibri" pitchFamily="34" charset="-120"/>
              </a:rPr>
              <a:t>In margin points: +2.28 pp</a:t>
            </a:r>
            <a:endParaRPr lang="en-US" sz="1100" dirty="0"/>
          </a:p>
          <a:p>
            <a:pPr indent="0" marL="0">
              <a:buNone/>
            </a:pPr>
            <a:r>
              <a:rPr lang="en-US" sz="1100" dirty="0">
                <a:solidFill>
                  <a:srgbClr val="9C8F8E"/>
                </a:solidFill>
                <a:latin typeface="Calibri" pitchFamily="34" charset="0"/>
                <a:ea typeface="Calibri" pitchFamily="34" charset="-122"/>
                <a:cs typeface="Calibri" pitchFamily="34" charset="-120"/>
              </a:rPr>
              <a:t>One-offs +3.48 pp, residual −0.81 pp, revenue denominator +0.30 pp. The bridge closes exactly in € and in pp.</a:t>
            </a:r>
            <a:endParaRPr lang="en-US" sz="1100" dirty="0"/>
          </a:p>
        </p:txBody>
      </p:sp>
      <p:sp>
        <p:nvSpPr>
          <p:cNvPr id="56" name="Text 53"/>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57" name="Text 54"/>
          <p:cNvSpPr txBox="1"/>
          <p:nvPr/>
        </p:nvSpPr>
        <p:spPr>
          <a:xfrm>
            <a:off x="4754880" y="6473952"/>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Source: Porsche AG public disclosures; project analysis. Same half of the prior year → H1 2026, € million.</a:t>
            </a:r>
            <a:endParaRPr lang="en-US" sz="850" dirty="0"/>
          </a:p>
        </p:txBody>
      </p:sp>
      <p:sp>
        <p:nvSpPr>
          <p:cNvPr id="58" name="Text 55"/>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06</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R&amp;D, D&amp;A and capitalisation</a:t>
            </a:r>
            <a:endParaRPr lang="en-US" sz="1200" dirty="0"/>
          </a:p>
        </p:txBody>
      </p:sp>
      <p:sp>
        <p:nvSpPr>
          <p:cNvPr id="5" name="Text 3"/>
          <p:cNvSpPr txBox="1"/>
          <p:nvPr/>
        </p:nvSpPr>
        <p:spPr>
          <a:xfrm>
            <a:off x="548640" y="731520"/>
            <a:ext cx="768096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ACCOUNTING IS A HEADWIND, NOT A HIDDEN TAILWIND.</a:t>
            </a:r>
            <a:endParaRPr lang="en-US" sz="3000" dirty="0"/>
          </a:p>
        </p:txBody>
      </p:sp>
      <p:pic>
        <p:nvPicPr>
          <p:cNvPr id="6" name="Image 0" descr="Slide artwork">    </p:cNvPr>
          <p:cNvPicPr>
            <a:picLocks noChangeAspect="1"/>
          </p:cNvPicPr>
          <p:nvPr/>
        </p:nvPicPr>
        <p:blipFill>
          <a:blip r:embed="rId2"/>
          <a:stretch>
            <a:fillRect/>
          </a:stretch>
        </p:blipFill>
        <p:spPr>
          <a:xfrm>
            <a:off x="512064" y="1700784"/>
            <a:ext cx="1196558" cy="329184"/>
          </a:xfrm>
          <a:prstGeom prst="rect">
            <a:avLst/>
          </a:prstGeom>
        </p:spPr>
      </p:pic>
      <p:sp>
        <p:nvSpPr>
          <p:cNvPr id="7" name="Text 4"/>
          <p:cNvSpPr txBox="1"/>
          <p:nvPr/>
        </p:nvSpPr>
        <p:spPr>
          <a:xfrm>
            <a:off x="548640" y="2148840"/>
            <a:ext cx="6583680" cy="256032"/>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Total R&amp;D costs vs R&amp;D charged to the P&amp;L (€ million)</a:t>
            </a:r>
            <a:endParaRPr lang="en-US" sz="1200" dirty="0"/>
          </a:p>
        </p:txBody>
      </p:sp>
      <p:graphicFrame>
        <p:nvGraphicFramePr>
          <p:cNvPr id="8" name="Chart 0" descr=""/>
          <p:cNvGraphicFramePr/>
          <p:nvPr/>
        </p:nvGraphicFramePr>
        <p:xfrm>
          <a:off x="457200" y="2423160"/>
          <a:ext cx="6766560" cy="3246120"/>
        </p:xfrm>
        <a:graphic xmlns:a="http://schemas.openxmlformats.org/drawingml/2006/main">
          <a:graphicData uri="http://schemas.openxmlformats.org/drawingml/2006/chart">
            <c:chart xmlns:c="http://schemas.openxmlformats.org/drawingml/2006/chart" r:id="rId3"/>
          </a:graphicData>
        </a:graphic>
      </p:graphicFrame>
      <p:sp>
        <p:nvSpPr>
          <p:cNvPr id="9" name="Text 5"/>
          <p:cNvSpPr txBox="1"/>
          <p:nvPr/>
        </p:nvSpPr>
        <p:spPr>
          <a:xfrm>
            <a:off x="548640" y="5715000"/>
            <a:ext cx="6583680" cy="2286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H2 derived as FY − H1. P&amp;L charge = expensed R&amp;D + amortisation of capitalised R&amp;D.</a:t>
            </a:r>
            <a:endParaRPr lang="en-US" sz="950" dirty="0"/>
          </a:p>
        </p:txBody>
      </p:sp>
      <p:sp>
        <p:nvSpPr>
          <p:cNvPr id="10" name="Shape 6"/>
          <p:cNvSpPr/>
          <p:nvPr/>
        </p:nvSpPr>
        <p:spPr>
          <a:xfrm>
            <a:off x="7589520" y="1965960"/>
            <a:ext cx="4053535" cy="2286000"/>
          </a:xfrm>
          <a:prstGeom prst="roundRect">
            <a:avLst>
              <a:gd name="adj" fmla="val 2400"/>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1" name="Shape 7"/>
          <p:cNvSpPr/>
          <p:nvPr/>
        </p:nvSpPr>
        <p:spPr>
          <a:xfrm>
            <a:off x="8564728" y="2212848"/>
            <a:ext cx="2103120" cy="2103120"/>
          </a:xfrm>
          <a:prstGeom prst="blockArc">
            <a:avLst>
              <a:gd name="adj1" fmla="val 10800000"/>
              <a:gd name="adj2" fmla="val 0"/>
              <a:gd name="adj3" fmla="val 5000"/>
            </a:avLst>
          </a:prstGeom>
          <a:solidFill>
            <a:srgbClr val="2A2022"/>
          </a:solidFill>
          <a:ln w="12700">
            <a:solidFill>
              <a:srgbClr val="2A2022"/>
            </a:solidFill>
            <a:prstDash val="solid"/>
          </a:ln>
        </p:spPr>
      </p:sp>
      <p:sp>
        <p:nvSpPr>
          <p:cNvPr id="12" name="Shape 8"/>
          <p:cNvSpPr/>
          <p:nvPr/>
        </p:nvSpPr>
        <p:spPr>
          <a:xfrm>
            <a:off x="8564728" y="2212848"/>
            <a:ext cx="2103120" cy="2103120"/>
          </a:xfrm>
          <a:prstGeom prst="blockArc">
            <a:avLst>
              <a:gd name="adj1" fmla="val 10800000"/>
              <a:gd name="adj2" fmla="val 15512903"/>
              <a:gd name="adj3" fmla="val 5000"/>
            </a:avLst>
          </a:prstGeom>
          <a:solidFill>
            <a:srgbClr val="D5001C"/>
          </a:solidFill>
          <a:ln w="12700">
            <a:solidFill>
              <a:srgbClr val="D5001C"/>
            </a:solidFill>
            <a:prstDash val="solid"/>
          </a:ln>
          <a:effectLst>
            <a:outerShdw sx="100000" sy="100000" kx="0" ky="0" algn="bl" rotWithShape="0" blurRad="101600" dist="50800" dir="5400000">
              <a:srgbClr val="FF2030">
                <a:alpha val="70000"/>
              </a:srgbClr>
            </a:outerShdw>
          </a:effectLst>
        </p:spPr>
      </p:sp>
      <p:sp>
        <p:nvSpPr>
          <p:cNvPr id="13" name="Text 9"/>
          <p:cNvSpPr txBox="1"/>
          <p:nvPr/>
        </p:nvSpPr>
        <p:spPr>
          <a:xfrm>
            <a:off x="7589520" y="2697480"/>
            <a:ext cx="4053535" cy="685800"/>
          </a:xfrm>
          <a:prstGeom prst="rect">
            <a:avLst/>
          </a:prstGeom>
          <a:noFill/>
          <a:ln/>
        </p:spPr>
        <p:txBody>
          <a:bodyPr wrap="square" lIns="0" tIns="0" rIns="0" bIns="0" rtlCol="0" anchor="t"/>
          <a:lstStyle/>
          <a:p>
            <a:pPr algn="ctr" indent="0" marL="0">
              <a:buNone/>
            </a:pPr>
            <a:r>
              <a:rPr lang="en-US" sz="4000" b="1" dirty="0">
                <a:solidFill>
                  <a:srgbClr val="EEE6E2"/>
                </a:solidFill>
                <a:latin typeface="Calibri" pitchFamily="34" charset="0"/>
                <a:ea typeface="Calibri" pitchFamily="34" charset="-122"/>
                <a:cs typeface="Calibri" pitchFamily="34" charset="-120"/>
              </a:rPr>
              <a:t>43.6%</a:t>
            </a:r>
            <a:endParaRPr lang="en-US" sz="4000" dirty="0"/>
          </a:p>
        </p:txBody>
      </p:sp>
      <p:sp>
        <p:nvSpPr>
          <p:cNvPr id="14" name="Text 10"/>
          <p:cNvSpPr txBox="1"/>
          <p:nvPr/>
        </p:nvSpPr>
        <p:spPr>
          <a:xfrm>
            <a:off x="7589520" y="3383280"/>
            <a:ext cx="4053535" cy="228600"/>
          </a:xfrm>
          <a:prstGeom prst="rect">
            <a:avLst/>
          </a:prstGeom>
          <a:noFill/>
          <a:ln/>
        </p:spPr>
        <p:txBody>
          <a:bodyPr wrap="square" lIns="0" tIns="0" rIns="0" bIns="0" rtlCol="0" anchor="t"/>
          <a:lstStyle/>
          <a:p>
            <a:pPr algn="ctr" indent="0" marL="0">
              <a:buNone/>
            </a:pPr>
            <a:r>
              <a:rPr lang="en-US" sz="1050" dirty="0">
                <a:solidFill>
                  <a:srgbClr val="9C8F8E"/>
                </a:solidFill>
                <a:latin typeface="Calibri" pitchFamily="34" charset="0"/>
                <a:ea typeface="Calibri" pitchFamily="34" charset="-122"/>
                <a:cs typeface="Calibri" pitchFamily="34" charset="-120"/>
              </a:rPr>
              <a:t>of automotive R&amp;D costs capitalised, H1 2026</a:t>
            </a:r>
            <a:endParaRPr lang="en-US" sz="1050" dirty="0"/>
          </a:p>
        </p:txBody>
      </p:sp>
      <p:sp>
        <p:nvSpPr>
          <p:cNvPr id="15" name="Text 11"/>
          <p:cNvSpPr txBox="1"/>
          <p:nvPr/>
        </p:nvSpPr>
        <p:spPr>
          <a:xfrm>
            <a:off x="7589520" y="3657600"/>
            <a:ext cx="4053535" cy="228600"/>
          </a:xfrm>
          <a:prstGeom prst="rect">
            <a:avLst/>
          </a:prstGeom>
          <a:noFill/>
          <a:ln/>
        </p:spPr>
        <p:txBody>
          <a:bodyPr wrap="square" lIns="0" tIns="0" rIns="0" bIns="0" rtlCol="0" anchor="t"/>
          <a:lstStyle/>
          <a:p>
            <a:pPr algn="ctr" indent="0" marL="0">
              <a:buNone/>
            </a:pPr>
            <a:r>
              <a:rPr lang="en-US" sz="1050" b="1" dirty="0">
                <a:solidFill>
                  <a:srgbClr val="EEE6E2"/>
                </a:solidFill>
                <a:latin typeface="Calibri" pitchFamily="34" charset="0"/>
                <a:ea typeface="Calibri" pitchFamily="34" charset="-122"/>
                <a:cs typeface="Calibri" pitchFamily="34" charset="-120"/>
              </a:rPr>
              <a:t>45.5% in H1 2025, 77.7% in H1 2023</a:t>
            </a:r>
            <a:endParaRPr lang="en-US" sz="1050" dirty="0"/>
          </a:p>
        </p:txBody>
      </p:sp>
      <p:sp>
        <p:nvSpPr>
          <p:cNvPr id="16" name="Shape 12"/>
          <p:cNvSpPr/>
          <p:nvPr/>
        </p:nvSpPr>
        <p:spPr>
          <a:xfrm>
            <a:off x="7589520" y="4434840"/>
            <a:ext cx="1971904" cy="658368"/>
          </a:xfrm>
          <a:prstGeom prst="roundRect">
            <a:avLst>
              <a:gd name="adj" fmla="val 8333"/>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7" name="Text 13"/>
          <p:cNvSpPr txBox="1"/>
          <p:nvPr/>
        </p:nvSpPr>
        <p:spPr>
          <a:xfrm>
            <a:off x="7735824" y="4507992"/>
            <a:ext cx="1697584" cy="329184"/>
          </a:xfrm>
          <a:prstGeom prst="rect">
            <a:avLst/>
          </a:prstGeom>
          <a:noFill/>
          <a:ln/>
        </p:spPr>
        <p:txBody>
          <a:bodyPr wrap="square" lIns="0" tIns="0" rIns="0" bIns="0" rtlCol="0" anchor="t"/>
          <a:lstStyle/>
          <a:p>
            <a:pPr indent="0" marL="0">
              <a:buNone/>
            </a:pPr>
            <a:r>
              <a:rPr lang="en-US" sz="1800" b="1" dirty="0">
                <a:solidFill>
                  <a:srgbClr val="EEE6E2"/>
                </a:solidFill>
                <a:latin typeface="Calibri" pitchFamily="34" charset="0"/>
                <a:ea typeface="Calibri" pitchFamily="34" charset="-122"/>
                <a:cs typeface="Calibri" pitchFamily="34" charset="-120"/>
              </a:rPr>
              <a:t>€1,116m</a:t>
            </a:r>
            <a:endParaRPr lang="en-US" sz="1800" dirty="0"/>
          </a:p>
        </p:txBody>
      </p:sp>
      <p:sp>
        <p:nvSpPr>
          <p:cNvPr id="18" name="Text 14"/>
          <p:cNvSpPr txBox="1"/>
          <p:nvPr/>
        </p:nvSpPr>
        <p:spPr>
          <a:xfrm>
            <a:off x="7735824" y="4837176"/>
            <a:ext cx="1697584" cy="201168"/>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total R&amp;D costs</a:t>
            </a:r>
            <a:endParaRPr lang="en-US" sz="950" dirty="0"/>
          </a:p>
        </p:txBody>
      </p:sp>
      <p:sp>
        <p:nvSpPr>
          <p:cNvPr id="19" name="Shape 15"/>
          <p:cNvSpPr/>
          <p:nvPr/>
        </p:nvSpPr>
        <p:spPr>
          <a:xfrm>
            <a:off x="9671152" y="4434840"/>
            <a:ext cx="1971904" cy="658368"/>
          </a:xfrm>
          <a:prstGeom prst="roundRect">
            <a:avLst>
              <a:gd name="adj" fmla="val 8333"/>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0" name="Text 16"/>
          <p:cNvSpPr txBox="1"/>
          <p:nvPr/>
        </p:nvSpPr>
        <p:spPr>
          <a:xfrm>
            <a:off x="9817456" y="4507992"/>
            <a:ext cx="1697584" cy="329184"/>
          </a:xfrm>
          <a:prstGeom prst="rect">
            <a:avLst/>
          </a:prstGeom>
          <a:noFill/>
          <a:ln/>
        </p:spPr>
        <p:txBody>
          <a:bodyPr wrap="square" lIns="0" tIns="0" rIns="0" bIns="0" rtlCol="0" anchor="t"/>
          <a:lstStyle/>
          <a:p>
            <a:pPr indent="0" marL="0">
              <a:buNone/>
            </a:pPr>
            <a:r>
              <a:rPr lang="en-US" sz="1800" b="1" dirty="0">
                <a:solidFill>
                  <a:srgbClr val="EEE6E2"/>
                </a:solidFill>
                <a:latin typeface="Calibri" pitchFamily="34" charset="0"/>
                <a:ea typeface="Calibri" pitchFamily="34" charset="-122"/>
                <a:cs typeface="Calibri" pitchFamily="34" charset="-120"/>
              </a:rPr>
              <a:t>€1,334m</a:t>
            </a:r>
            <a:endParaRPr lang="en-US" sz="1800" dirty="0"/>
          </a:p>
        </p:txBody>
      </p:sp>
      <p:sp>
        <p:nvSpPr>
          <p:cNvPr id="21" name="Text 17"/>
          <p:cNvSpPr txBox="1"/>
          <p:nvPr/>
        </p:nvSpPr>
        <p:spPr>
          <a:xfrm>
            <a:off x="9817456" y="4837176"/>
            <a:ext cx="1697584" cy="201168"/>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charged to the P&amp;L</a:t>
            </a:r>
            <a:endParaRPr lang="en-US" sz="950" dirty="0"/>
          </a:p>
        </p:txBody>
      </p:sp>
      <p:sp>
        <p:nvSpPr>
          <p:cNvPr id="22" name="Shape 18"/>
          <p:cNvSpPr/>
          <p:nvPr/>
        </p:nvSpPr>
        <p:spPr>
          <a:xfrm>
            <a:off x="7589520" y="5184648"/>
            <a:ext cx="1971904" cy="658368"/>
          </a:xfrm>
          <a:prstGeom prst="roundRect">
            <a:avLst>
              <a:gd name="adj" fmla="val 8333"/>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3" name="Text 19"/>
          <p:cNvSpPr txBox="1"/>
          <p:nvPr/>
        </p:nvSpPr>
        <p:spPr>
          <a:xfrm>
            <a:off x="7735824" y="5257800"/>
            <a:ext cx="1697584" cy="329184"/>
          </a:xfrm>
          <a:prstGeom prst="rect">
            <a:avLst/>
          </a:prstGeom>
          <a:noFill/>
          <a:ln/>
        </p:spPr>
        <p:txBody>
          <a:bodyPr wrap="square" lIns="0" tIns="0" rIns="0" bIns="0" rtlCol="0" anchor="t"/>
          <a:lstStyle/>
          <a:p>
            <a:pPr indent="0" marL="0">
              <a:buNone/>
            </a:pPr>
            <a:r>
              <a:rPr lang="en-US" sz="1800" b="1" dirty="0">
                <a:solidFill>
                  <a:srgbClr val="EEE6E2"/>
                </a:solidFill>
                <a:latin typeface="Calibri" pitchFamily="34" charset="0"/>
                <a:ea typeface="Calibri" pitchFamily="34" charset="-122"/>
                <a:cs typeface="Calibri" pitchFamily="34" charset="-120"/>
              </a:rPr>
              <a:t>−€218m</a:t>
            </a:r>
            <a:endParaRPr lang="en-US" sz="1800" dirty="0"/>
          </a:p>
        </p:txBody>
      </p:sp>
      <p:sp>
        <p:nvSpPr>
          <p:cNvPr id="24" name="Text 20"/>
          <p:cNvSpPr txBox="1"/>
          <p:nvPr/>
        </p:nvSpPr>
        <p:spPr>
          <a:xfrm>
            <a:off x="7735824" y="5586984"/>
            <a:ext cx="1697584" cy="201168"/>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net capitalisation</a:t>
            </a:r>
            <a:endParaRPr lang="en-US" sz="950" dirty="0"/>
          </a:p>
        </p:txBody>
      </p:sp>
      <p:sp>
        <p:nvSpPr>
          <p:cNvPr id="25" name="Shape 21"/>
          <p:cNvSpPr/>
          <p:nvPr/>
        </p:nvSpPr>
        <p:spPr>
          <a:xfrm>
            <a:off x="9671152" y="5184648"/>
            <a:ext cx="1971904" cy="658368"/>
          </a:xfrm>
          <a:prstGeom prst="roundRect">
            <a:avLst>
              <a:gd name="adj" fmla="val 8333"/>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6" name="Text 22"/>
          <p:cNvSpPr txBox="1"/>
          <p:nvPr/>
        </p:nvSpPr>
        <p:spPr>
          <a:xfrm>
            <a:off x="9817456" y="5257800"/>
            <a:ext cx="1697584" cy="329184"/>
          </a:xfrm>
          <a:prstGeom prst="rect">
            <a:avLst/>
          </a:prstGeom>
          <a:noFill/>
          <a:ln/>
        </p:spPr>
        <p:txBody>
          <a:bodyPr wrap="square" lIns="0" tIns="0" rIns="0" bIns="0" rtlCol="0" anchor="t"/>
          <a:lstStyle/>
          <a:p>
            <a:pPr indent="0" marL="0">
              <a:buNone/>
            </a:pPr>
            <a:r>
              <a:rPr lang="en-US" sz="1800" b="1" dirty="0">
                <a:solidFill>
                  <a:srgbClr val="EEE6E2"/>
                </a:solidFill>
                <a:latin typeface="Calibri" pitchFamily="34" charset="0"/>
                <a:ea typeface="Calibri" pitchFamily="34" charset="-122"/>
                <a:cs typeface="Calibri" pitchFamily="34" charset="-120"/>
              </a:rPr>
              <a:t>+€20.7m</a:t>
            </a:r>
            <a:endParaRPr lang="en-US" sz="1800" dirty="0"/>
          </a:p>
        </p:txBody>
      </p:sp>
      <p:sp>
        <p:nvSpPr>
          <p:cNvPr id="27" name="Text 23"/>
          <p:cNvSpPr txBox="1"/>
          <p:nvPr/>
        </p:nvSpPr>
        <p:spPr>
          <a:xfrm>
            <a:off x="9817456" y="5586984"/>
            <a:ext cx="1697584" cy="201168"/>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cap-rate effect, illustrative</a:t>
            </a:r>
            <a:endParaRPr lang="en-US" sz="950" dirty="0"/>
          </a:p>
        </p:txBody>
      </p:sp>
      <p:sp>
        <p:nvSpPr>
          <p:cNvPr id="28" name="Text 24"/>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Clean automotive D&amp;A €1,498m (€61m impairments removed, A-04). L3 hybrid sensitivity 14.3%: sizes the non-cash wedge only, never a KPI.</a:t>
            </a:r>
            <a:endParaRPr lang="en-US" sz="950" dirty="0"/>
          </a:p>
        </p:txBody>
      </p:sp>
      <p:sp>
        <p:nvSpPr>
          <p:cNvPr id="29" name="Text 25"/>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30" name="Text 26"/>
          <p:cNvSpPr txBox="1"/>
          <p:nvPr/>
        </p:nvSpPr>
        <p:spPr>
          <a:xfrm>
            <a:off x="4754880" y="6473952"/>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Source: Porsche AG public disclosures; project analysis. € million unless stated.</a:t>
            </a:r>
            <a:endParaRPr lang="en-US" sz="850" dirty="0"/>
          </a:p>
        </p:txBody>
      </p:sp>
      <p:sp>
        <p:nvSpPr>
          <p:cNvPr id="31" name="Text 27"/>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hotograph: Porsche car">    </p:cNvPr>
          <p:cNvPicPr>
            <a:picLocks noChangeAspect="1"/>
          </p:cNvPicPr>
          <p:nvPr/>
        </p:nvPicPr>
        <p:blipFill>
          <a:blip r:embed="rId2"/>
          <a:stretch>
            <a:fillRect/>
          </a:stretch>
        </p:blipFill>
        <p:spPr>
          <a:xfrm>
            <a:off x="548640" y="384048"/>
            <a:ext cx="3200400" cy="5852160"/>
          </a:xfrm>
          <a:prstGeom prst="rect">
            <a:avLst/>
          </a:prstGeom>
        </p:spPr>
      </p:pic>
      <p:sp>
        <p:nvSpPr>
          <p:cNvPr id="3" name="Shape 0"/>
          <p:cNvSpPr/>
          <p:nvPr/>
        </p:nvSpPr>
        <p:spPr>
          <a:xfrm>
            <a:off x="548640" y="384048"/>
            <a:ext cx="3200400" cy="5852160"/>
          </a:xfrm>
          <a:prstGeom prst="rect">
            <a:avLst/>
          </a:prstGeom>
          <a:solidFill>
            <a:srgbClr val="050203">
              <a:alpha val="0"/>
            </a:srgbClr>
          </a:solidFill>
          <a:ln w="9525">
            <a:solidFill>
              <a:srgbClr val="3A1A20"/>
            </a:solidFill>
            <a:prstDash val="solid"/>
          </a:ln>
          <a:effectLst>
            <a:outerShdw sx="100000" sy="100000" kx="0" ky="0" algn="bl" rotWithShape="0" blurRad="304800" dist="50800" dir="5400000">
              <a:srgbClr val="B0001A">
                <a:alpha val="35000"/>
              </a:srgbClr>
            </a:outerShdw>
          </a:effectLst>
        </p:spPr>
      </p:sp>
      <p:sp>
        <p:nvSpPr>
          <p:cNvPr id="4" name="Text 1"/>
          <p:cNvSpPr txBox="1"/>
          <p:nvPr/>
        </p:nvSpPr>
        <p:spPr>
          <a:xfrm>
            <a:off x="4160520" y="384048"/>
            <a:ext cx="457200" cy="228600"/>
          </a:xfrm>
          <a:prstGeom prst="rect">
            <a:avLst/>
          </a:prstGeom>
          <a:noFill/>
          <a:ln/>
        </p:spPr>
        <p:txBody>
          <a:bodyPr wrap="square" lIns="0" tIns="0" rIns="0" bIns="0" rtlCol="0" anchor="t"/>
          <a:lstStyle/>
          <a:p>
            <a:pPr indent="0" marL="0">
              <a:buNone/>
            </a:pPr>
            <a:r>
              <a:rPr lang="en-US" sz="1200" b="1" dirty="0">
                <a:solidFill>
                  <a:srgbClr val="D5001C"/>
                </a:solidFill>
                <a:latin typeface="Calibri" pitchFamily="34" charset="0"/>
                <a:ea typeface="Calibri" pitchFamily="34" charset="-122"/>
                <a:cs typeface="Calibri" pitchFamily="34" charset="-120"/>
              </a:rPr>
              <a:t>07</a:t>
            </a:r>
            <a:endParaRPr lang="en-US" sz="1200" dirty="0"/>
          </a:p>
        </p:txBody>
      </p:sp>
      <p:sp>
        <p:nvSpPr>
          <p:cNvPr id="5" name="Shape 2"/>
          <p:cNvSpPr/>
          <p:nvPr/>
        </p:nvSpPr>
        <p:spPr>
          <a:xfrm>
            <a:off x="454456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6" name="Text 3"/>
          <p:cNvSpPr txBox="1"/>
          <p:nvPr/>
        </p:nvSpPr>
        <p:spPr>
          <a:xfrm>
            <a:off x="505663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Commercial drivers: volume vs ASP</a:t>
            </a:r>
            <a:endParaRPr lang="en-US" sz="1200" dirty="0"/>
          </a:p>
        </p:txBody>
      </p:sp>
      <p:sp>
        <p:nvSpPr>
          <p:cNvPr id="7" name="Text 4"/>
          <p:cNvSpPr txBox="1"/>
          <p:nvPr/>
        </p:nvSpPr>
        <p:spPr>
          <a:xfrm>
            <a:off x="4160520" y="731520"/>
            <a:ext cx="7482535" cy="457200"/>
          </a:xfrm>
          <a:prstGeom prst="rect">
            <a:avLst/>
          </a:prstGeom>
          <a:noFill/>
          <a:ln/>
        </p:spPr>
        <p:txBody>
          <a:bodyPr wrap="square" lIns="0" tIns="0" rIns="0" bIns="0" rtlCol="0" anchor="t"/>
          <a:lstStyle/>
          <a:p>
            <a:pPr indent="0" marL="0">
              <a:buNone/>
            </a:pPr>
            <a:r>
              <a:rPr lang="en-US" sz="2700" b="1" dirty="0">
                <a:solidFill>
                  <a:srgbClr val="EEE6E2"/>
                </a:solidFill>
                <a:latin typeface="Calibri" pitchFamily="34" charset="0"/>
                <a:ea typeface="Calibri" pitchFamily="34" charset="-122"/>
                <a:cs typeface="Calibri" pitchFamily="34" charset="-120"/>
              </a:rPr>
              <a:t>VALUE OVER VOLUME WORKS, BUT ONLY PARTLY.</a:t>
            </a:r>
            <a:endParaRPr lang="en-US" sz="2700" dirty="0"/>
          </a:p>
        </p:txBody>
      </p:sp>
      <p:pic>
        <p:nvPicPr>
          <p:cNvPr id="8" name="Image 1" descr="Slide artwork">    </p:cNvPr>
          <p:cNvPicPr>
            <a:picLocks noChangeAspect="1"/>
          </p:cNvPicPr>
          <p:nvPr/>
        </p:nvPicPr>
        <p:blipFill>
          <a:blip r:embed="rId3"/>
          <a:stretch>
            <a:fillRect/>
          </a:stretch>
        </p:blipFill>
        <p:spPr>
          <a:xfrm>
            <a:off x="4123944" y="1243584"/>
            <a:ext cx="2060238" cy="329184"/>
          </a:xfrm>
          <a:prstGeom prst="rect">
            <a:avLst/>
          </a:prstGeom>
        </p:spPr>
      </p:pic>
      <p:sp>
        <p:nvSpPr>
          <p:cNvPr id="9" name="Text 5"/>
          <p:cNvSpPr txBox="1"/>
          <p:nvPr/>
        </p:nvSpPr>
        <p:spPr>
          <a:xfrm>
            <a:off x="4160520" y="1783080"/>
            <a:ext cx="2311298" cy="566928"/>
          </a:xfrm>
          <a:prstGeom prst="rect">
            <a:avLst/>
          </a:prstGeom>
          <a:noFill/>
          <a:ln/>
        </p:spPr>
        <p:txBody>
          <a:bodyPr wrap="square" lIns="0" tIns="0" rIns="0" bIns="0" rtlCol="0" anchor="t"/>
          <a:lstStyle/>
          <a:p>
            <a:pPr indent="0" marL="0">
              <a:buNone/>
            </a:pPr>
            <a:r>
              <a:rPr lang="en-US" sz="3400" b="1" dirty="0">
                <a:solidFill>
                  <a:srgbClr val="EEE6E2"/>
                </a:solidFill>
                <a:latin typeface="Calibri" pitchFamily="34" charset="0"/>
                <a:ea typeface="Calibri" pitchFamily="34" charset="-122"/>
                <a:cs typeface="Calibri" pitchFamily="34" charset="-120"/>
              </a:rPr>
              <a:t>120,508</a:t>
            </a:r>
            <a:endParaRPr lang="en-US" sz="3400" dirty="0"/>
          </a:p>
        </p:txBody>
      </p:sp>
      <p:sp>
        <p:nvSpPr>
          <p:cNvPr id="10" name="Text 6"/>
          <p:cNvSpPr txBox="1"/>
          <p:nvPr/>
        </p:nvSpPr>
        <p:spPr>
          <a:xfrm>
            <a:off x="4160520" y="2350008"/>
            <a:ext cx="2311298" cy="228600"/>
          </a:xfrm>
          <a:prstGeom prst="rect">
            <a:avLst/>
          </a:prstGeom>
          <a:noFill/>
          <a:ln/>
        </p:spPr>
        <p:txBody>
          <a:bodyPr wrap="square" lIns="0" tIns="0" rIns="0" bIns="0" rtlCol="0" anchor="t"/>
          <a:lstStyle/>
          <a:p>
            <a:pPr indent="0" marL="0">
              <a:buNone/>
            </a:pPr>
            <a:r>
              <a:rPr lang="en-US" sz="1050" dirty="0">
                <a:solidFill>
                  <a:srgbClr val="9C8F8E"/>
                </a:solidFill>
                <a:latin typeface="Calibri" pitchFamily="34" charset="0"/>
                <a:ea typeface="Calibri" pitchFamily="34" charset="-122"/>
                <a:cs typeface="Calibri" pitchFamily="34" charset="-120"/>
              </a:rPr>
              <a:t>vehicles sold, −10.8%</a:t>
            </a:r>
            <a:endParaRPr lang="en-US" sz="1050" dirty="0"/>
          </a:p>
        </p:txBody>
      </p:sp>
      <p:sp>
        <p:nvSpPr>
          <p:cNvPr id="11" name="Text 7"/>
          <p:cNvSpPr txBox="1"/>
          <p:nvPr/>
        </p:nvSpPr>
        <p:spPr>
          <a:xfrm>
            <a:off x="6654698" y="1783080"/>
            <a:ext cx="2311298" cy="566928"/>
          </a:xfrm>
          <a:prstGeom prst="rect">
            <a:avLst/>
          </a:prstGeom>
          <a:noFill/>
          <a:ln/>
        </p:spPr>
        <p:txBody>
          <a:bodyPr wrap="square" lIns="0" tIns="0" rIns="0" bIns="0" rtlCol="0" anchor="t"/>
          <a:lstStyle/>
          <a:p>
            <a:pPr indent="0" marL="0">
              <a:buNone/>
            </a:pPr>
            <a:r>
              <a:rPr lang="en-US" sz="3400" b="1" dirty="0">
                <a:solidFill>
                  <a:srgbClr val="EEE6E2"/>
                </a:solidFill>
                <a:latin typeface="Calibri" pitchFamily="34" charset="0"/>
                <a:ea typeface="Calibri" pitchFamily="34" charset="-122"/>
                <a:cs typeface="Calibri" pitchFamily="34" charset="-120"/>
              </a:rPr>
              <a:t>€125.8k</a:t>
            </a:r>
            <a:endParaRPr lang="en-US" sz="3400" dirty="0"/>
          </a:p>
        </p:txBody>
      </p:sp>
      <p:sp>
        <p:nvSpPr>
          <p:cNvPr id="12" name="Text 8"/>
          <p:cNvSpPr txBox="1"/>
          <p:nvPr/>
        </p:nvSpPr>
        <p:spPr>
          <a:xfrm>
            <a:off x="6654698" y="2350008"/>
            <a:ext cx="2311298" cy="228600"/>
          </a:xfrm>
          <a:prstGeom prst="rect">
            <a:avLst/>
          </a:prstGeom>
          <a:noFill/>
          <a:ln/>
        </p:spPr>
        <p:txBody>
          <a:bodyPr wrap="square" lIns="0" tIns="0" rIns="0" bIns="0" rtlCol="0" anchor="t"/>
          <a:lstStyle/>
          <a:p>
            <a:pPr indent="0" marL="0">
              <a:buNone/>
            </a:pPr>
            <a:r>
              <a:rPr lang="en-US" sz="1050" dirty="0">
                <a:solidFill>
                  <a:srgbClr val="9C8F8E"/>
                </a:solidFill>
                <a:latin typeface="Calibri" pitchFamily="34" charset="0"/>
                <a:ea typeface="Calibri" pitchFamily="34" charset="-122"/>
                <a:cs typeface="Calibri" pitchFamily="34" charset="-120"/>
              </a:rPr>
              <a:t>average selling price, +5.3%</a:t>
            </a:r>
            <a:endParaRPr lang="en-US" sz="1050" dirty="0"/>
          </a:p>
        </p:txBody>
      </p:sp>
      <p:sp>
        <p:nvSpPr>
          <p:cNvPr id="13" name="Text 9"/>
          <p:cNvSpPr txBox="1"/>
          <p:nvPr/>
        </p:nvSpPr>
        <p:spPr>
          <a:xfrm>
            <a:off x="9148877" y="1783080"/>
            <a:ext cx="2311298" cy="566928"/>
          </a:xfrm>
          <a:prstGeom prst="rect">
            <a:avLst/>
          </a:prstGeom>
          <a:noFill/>
          <a:ln/>
        </p:spPr>
        <p:txBody>
          <a:bodyPr wrap="square" lIns="0" tIns="0" rIns="0" bIns="0" rtlCol="0" anchor="t"/>
          <a:lstStyle/>
          <a:p>
            <a:pPr indent="0" marL="0">
              <a:buNone/>
            </a:pPr>
            <a:r>
              <a:rPr lang="en-US" sz="3400" b="1" dirty="0">
                <a:solidFill>
                  <a:srgbClr val="D5001C"/>
                </a:solidFill>
                <a:latin typeface="Calibri" pitchFamily="34" charset="0"/>
                <a:ea typeface="Calibri" pitchFamily="34" charset="-122"/>
                <a:cs typeface="Calibri" pitchFamily="34" charset="-120"/>
              </a:rPr>
              <a:t>44%</a:t>
            </a:r>
            <a:endParaRPr lang="en-US" sz="3400" dirty="0"/>
          </a:p>
        </p:txBody>
      </p:sp>
      <p:sp>
        <p:nvSpPr>
          <p:cNvPr id="14" name="Text 10"/>
          <p:cNvSpPr txBox="1"/>
          <p:nvPr/>
        </p:nvSpPr>
        <p:spPr>
          <a:xfrm>
            <a:off x="9148877" y="2350008"/>
            <a:ext cx="2311298" cy="228600"/>
          </a:xfrm>
          <a:prstGeom prst="rect">
            <a:avLst/>
          </a:prstGeom>
          <a:noFill/>
          <a:ln/>
        </p:spPr>
        <p:txBody>
          <a:bodyPr wrap="square" lIns="0" tIns="0" rIns="0" bIns="0" rtlCol="0" anchor="t"/>
          <a:lstStyle/>
          <a:p>
            <a:pPr indent="0" marL="0">
              <a:buNone/>
            </a:pPr>
            <a:r>
              <a:rPr lang="en-US" sz="1050" dirty="0">
                <a:solidFill>
                  <a:srgbClr val="9C8F8E"/>
                </a:solidFill>
                <a:latin typeface="Calibri" pitchFamily="34" charset="0"/>
                <a:ea typeface="Calibri" pitchFamily="34" charset="-122"/>
                <a:cs typeface="Calibri" pitchFamily="34" charset="-120"/>
              </a:rPr>
              <a:t>of the volume loss recovered by ASP</a:t>
            </a:r>
            <a:endParaRPr lang="en-US" sz="1050" dirty="0"/>
          </a:p>
        </p:txBody>
      </p:sp>
      <p:sp>
        <p:nvSpPr>
          <p:cNvPr id="15" name="Shape 11"/>
          <p:cNvSpPr/>
          <p:nvPr/>
        </p:nvSpPr>
        <p:spPr>
          <a:xfrm>
            <a:off x="4160520" y="2834640"/>
            <a:ext cx="2219858" cy="1234440"/>
          </a:xfrm>
          <a:prstGeom prst="roundRect">
            <a:avLst>
              <a:gd name="adj" fmla="val 4444"/>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6" name="Text 12"/>
          <p:cNvSpPr txBox="1"/>
          <p:nvPr/>
        </p:nvSpPr>
        <p:spPr>
          <a:xfrm>
            <a:off x="4343400" y="2962656"/>
            <a:ext cx="1854098" cy="548640"/>
          </a:xfrm>
          <a:prstGeom prst="rect">
            <a:avLst/>
          </a:prstGeom>
          <a:noFill/>
          <a:ln/>
        </p:spPr>
        <p:txBody>
          <a:bodyPr wrap="square" lIns="0" tIns="0" rIns="0" bIns="0" rtlCol="0" anchor="t"/>
          <a:lstStyle/>
          <a:p>
            <a:pPr indent="0" marL="0">
              <a:buNone/>
            </a:pPr>
            <a:r>
              <a:rPr lang="en-US" sz="3200" b="1" dirty="0">
                <a:solidFill>
                  <a:srgbClr val="FF4252"/>
                </a:solidFill>
                <a:latin typeface="Calibri" pitchFamily="34" charset="0"/>
                <a:ea typeface="Calibri" pitchFamily="34" charset="-122"/>
                <a:cs typeface="Calibri" pitchFamily="34" charset="-120"/>
              </a:rPr>
              <a:t>−1,748</a:t>
            </a:r>
            <a:endParaRPr lang="en-US" sz="3200" dirty="0"/>
          </a:p>
        </p:txBody>
      </p:sp>
      <p:sp>
        <p:nvSpPr>
          <p:cNvPr id="17" name="Text 13"/>
          <p:cNvSpPr txBox="1"/>
          <p:nvPr/>
        </p:nvSpPr>
        <p:spPr>
          <a:xfrm>
            <a:off x="4343400" y="3529584"/>
            <a:ext cx="1854098" cy="219456"/>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Volume effect, € million</a:t>
            </a:r>
            <a:endParaRPr lang="en-US" sz="1050" dirty="0"/>
          </a:p>
        </p:txBody>
      </p:sp>
      <p:sp>
        <p:nvSpPr>
          <p:cNvPr id="18" name="Text 14"/>
          <p:cNvSpPr txBox="1"/>
          <p:nvPr/>
        </p:nvSpPr>
        <p:spPr>
          <a:xfrm>
            <a:off x="4343400" y="3749040"/>
            <a:ext cx="1854098" cy="219456"/>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−10.8% vehicles, at last year's ASP</a:t>
            </a:r>
            <a:endParaRPr lang="en-US" sz="950" dirty="0"/>
          </a:p>
        </p:txBody>
      </p:sp>
      <p:sp>
        <p:nvSpPr>
          <p:cNvPr id="19" name="Text 15"/>
          <p:cNvSpPr txBox="1"/>
          <p:nvPr/>
        </p:nvSpPr>
        <p:spPr>
          <a:xfrm>
            <a:off x="6380378" y="3154680"/>
            <a:ext cx="411480" cy="548640"/>
          </a:xfrm>
          <a:prstGeom prst="rect">
            <a:avLst/>
          </a:prstGeom>
          <a:noFill/>
          <a:ln/>
        </p:spPr>
        <p:txBody>
          <a:bodyPr wrap="square" lIns="0" tIns="0" rIns="0" bIns="0" rtlCol="0" anchor="t"/>
          <a:lstStyle/>
          <a:p>
            <a:pPr algn="ctr" indent="0" marL="0">
              <a:buNone/>
            </a:pPr>
            <a:r>
              <a:rPr lang="en-US" sz="3000" dirty="0">
                <a:solidFill>
                  <a:srgbClr val="6A5C5D"/>
                </a:solidFill>
                <a:latin typeface="Calibri" pitchFamily="34" charset="0"/>
                <a:ea typeface="Calibri" pitchFamily="34" charset="-122"/>
                <a:cs typeface="Calibri" pitchFamily="34" charset="-120"/>
              </a:rPr>
              <a:t>+</a:t>
            </a:r>
            <a:endParaRPr lang="en-US" sz="3000" dirty="0"/>
          </a:p>
        </p:txBody>
      </p:sp>
      <p:sp>
        <p:nvSpPr>
          <p:cNvPr id="20" name="Shape 16"/>
          <p:cNvSpPr/>
          <p:nvPr/>
        </p:nvSpPr>
        <p:spPr>
          <a:xfrm>
            <a:off x="6791858" y="2834640"/>
            <a:ext cx="2219858" cy="1234440"/>
          </a:xfrm>
          <a:prstGeom prst="roundRect">
            <a:avLst>
              <a:gd name="adj" fmla="val 4444"/>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1" name="Text 17"/>
          <p:cNvSpPr txBox="1"/>
          <p:nvPr/>
        </p:nvSpPr>
        <p:spPr>
          <a:xfrm>
            <a:off x="6974738" y="2962656"/>
            <a:ext cx="1854098" cy="548640"/>
          </a:xfrm>
          <a:prstGeom prst="rect">
            <a:avLst/>
          </a:prstGeom>
          <a:noFill/>
          <a:ln/>
        </p:spPr>
        <p:txBody>
          <a:bodyPr wrap="square" lIns="0" tIns="0" rIns="0" bIns="0" rtlCol="0" anchor="t"/>
          <a:lstStyle/>
          <a:p>
            <a:pPr indent="0" marL="0">
              <a:buNone/>
            </a:pPr>
            <a:r>
              <a:rPr lang="en-US" sz="3200" b="1" dirty="0">
                <a:solidFill>
                  <a:srgbClr val="EEE6E2"/>
                </a:solidFill>
                <a:latin typeface="Calibri" pitchFamily="34" charset="0"/>
                <a:ea typeface="Calibri" pitchFamily="34" charset="-122"/>
                <a:cs typeface="Calibri" pitchFamily="34" charset="-120"/>
              </a:rPr>
              <a:t>+768</a:t>
            </a:r>
            <a:endParaRPr lang="en-US" sz="3200" dirty="0"/>
          </a:p>
        </p:txBody>
      </p:sp>
      <p:sp>
        <p:nvSpPr>
          <p:cNvPr id="22" name="Text 18"/>
          <p:cNvSpPr txBox="1"/>
          <p:nvPr/>
        </p:nvSpPr>
        <p:spPr>
          <a:xfrm>
            <a:off x="6974738" y="3529584"/>
            <a:ext cx="1854098" cy="219456"/>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ASP effect, € million</a:t>
            </a:r>
            <a:endParaRPr lang="en-US" sz="1050" dirty="0"/>
          </a:p>
        </p:txBody>
      </p:sp>
      <p:sp>
        <p:nvSpPr>
          <p:cNvPr id="23" name="Text 19"/>
          <p:cNvSpPr txBox="1"/>
          <p:nvPr/>
        </p:nvSpPr>
        <p:spPr>
          <a:xfrm>
            <a:off x="6974738" y="3749040"/>
            <a:ext cx="1854098" cy="219456"/>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+5.3% per vehicle, on this year's units</a:t>
            </a:r>
            <a:endParaRPr lang="en-US" sz="950" dirty="0"/>
          </a:p>
        </p:txBody>
      </p:sp>
      <p:sp>
        <p:nvSpPr>
          <p:cNvPr id="24" name="Text 20"/>
          <p:cNvSpPr txBox="1"/>
          <p:nvPr/>
        </p:nvSpPr>
        <p:spPr>
          <a:xfrm>
            <a:off x="9011717" y="3154680"/>
            <a:ext cx="411480" cy="548640"/>
          </a:xfrm>
          <a:prstGeom prst="rect">
            <a:avLst/>
          </a:prstGeom>
          <a:noFill/>
          <a:ln/>
        </p:spPr>
        <p:txBody>
          <a:bodyPr wrap="square" lIns="0" tIns="0" rIns="0" bIns="0" rtlCol="0" anchor="t"/>
          <a:lstStyle/>
          <a:p>
            <a:pPr algn="ctr" indent="0" marL="0">
              <a:buNone/>
            </a:pPr>
            <a:r>
              <a:rPr lang="en-US" sz="3000" dirty="0">
                <a:solidFill>
                  <a:srgbClr val="6A5C5D"/>
                </a:solidFill>
                <a:latin typeface="Calibri" pitchFamily="34" charset="0"/>
                <a:ea typeface="Calibri" pitchFamily="34" charset="-122"/>
                <a:cs typeface="Calibri" pitchFamily="34" charset="-120"/>
              </a:rPr>
              <a:t>=</a:t>
            </a:r>
            <a:endParaRPr lang="en-US" sz="3000" dirty="0"/>
          </a:p>
        </p:txBody>
      </p:sp>
      <p:sp>
        <p:nvSpPr>
          <p:cNvPr id="25" name="Shape 21"/>
          <p:cNvSpPr/>
          <p:nvPr/>
        </p:nvSpPr>
        <p:spPr>
          <a:xfrm>
            <a:off x="9423197" y="2834640"/>
            <a:ext cx="2219858" cy="1234440"/>
          </a:xfrm>
          <a:prstGeom prst="roundRect">
            <a:avLst>
              <a:gd name="adj" fmla="val 4444"/>
            </a:avLst>
          </a:prstGeom>
          <a:solidFill>
            <a:srgbClr val="150B0D"/>
          </a:solidFill>
          <a:ln w="9525">
            <a:solidFill>
              <a:srgbClr val="6B0E1B"/>
            </a:solidFill>
            <a:prstDash val="solid"/>
          </a:ln>
          <a:effectLst>
            <a:outerShdw sx="100000" sy="100000" kx="0" ky="0" algn="bl" rotWithShape="0" blurRad="228600" dist="76200" dir="5400000">
              <a:srgbClr val="000000">
                <a:alpha val="55000"/>
              </a:srgbClr>
            </a:outerShdw>
          </a:effectLst>
        </p:spPr>
      </p:sp>
      <p:sp>
        <p:nvSpPr>
          <p:cNvPr id="26" name="Text 22"/>
          <p:cNvSpPr txBox="1"/>
          <p:nvPr/>
        </p:nvSpPr>
        <p:spPr>
          <a:xfrm>
            <a:off x="9606077" y="2962656"/>
            <a:ext cx="1854098" cy="548640"/>
          </a:xfrm>
          <a:prstGeom prst="rect">
            <a:avLst/>
          </a:prstGeom>
          <a:noFill/>
          <a:ln/>
        </p:spPr>
        <p:txBody>
          <a:bodyPr wrap="square" lIns="0" tIns="0" rIns="0" bIns="0" rtlCol="0" anchor="t"/>
          <a:lstStyle/>
          <a:p>
            <a:pPr indent="0" marL="0">
              <a:buNone/>
            </a:pPr>
            <a:r>
              <a:rPr lang="en-US" sz="3200" b="1" dirty="0">
                <a:solidFill>
                  <a:srgbClr val="EEE6E2"/>
                </a:solidFill>
                <a:latin typeface="Calibri" pitchFamily="34" charset="0"/>
                <a:ea typeface="Calibri" pitchFamily="34" charset="-122"/>
                <a:cs typeface="Calibri" pitchFamily="34" charset="-120"/>
              </a:rPr>
              <a:t>−980</a:t>
            </a:r>
            <a:endParaRPr lang="en-US" sz="3200" dirty="0"/>
          </a:p>
        </p:txBody>
      </p:sp>
      <p:sp>
        <p:nvSpPr>
          <p:cNvPr id="27" name="Text 23"/>
          <p:cNvSpPr txBox="1"/>
          <p:nvPr/>
        </p:nvSpPr>
        <p:spPr>
          <a:xfrm>
            <a:off x="9606077" y="3529584"/>
            <a:ext cx="1854098" cy="219456"/>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Automotive revenue change</a:t>
            </a:r>
            <a:endParaRPr lang="en-US" sz="1050" dirty="0"/>
          </a:p>
        </p:txBody>
      </p:sp>
      <p:sp>
        <p:nvSpPr>
          <p:cNvPr id="28" name="Text 24"/>
          <p:cNvSpPr txBox="1"/>
          <p:nvPr/>
        </p:nvSpPr>
        <p:spPr>
          <a:xfrm>
            <a:off x="9606077" y="3749040"/>
            <a:ext cx="1854098" cy="219456"/>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€16,138m → €15,158m</a:t>
            </a:r>
            <a:endParaRPr lang="en-US" sz="950" dirty="0"/>
          </a:p>
        </p:txBody>
      </p:sp>
      <p:sp>
        <p:nvSpPr>
          <p:cNvPr id="29" name="Text 25"/>
          <p:cNvSpPr txBox="1"/>
          <p:nvPr/>
        </p:nvSpPr>
        <p:spPr>
          <a:xfrm>
            <a:off x="4160520" y="4297680"/>
            <a:ext cx="7482535" cy="237744"/>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Automotive revenue bridge, € million</a:t>
            </a:r>
            <a:endParaRPr lang="en-US" sz="1200" dirty="0"/>
          </a:p>
        </p:txBody>
      </p:sp>
      <p:sp>
        <p:nvSpPr>
          <p:cNvPr id="30" name="Shape 26"/>
          <p:cNvSpPr/>
          <p:nvPr/>
        </p:nvSpPr>
        <p:spPr>
          <a:xfrm>
            <a:off x="5715000" y="4590288"/>
            <a:ext cx="0" cy="1371600"/>
          </a:xfrm>
          <a:prstGeom prst="line">
            <a:avLst/>
          </a:prstGeom>
          <a:noFill/>
          <a:ln w="15875">
            <a:solidFill>
              <a:srgbClr val="D5001C"/>
            </a:solidFill>
            <a:prstDash val="solid"/>
          </a:ln>
        </p:spPr>
      </p:sp>
      <p:sp>
        <p:nvSpPr>
          <p:cNvPr id="31" name="Text 27"/>
          <p:cNvSpPr txBox="1"/>
          <p:nvPr/>
        </p:nvSpPr>
        <p:spPr>
          <a:xfrm>
            <a:off x="4160520" y="4636008"/>
            <a:ext cx="1463040" cy="237744"/>
          </a:xfrm>
          <a:prstGeom prst="rect">
            <a:avLst/>
          </a:prstGeom>
          <a:noFill/>
          <a:ln/>
        </p:spPr>
        <p:txBody>
          <a:bodyPr wrap="square" lIns="0" tIns="0" rIns="0" bIns="0" rtlCol="0" anchor="ctr"/>
          <a:lstStyle/>
          <a:p>
            <a:pPr indent="0" marL="0">
              <a:buNone/>
            </a:pPr>
            <a:r>
              <a:rPr lang="en-US" sz="950" b="1" dirty="0">
                <a:solidFill>
                  <a:srgbClr val="EEE6E2"/>
                </a:solidFill>
                <a:latin typeface="Calibri" pitchFamily="34" charset="0"/>
                <a:ea typeface="Calibri" pitchFamily="34" charset="-122"/>
                <a:cs typeface="Calibri" pitchFamily="34" charset="-120"/>
              </a:rPr>
              <a:t>Revenue H1 2025</a:t>
            </a:r>
            <a:endParaRPr lang="en-US" sz="950" dirty="0"/>
          </a:p>
        </p:txBody>
      </p:sp>
      <p:sp>
        <p:nvSpPr>
          <p:cNvPr id="32" name="Shape 28"/>
          <p:cNvSpPr/>
          <p:nvPr/>
        </p:nvSpPr>
        <p:spPr>
          <a:xfrm>
            <a:off x="5715000" y="4672584"/>
            <a:ext cx="4933040" cy="182880"/>
          </a:xfrm>
          <a:prstGeom prst="rect">
            <a:avLst/>
          </a:prstGeom>
          <a:solidFill>
            <a:srgbClr val="EEE6E2"/>
          </a:solidFill>
          <a:ln w="12700">
            <a:solidFill>
              <a:srgbClr val="EEE6E2"/>
            </a:solidFill>
            <a:prstDash val="solid"/>
          </a:ln>
        </p:spPr>
      </p:sp>
      <p:sp>
        <p:nvSpPr>
          <p:cNvPr id="33" name="Text 29"/>
          <p:cNvSpPr txBox="1"/>
          <p:nvPr/>
        </p:nvSpPr>
        <p:spPr>
          <a:xfrm>
            <a:off x="10721192" y="4636008"/>
            <a:ext cx="731520" cy="237744"/>
          </a:xfrm>
          <a:prstGeom prst="rect">
            <a:avLst/>
          </a:prstGeom>
          <a:noFill/>
          <a:ln/>
        </p:spPr>
        <p:txBody>
          <a:bodyPr wrap="square" lIns="0" tIns="0" rIns="0" bIns="0" rtlCol="0" anchor="ctr"/>
          <a:lstStyle/>
          <a:p>
            <a:pPr indent="0" marL="0">
              <a:buNone/>
            </a:pPr>
            <a:r>
              <a:rPr lang="en-US" sz="950" b="1" dirty="0">
                <a:solidFill>
                  <a:srgbClr val="EEE6E2"/>
                </a:solidFill>
                <a:latin typeface="Calibri" pitchFamily="34" charset="0"/>
                <a:ea typeface="Calibri" pitchFamily="34" charset="-122"/>
                <a:cs typeface="Calibri" pitchFamily="34" charset="-120"/>
              </a:rPr>
              <a:t>16,138</a:t>
            </a:r>
            <a:endParaRPr lang="en-US" sz="950" dirty="0"/>
          </a:p>
        </p:txBody>
      </p:sp>
      <p:sp>
        <p:nvSpPr>
          <p:cNvPr id="34" name="Text 30"/>
          <p:cNvSpPr txBox="1"/>
          <p:nvPr/>
        </p:nvSpPr>
        <p:spPr>
          <a:xfrm>
            <a:off x="4160520" y="4965192"/>
            <a:ext cx="1463040" cy="237744"/>
          </a:xfrm>
          <a:prstGeom prst="rect">
            <a:avLst/>
          </a:prstGeom>
          <a:noFill/>
          <a:ln/>
        </p:spPr>
        <p:txBody>
          <a:bodyPr wrap="square" lIns="0" tIns="0" rIns="0" bIns="0" rtlCol="0" anchor="ctr"/>
          <a:lstStyle/>
          <a:p>
            <a:pPr indent="0" marL="0">
              <a:buNone/>
            </a:pPr>
            <a:r>
              <a:rPr lang="en-US" sz="950" dirty="0">
                <a:solidFill>
                  <a:srgbClr val="9C8F8E"/>
                </a:solidFill>
                <a:latin typeface="Calibri" pitchFamily="34" charset="0"/>
                <a:ea typeface="Calibri" pitchFamily="34" charset="-122"/>
                <a:cs typeface="Calibri" pitchFamily="34" charset="-120"/>
              </a:rPr>
              <a:t>Volume effect</a:t>
            </a:r>
            <a:endParaRPr lang="en-US" sz="950" dirty="0"/>
          </a:p>
        </p:txBody>
      </p:sp>
      <p:sp>
        <p:nvSpPr>
          <p:cNvPr id="35" name="Shape 31"/>
          <p:cNvSpPr/>
          <p:nvPr/>
        </p:nvSpPr>
        <p:spPr>
          <a:xfrm>
            <a:off x="10113867" y="5001768"/>
            <a:ext cx="534173" cy="182880"/>
          </a:xfrm>
          <a:prstGeom prst="rect">
            <a:avLst/>
          </a:prstGeom>
          <a:solidFill>
            <a:srgbClr val="FF4252"/>
          </a:solidFill>
          <a:ln w="12700">
            <a:solidFill>
              <a:srgbClr val="FF4252"/>
            </a:solidFill>
            <a:prstDash val="solid"/>
          </a:ln>
        </p:spPr>
      </p:sp>
      <p:sp>
        <p:nvSpPr>
          <p:cNvPr id="36" name="Text 32"/>
          <p:cNvSpPr txBox="1"/>
          <p:nvPr/>
        </p:nvSpPr>
        <p:spPr>
          <a:xfrm>
            <a:off x="10721192" y="4965192"/>
            <a:ext cx="731520" cy="237744"/>
          </a:xfrm>
          <a:prstGeom prst="rect">
            <a:avLst/>
          </a:prstGeom>
          <a:noFill/>
          <a:ln/>
        </p:spPr>
        <p:txBody>
          <a:bodyPr wrap="square" lIns="0" tIns="0" rIns="0" bIns="0" rtlCol="0" anchor="ctr"/>
          <a:lstStyle/>
          <a:p>
            <a:pPr indent="0" marL="0">
              <a:buNone/>
            </a:pPr>
            <a:r>
              <a:rPr lang="en-US" sz="950" b="1" dirty="0">
                <a:solidFill>
                  <a:srgbClr val="FF4252"/>
                </a:solidFill>
                <a:latin typeface="Calibri" pitchFamily="34" charset="0"/>
                <a:ea typeface="Calibri" pitchFamily="34" charset="-122"/>
                <a:cs typeface="Calibri" pitchFamily="34" charset="-120"/>
              </a:rPr>
              <a:t>−1,748</a:t>
            </a:r>
            <a:endParaRPr lang="en-US" sz="950" dirty="0"/>
          </a:p>
        </p:txBody>
      </p:sp>
      <p:sp>
        <p:nvSpPr>
          <p:cNvPr id="37" name="Text 33"/>
          <p:cNvSpPr txBox="1"/>
          <p:nvPr/>
        </p:nvSpPr>
        <p:spPr>
          <a:xfrm>
            <a:off x="4160520" y="5294376"/>
            <a:ext cx="1463040" cy="237744"/>
          </a:xfrm>
          <a:prstGeom prst="rect">
            <a:avLst/>
          </a:prstGeom>
          <a:noFill/>
          <a:ln/>
        </p:spPr>
        <p:txBody>
          <a:bodyPr wrap="square" lIns="0" tIns="0" rIns="0" bIns="0" rtlCol="0" anchor="ctr"/>
          <a:lstStyle/>
          <a:p>
            <a:pPr indent="0" marL="0">
              <a:buNone/>
            </a:pPr>
            <a:r>
              <a:rPr lang="en-US" sz="950" dirty="0">
                <a:solidFill>
                  <a:srgbClr val="9C8F8E"/>
                </a:solidFill>
                <a:latin typeface="Calibri" pitchFamily="34" charset="0"/>
                <a:ea typeface="Calibri" pitchFamily="34" charset="-122"/>
                <a:cs typeface="Calibri" pitchFamily="34" charset="-120"/>
              </a:rPr>
              <a:t>ASP effect</a:t>
            </a:r>
            <a:endParaRPr lang="en-US" sz="950" dirty="0"/>
          </a:p>
        </p:txBody>
      </p:sp>
      <p:sp>
        <p:nvSpPr>
          <p:cNvPr id="38" name="Shape 34"/>
          <p:cNvSpPr/>
          <p:nvPr/>
        </p:nvSpPr>
        <p:spPr>
          <a:xfrm>
            <a:off x="10113867" y="5330952"/>
            <a:ext cx="234608" cy="182880"/>
          </a:xfrm>
          <a:prstGeom prst="rect">
            <a:avLst/>
          </a:prstGeom>
          <a:solidFill>
            <a:srgbClr val="EEE6E2"/>
          </a:solidFill>
          <a:ln w="12700">
            <a:solidFill>
              <a:srgbClr val="EEE6E2"/>
            </a:solidFill>
            <a:prstDash val="solid"/>
          </a:ln>
        </p:spPr>
      </p:sp>
      <p:sp>
        <p:nvSpPr>
          <p:cNvPr id="39" name="Text 35"/>
          <p:cNvSpPr txBox="1"/>
          <p:nvPr/>
        </p:nvSpPr>
        <p:spPr>
          <a:xfrm>
            <a:off x="10421627" y="5294376"/>
            <a:ext cx="731520" cy="237744"/>
          </a:xfrm>
          <a:prstGeom prst="rect">
            <a:avLst/>
          </a:prstGeom>
          <a:noFill/>
          <a:ln/>
        </p:spPr>
        <p:txBody>
          <a:bodyPr wrap="square" lIns="0" tIns="0" rIns="0" bIns="0" rtlCol="0" anchor="ctr"/>
          <a:lstStyle/>
          <a:p>
            <a:pPr indent="0" marL="0">
              <a:buNone/>
            </a:pPr>
            <a:r>
              <a:rPr lang="en-US" sz="950" b="1" dirty="0">
                <a:solidFill>
                  <a:srgbClr val="EEE6E2"/>
                </a:solidFill>
                <a:latin typeface="Calibri" pitchFamily="34" charset="0"/>
                <a:ea typeface="Calibri" pitchFamily="34" charset="-122"/>
                <a:cs typeface="Calibri" pitchFamily="34" charset="-120"/>
              </a:rPr>
              <a:t>+768</a:t>
            </a:r>
            <a:endParaRPr lang="en-US" sz="950" dirty="0"/>
          </a:p>
        </p:txBody>
      </p:sp>
      <p:sp>
        <p:nvSpPr>
          <p:cNvPr id="40" name="Text 36"/>
          <p:cNvSpPr txBox="1"/>
          <p:nvPr/>
        </p:nvSpPr>
        <p:spPr>
          <a:xfrm>
            <a:off x="4160520" y="5623560"/>
            <a:ext cx="1463040" cy="237744"/>
          </a:xfrm>
          <a:prstGeom prst="rect">
            <a:avLst/>
          </a:prstGeom>
          <a:noFill/>
          <a:ln/>
        </p:spPr>
        <p:txBody>
          <a:bodyPr wrap="square" lIns="0" tIns="0" rIns="0" bIns="0" rtlCol="0" anchor="ctr"/>
          <a:lstStyle/>
          <a:p>
            <a:pPr indent="0" marL="0">
              <a:buNone/>
            </a:pPr>
            <a:r>
              <a:rPr lang="en-US" sz="950" b="1" dirty="0">
                <a:solidFill>
                  <a:srgbClr val="EEE6E2"/>
                </a:solidFill>
                <a:latin typeface="Calibri" pitchFamily="34" charset="0"/>
                <a:ea typeface="Calibri" pitchFamily="34" charset="-122"/>
                <a:cs typeface="Calibri" pitchFamily="34" charset="-120"/>
              </a:rPr>
              <a:t>Revenue H1 2026</a:t>
            </a:r>
            <a:endParaRPr lang="en-US" sz="950" dirty="0"/>
          </a:p>
        </p:txBody>
      </p:sp>
      <p:sp>
        <p:nvSpPr>
          <p:cNvPr id="41" name="Shape 37"/>
          <p:cNvSpPr/>
          <p:nvPr/>
        </p:nvSpPr>
        <p:spPr>
          <a:xfrm>
            <a:off x="5715000" y="5660136"/>
            <a:ext cx="4633475" cy="182880"/>
          </a:xfrm>
          <a:prstGeom prst="rect">
            <a:avLst/>
          </a:prstGeom>
          <a:solidFill>
            <a:srgbClr val="EEE6E2"/>
          </a:solidFill>
          <a:ln w="12700">
            <a:solidFill>
              <a:srgbClr val="EEE6E2"/>
            </a:solidFill>
            <a:prstDash val="solid"/>
          </a:ln>
        </p:spPr>
      </p:sp>
      <p:sp>
        <p:nvSpPr>
          <p:cNvPr id="42" name="Text 38"/>
          <p:cNvSpPr txBox="1"/>
          <p:nvPr/>
        </p:nvSpPr>
        <p:spPr>
          <a:xfrm>
            <a:off x="10421627" y="5623560"/>
            <a:ext cx="731520" cy="237744"/>
          </a:xfrm>
          <a:prstGeom prst="rect">
            <a:avLst/>
          </a:prstGeom>
          <a:noFill/>
          <a:ln/>
        </p:spPr>
        <p:txBody>
          <a:bodyPr wrap="square" lIns="0" tIns="0" rIns="0" bIns="0" rtlCol="0" anchor="ctr"/>
          <a:lstStyle/>
          <a:p>
            <a:pPr indent="0" marL="0">
              <a:buNone/>
            </a:pPr>
            <a:r>
              <a:rPr lang="en-US" sz="950" b="1" dirty="0">
                <a:solidFill>
                  <a:srgbClr val="EEE6E2"/>
                </a:solidFill>
                <a:latin typeface="Calibri" pitchFamily="34" charset="0"/>
                <a:ea typeface="Calibri" pitchFamily="34" charset="-122"/>
                <a:cs typeface="Calibri" pitchFamily="34" charset="-120"/>
              </a:rPr>
              <a:t>15,158</a:t>
            </a:r>
            <a:endParaRPr lang="en-US" sz="950" dirty="0"/>
          </a:p>
        </p:txBody>
      </p:sp>
      <p:sp>
        <p:nvSpPr>
          <p:cNvPr id="43" name="Text 39"/>
          <p:cNvSpPr txBox="1"/>
          <p:nvPr/>
        </p:nvSpPr>
        <p:spPr>
          <a:xfrm>
            <a:off x="4160520" y="5989320"/>
            <a:ext cx="7482535" cy="2286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ASP = automotive revenue ÷ wholesale vehicles sold. The ASP effect is price plus model mix, options and FX, not pure pricing.</a:t>
            </a:r>
            <a:endParaRPr lang="en-US" sz="950" dirty="0"/>
          </a:p>
        </p:txBody>
      </p:sp>
      <p:sp>
        <p:nvSpPr>
          <p:cNvPr id="44" name="Text 40"/>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45" name="Text 41"/>
          <p:cNvSpPr txBox="1"/>
          <p:nvPr/>
        </p:nvSpPr>
        <p:spPr>
          <a:xfrm>
            <a:off x="4754880" y="6473952"/>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Source: Porsche AG public disclosures; project analysis. € million unless stated.</a:t>
            </a:r>
            <a:endParaRPr lang="en-US" sz="850" dirty="0"/>
          </a:p>
        </p:txBody>
      </p:sp>
      <p:sp>
        <p:nvSpPr>
          <p:cNvPr id="46" name="Text 42"/>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08</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Delivery mix</a:t>
            </a:r>
            <a:endParaRPr lang="en-US" sz="1200" dirty="0"/>
          </a:p>
        </p:txBody>
      </p:sp>
      <p:sp>
        <p:nvSpPr>
          <p:cNvPr id="5" name="Text 3"/>
          <p:cNvSpPr txBox="1"/>
          <p:nvPr/>
        </p:nvSpPr>
        <p:spPr>
          <a:xfrm>
            <a:off x="548640" y="731520"/>
            <a:ext cx="822960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DELIVERIES SHIFTED TOWARDS THE 911 AND THE CAYENNE.</a:t>
            </a:r>
            <a:endParaRPr lang="en-US" sz="3000" dirty="0"/>
          </a:p>
        </p:txBody>
      </p:sp>
      <p:pic>
        <p:nvPicPr>
          <p:cNvPr id="6" name="Image 0" descr="Slide artwork">    </p:cNvPr>
          <p:cNvPicPr>
            <a:picLocks noChangeAspect="1"/>
          </p:cNvPicPr>
          <p:nvPr/>
        </p:nvPicPr>
        <p:blipFill>
          <a:blip r:embed="rId2"/>
          <a:stretch>
            <a:fillRect/>
          </a:stretch>
        </p:blipFill>
        <p:spPr>
          <a:xfrm>
            <a:off x="512064" y="1700784"/>
            <a:ext cx="2178218" cy="329184"/>
          </a:xfrm>
          <a:prstGeom prst="rect">
            <a:avLst/>
          </a:prstGeom>
        </p:spPr>
      </p:pic>
      <p:sp>
        <p:nvSpPr>
          <p:cNvPr id="7" name="Text 4"/>
          <p:cNvSpPr txBox="1"/>
          <p:nvPr/>
        </p:nvSpPr>
        <p:spPr>
          <a:xfrm>
            <a:off x="548640" y="2148840"/>
            <a:ext cx="5349240" cy="256032"/>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By model, share of retail deliveries</a:t>
            </a:r>
            <a:endParaRPr lang="en-US" sz="1200" dirty="0"/>
          </a:p>
        </p:txBody>
      </p:sp>
      <p:graphicFrame>
        <p:nvGraphicFramePr>
          <p:cNvPr id="8" name="Chart 0" descr=""/>
          <p:cNvGraphicFramePr/>
          <p:nvPr/>
        </p:nvGraphicFramePr>
        <p:xfrm>
          <a:off x="457200" y="2395728"/>
          <a:ext cx="5440680" cy="2880360"/>
        </p:xfrm>
        <a:graphic xmlns:a="http://schemas.openxmlformats.org/drawingml/2006/main">
          <a:graphicData uri="http://schemas.openxmlformats.org/drawingml/2006/chart">
            <c:chart xmlns:c="http://schemas.openxmlformats.org/drawingml/2006/chart" r:id="rId3"/>
          </a:graphicData>
        </a:graphic>
      </p:graphicFrame>
      <p:sp>
        <p:nvSpPr>
          <p:cNvPr id="9" name="Text 5"/>
          <p:cNvSpPr txBox="1"/>
          <p:nvPr/>
        </p:nvSpPr>
        <p:spPr>
          <a:xfrm>
            <a:off x="6355080" y="2148840"/>
            <a:ext cx="5285232" cy="256032"/>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By region, share of retail deliveries</a:t>
            </a:r>
            <a:endParaRPr lang="en-US" sz="1200" dirty="0"/>
          </a:p>
        </p:txBody>
      </p:sp>
      <p:graphicFrame>
        <p:nvGraphicFramePr>
          <p:cNvPr id="10" name="Chart 1" descr=""/>
          <p:cNvGraphicFramePr/>
          <p:nvPr/>
        </p:nvGraphicFramePr>
        <p:xfrm>
          <a:off x="6263640" y="2395728"/>
          <a:ext cx="5376672" cy="2880360"/>
        </p:xfrm>
        <a:graphic xmlns:a="http://schemas.openxmlformats.org/drawingml/2006/main">
          <a:graphicData uri="http://schemas.openxmlformats.org/drawingml/2006/chart">
            <c:chart xmlns:c="http://schemas.openxmlformats.org/drawingml/2006/chart" r:id="rId4"/>
          </a:graphicData>
        </a:graphic>
      </p:graphicFrame>
      <p:sp>
        <p:nvSpPr>
          <p:cNvPr id="11" name="Shape 6"/>
          <p:cNvSpPr/>
          <p:nvPr/>
        </p:nvSpPr>
        <p:spPr>
          <a:xfrm>
            <a:off x="548640" y="5394960"/>
            <a:ext cx="2636444" cy="841248"/>
          </a:xfrm>
          <a:prstGeom prst="roundRect">
            <a:avLst>
              <a:gd name="adj" fmla="val 6522"/>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2" name="Text 7"/>
          <p:cNvSpPr txBox="1"/>
          <p:nvPr/>
        </p:nvSpPr>
        <p:spPr>
          <a:xfrm>
            <a:off x="713232" y="5468112"/>
            <a:ext cx="2307260" cy="201168"/>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911</a:t>
            </a:r>
            <a:endParaRPr lang="en-US" sz="1000" dirty="0"/>
          </a:p>
        </p:txBody>
      </p:sp>
      <p:sp>
        <p:nvSpPr>
          <p:cNvPr id="13" name="Text 8"/>
          <p:cNvSpPr txBox="1"/>
          <p:nvPr/>
        </p:nvSpPr>
        <p:spPr>
          <a:xfrm>
            <a:off x="713232" y="5669280"/>
            <a:ext cx="1188720" cy="457200"/>
          </a:xfrm>
          <a:prstGeom prst="rect">
            <a:avLst/>
          </a:prstGeom>
          <a:noFill/>
          <a:ln/>
        </p:spPr>
        <p:txBody>
          <a:bodyPr wrap="square" lIns="0" tIns="0" rIns="0" bIns="0" rtlCol="0" anchor="t"/>
          <a:lstStyle/>
          <a:p>
            <a:pPr indent="0" marL="0">
              <a:buNone/>
            </a:pPr>
            <a:r>
              <a:rPr lang="en-US" sz="2400" b="1" dirty="0">
                <a:solidFill>
                  <a:srgbClr val="EEE6E2"/>
                </a:solidFill>
                <a:latin typeface="Calibri" pitchFamily="34" charset="0"/>
                <a:ea typeface="Calibri" pitchFamily="34" charset="-122"/>
                <a:cs typeface="Calibri" pitchFamily="34" charset="-120"/>
              </a:rPr>
              <a:t>25.0%</a:t>
            </a:r>
            <a:endParaRPr lang="en-US" sz="2400" dirty="0"/>
          </a:p>
        </p:txBody>
      </p:sp>
      <p:sp>
        <p:nvSpPr>
          <p:cNvPr id="14" name="Text 9"/>
          <p:cNvSpPr txBox="1"/>
          <p:nvPr/>
        </p:nvSpPr>
        <p:spPr>
          <a:xfrm>
            <a:off x="1874520" y="5715000"/>
            <a:ext cx="1173404" cy="411480"/>
          </a:xfrm>
          <a:prstGeom prst="rect">
            <a:avLst/>
          </a:prstGeom>
          <a:noFill/>
          <a:ln/>
        </p:spPr>
        <p:txBody>
          <a:bodyPr wrap="square" lIns="0" tIns="0" rIns="0" bIns="0" rtlCol="0" anchor="ctr"/>
          <a:lstStyle/>
          <a:p>
            <a:pPr indent="0" marL="0">
              <a:buNone/>
            </a:pPr>
            <a:r>
              <a:rPr lang="en-US" sz="950" dirty="0">
                <a:solidFill>
                  <a:srgbClr val="EEE6E2"/>
                </a:solidFill>
                <a:latin typeface="Calibri" pitchFamily="34" charset="0"/>
                <a:ea typeface="Calibri" pitchFamily="34" charset="-122"/>
                <a:cs typeface="Calibri" pitchFamily="34" charset="-120"/>
              </a:rPr>
              <a:t>+7.5 pp vs H1 2025</a:t>
            </a:r>
            <a:endParaRPr lang="en-US" sz="950" dirty="0"/>
          </a:p>
        </p:txBody>
      </p:sp>
      <p:sp>
        <p:nvSpPr>
          <p:cNvPr id="15" name="Shape 10"/>
          <p:cNvSpPr/>
          <p:nvPr/>
        </p:nvSpPr>
        <p:spPr>
          <a:xfrm>
            <a:off x="3367964" y="5394960"/>
            <a:ext cx="2636444" cy="841248"/>
          </a:xfrm>
          <a:prstGeom prst="roundRect">
            <a:avLst>
              <a:gd name="adj" fmla="val 6522"/>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6" name="Text 11"/>
          <p:cNvSpPr txBox="1"/>
          <p:nvPr/>
        </p:nvSpPr>
        <p:spPr>
          <a:xfrm>
            <a:off x="3532556" y="5468112"/>
            <a:ext cx="2307260" cy="201168"/>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Cayenne</a:t>
            </a:r>
            <a:endParaRPr lang="en-US" sz="1000" dirty="0"/>
          </a:p>
        </p:txBody>
      </p:sp>
      <p:sp>
        <p:nvSpPr>
          <p:cNvPr id="17" name="Text 12"/>
          <p:cNvSpPr txBox="1"/>
          <p:nvPr/>
        </p:nvSpPr>
        <p:spPr>
          <a:xfrm>
            <a:off x="3532556" y="5669280"/>
            <a:ext cx="1188720" cy="457200"/>
          </a:xfrm>
          <a:prstGeom prst="rect">
            <a:avLst/>
          </a:prstGeom>
          <a:noFill/>
          <a:ln/>
        </p:spPr>
        <p:txBody>
          <a:bodyPr wrap="square" lIns="0" tIns="0" rIns="0" bIns="0" rtlCol="0" anchor="t"/>
          <a:lstStyle/>
          <a:p>
            <a:pPr indent="0" marL="0">
              <a:buNone/>
            </a:pPr>
            <a:r>
              <a:rPr lang="en-US" sz="2400" b="1" dirty="0">
                <a:solidFill>
                  <a:srgbClr val="EEE6E2"/>
                </a:solidFill>
                <a:latin typeface="Calibri" pitchFamily="34" charset="0"/>
                <a:ea typeface="Calibri" pitchFamily="34" charset="-122"/>
                <a:cs typeface="Calibri" pitchFamily="34" charset="-120"/>
              </a:rPr>
              <a:t>31.2%</a:t>
            </a:r>
            <a:endParaRPr lang="en-US" sz="2400" dirty="0"/>
          </a:p>
        </p:txBody>
      </p:sp>
      <p:sp>
        <p:nvSpPr>
          <p:cNvPr id="18" name="Text 13"/>
          <p:cNvSpPr txBox="1"/>
          <p:nvPr/>
        </p:nvSpPr>
        <p:spPr>
          <a:xfrm>
            <a:off x="4693844" y="5715000"/>
            <a:ext cx="1173404" cy="411480"/>
          </a:xfrm>
          <a:prstGeom prst="rect">
            <a:avLst/>
          </a:prstGeom>
          <a:noFill/>
          <a:ln/>
        </p:spPr>
        <p:txBody>
          <a:bodyPr wrap="square" lIns="0" tIns="0" rIns="0" bIns="0" rtlCol="0" anchor="ctr"/>
          <a:lstStyle/>
          <a:p>
            <a:pPr indent="0" marL="0">
              <a:buNone/>
            </a:pPr>
            <a:r>
              <a:rPr lang="en-US" sz="950" dirty="0">
                <a:solidFill>
                  <a:srgbClr val="EEE6E2"/>
                </a:solidFill>
                <a:latin typeface="Calibri" pitchFamily="34" charset="0"/>
                <a:ea typeface="Calibri" pitchFamily="34" charset="-122"/>
                <a:cs typeface="Calibri" pitchFamily="34" charset="-120"/>
              </a:rPr>
              <a:t>+2.6 pp</a:t>
            </a:r>
            <a:endParaRPr lang="en-US" sz="950" dirty="0"/>
          </a:p>
        </p:txBody>
      </p:sp>
      <p:sp>
        <p:nvSpPr>
          <p:cNvPr id="19" name="Shape 14"/>
          <p:cNvSpPr/>
          <p:nvPr/>
        </p:nvSpPr>
        <p:spPr>
          <a:xfrm>
            <a:off x="6187288" y="5394960"/>
            <a:ext cx="2636444" cy="841248"/>
          </a:xfrm>
          <a:prstGeom prst="roundRect">
            <a:avLst>
              <a:gd name="adj" fmla="val 6522"/>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0" name="Text 15"/>
          <p:cNvSpPr txBox="1"/>
          <p:nvPr/>
        </p:nvSpPr>
        <p:spPr>
          <a:xfrm>
            <a:off x="6351880" y="5468112"/>
            <a:ext cx="2307260" cy="201168"/>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718 Boxster/Cayman</a:t>
            </a:r>
            <a:endParaRPr lang="en-US" sz="1000" dirty="0"/>
          </a:p>
        </p:txBody>
      </p:sp>
      <p:sp>
        <p:nvSpPr>
          <p:cNvPr id="21" name="Text 16"/>
          <p:cNvSpPr txBox="1"/>
          <p:nvPr/>
        </p:nvSpPr>
        <p:spPr>
          <a:xfrm>
            <a:off x="6351880" y="5669280"/>
            <a:ext cx="1188720" cy="457200"/>
          </a:xfrm>
          <a:prstGeom prst="rect">
            <a:avLst/>
          </a:prstGeom>
          <a:noFill/>
          <a:ln/>
        </p:spPr>
        <p:txBody>
          <a:bodyPr wrap="square" lIns="0" tIns="0" rIns="0" bIns="0" rtlCol="0" anchor="t"/>
          <a:lstStyle/>
          <a:p>
            <a:pPr indent="0" marL="0">
              <a:buNone/>
            </a:pPr>
            <a:r>
              <a:rPr lang="en-US" sz="2400" b="1" dirty="0">
                <a:solidFill>
                  <a:srgbClr val="EEE6E2"/>
                </a:solidFill>
                <a:latin typeface="Calibri" pitchFamily="34" charset="0"/>
                <a:ea typeface="Calibri" pitchFamily="34" charset="-122"/>
                <a:cs typeface="Calibri" pitchFamily="34" charset="-120"/>
              </a:rPr>
              <a:t>2.3%</a:t>
            </a:r>
            <a:endParaRPr lang="en-US" sz="2400" dirty="0"/>
          </a:p>
        </p:txBody>
      </p:sp>
      <p:sp>
        <p:nvSpPr>
          <p:cNvPr id="22" name="Text 17"/>
          <p:cNvSpPr txBox="1"/>
          <p:nvPr/>
        </p:nvSpPr>
        <p:spPr>
          <a:xfrm>
            <a:off x="7513168" y="5715000"/>
            <a:ext cx="1173404" cy="411480"/>
          </a:xfrm>
          <a:prstGeom prst="rect">
            <a:avLst/>
          </a:prstGeom>
          <a:noFill/>
          <a:ln/>
        </p:spPr>
        <p:txBody>
          <a:bodyPr wrap="square" lIns="0" tIns="0" rIns="0" bIns="0" rtlCol="0" anchor="ctr"/>
          <a:lstStyle/>
          <a:p>
            <a:pPr indent="0" marL="0">
              <a:buNone/>
            </a:pPr>
            <a:r>
              <a:rPr lang="en-US" sz="950" dirty="0">
                <a:solidFill>
                  <a:srgbClr val="FF4252"/>
                </a:solidFill>
                <a:latin typeface="Calibri" pitchFamily="34" charset="0"/>
                <a:ea typeface="Calibri" pitchFamily="34" charset="-122"/>
                <a:cs typeface="Calibri" pitchFamily="34" charset="-120"/>
              </a:rPr>
              <a:t>−4.9 pp, as production ended</a:t>
            </a:r>
            <a:endParaRPr lang="en-US" sz="950" dirty="0"/>
          </a:p>
        </p:txBody>
      </p:sp>
      <p:sp>
        <p:nvSpPr>
          <p:cNvPr id="23" name="Shape 18"/>
          <p:cNvSpPr/>
          <p:nvPr/>
        </p:nvSpPr>
        <p:spPr>
          <a:xfrm>
            <a:off x="9006611" y="5394960"/>
            <a:ext cx="2636444" cy="841248"/>
          </a:xfrm>
          <a:prstGeom prst="roundRect">
            <a:avLst>
              <a:gd name="adj" fmla="val 6522"/>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4" name="Text 19"/>
          <p:cNvSpPr txBox="1"/>
          <p:nvPr/>
        </p:nvSpPr>
        <p:spPr>
          <a:xfrm>
            <a:off x="9171203" y="5468112"/>
            <a:ext cx="2307260" cy="201168"/>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China</a:t>
            </a:r>
            <a:endParaRPr lang="en-US" sz="1000" dirty="0"/>
          </a:p>
        </p:txBody>
      </p:sp>
      <p:sp>
        <p:nvSpPr>
          <p:cNvPr id="25" name="Text 20"/>
          <p:cNvSpPr txBox="1"/>
          <p:nvPr/>
        </p:nvSpPr>
        <p:spPr>
          <a:xfrm>
            <a:off x="9171203" y="5669280"/>
            <a:ext cx="1188720" cy="457200"/>
          </a:xfrm>
          <a:prstGeom prst="rect">
            <a:avLst/>
          </a:prstGeom>
          <a:noFill/>
          <a:ln/>
        </p:spPr>
        <p:txBody>
          <a:bodyPr wrap="square" lIns="0" tIns="0" rIns="0" bIns="0" rtlCol="0" anchor="t"/>
          <a:lstStyle/>
          <a:p>
            <a:pPr indent="0" marL="0">
              <a:buNone/>
            </a:pPr>
            <a:r>
              <a:rPr lang="en-US" sz="2400" b="1" dirty="0">
                <a:solidFill>
                  <a:srgbClr val="EEE6E2"/>
                </a:solidFill>
                <a:latin typeface="Calibri" pitchFamily="34" charset="0"/>
                <a:ea typeface="Calibri" pitchFamily="34" charset="-122"/>
                <a:cs typeface="Calibri" pitchFamily="34" charset="-120"/>
              </a:rPr>
              <a:t>11.9%</a:t>
            </a:r>
            <a:endParaRPr lang="en-US" sz="2400" dirty="0"/>
          </a:p>
        </p:txBody>
      </p:sp>
      <p:sp>
        <p:nvSpPr>
          <p:cNvPr id="26" name="Text 21"/>
          <p:cNvSpPr txBox="1"/>
          <p:nvPr/>
        </p:nvSpPr>
        <p:spPr>
          <a:xfrm>
            <a:off x="10332491" y="5715000"/>
            <a:ext cx="1173404" cy="411480"/>
          </a:xfrm>
          <a:prstGeom prst="rect">
            <a:avLst/>
          </a:prstGeom>
          <a:noFill/>
          <a:ln/>
        </p:spPr>
        <p:txBody>
          <a:bodyPr wrap="square" lIns="0" tIns="0" rIns="0" bIns="0" rtlCol="0" anchor="ctr"/>
          <a:lstStyle/>
          <a:p>
            <a:pPr indent="0" marL="0">
              <a:buNone/>
            </a:pPr>
            <a:r>
              <a:rPr lang="en-US" sz="950" dirty="0">
                <a:solidFill>
                  <a:srgbClr val="FF4252"/>
                </a:solidFill>
                <a:latin typeface="Calibri" pitchFamily="34" charset="0"/>
                <a:ea typeface="Calibri" pitchFamily="34" charset="-122"/>
                <a:cs typeface="Calibri" pitchFamily="34" charset="-120"/>
              </a:rPr>
              <a:t>−2.7 pp</a:t>
            </a:r>
            <a:endParaRPr lang="en-US" sz="950" dirty="0"/>
          </a:p>
        </p:txBody>
      </p:sp>
      <p:sp>
        <p:nvSpPr>
          <p:cNvPr id="27" name="Text 22"/>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28" name="Text 23"/>
          <p:cNvSpPr txBox="1"/>
          <p:nvPr/>
        </p:nvSpPr>
        <p:spPr>
          <a:xfrm>
            <a:off x="4754880" y="6473952"/>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Retail deliveries (122,306 in H1 2026) are not the wholesale units that drive revenue.</a:t>
            </a:r>
            <a:endParaRPr lang="en-US" sz="850" dirty="0"/>
          </a:p>
        </p:txBody>
      </p:sp>
      <p:sp>
        <p:nvSpPr>
          <p:cNvPr id="29" name="Text 24"/>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09</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Cash performance</a:t>
            </a:r>
            <a:endParaRPr lang="en-US" sz="1200" dirty="0"/>
          </a:p>
        </p:txBody>
      </p:sp>
      <p:sp>
        <p:nvSpPr>
          <p:cNvPr id="5" name="Text 3"/>
          <p:cNvSpPr txBox="1"/>
          <p:nvPr/>
        </p:nvSpPr>
        <p:spPr>
          <a:xfrm>
            <a:off x="548640" y="731520"/>
            <a:ext cx="749808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CASH IS THE CLEARLY POSITIVE SIGNAL.</a:t>
            </a:r>
            <a:endParaRPr lang="en-US" sz="3000" dirty="0"/>
          </a:p>
        </p:txBody>
      </p:sp>
      <p:pic>
        <p:nvPicPr>
          <p:cNvPr id="6" name="Image 0" descr="Slide artwork">    </p:cNvPr>
          <p:cNvPicPr>
            <a:picLocks noChangeAspect="1"/>
          </p:cNvPicPr>
          <p:nvPr/>
        </p:nvPicPr>
        <p:blipFill>
          <a:blip r:embed="rId2"/>
          <a:stretch>
            <a:fillRect/>
          </a:stretch>
        </p:blipFill>
        <p:spPr>
          <a:xfrm>
            <a:off x="512064" y="1298448"/>
            <a:ext cx="1645920" cy="329184"/>
          </a:xfrm>
          <a:prstGeom prst="rect">
            <a:avLst/>
          </a:prstGeom>
        </p:spPr>
      </p:pic>
      <p:sp>
        <p:nvSpPr>
          <p:cNvPr id="7" name="Text 4"/>
          <p:cNvSpPr txBox="1"/>
          <p:nvPr/>
        </p:nvSpPr>
        <p:spPr>
          <a:xfrm>
            <a:off x="548640" y="1828800"/>
            <a:ext cx="6675120" cy="256032"/>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Automotive EBITDA margin and net cash flow margin, by half-year</a:t>
            </a:r>
            <a:endParaRPr lang="en-US" sz="1200" dirty="0"/>
          </a:p>
        </p:txBody>
      </p:sp>
      <p:graphicFrame>
        <p:nvGraphicFramePr>
          <p:cNvPr id="8" name="Chart 0" descr=""/>
          <p:cNvGraphicFramePr/>
          <p:nvPr/>
        </p:nvGraphicFramePr>
        <p:xfrm>
          <a:off x="457200" y="2103120"/>
          <a:ext cx="6858000" cy="3566160"/>
        </p:xfrm>
        <a:graphic xmlns:a="http://schemas.openxmlformats.org/drawingml/2006/main">
          <a:graphicData uri="http://schemas.openxmlformats.org/drawingml/2006/chart">
            <c:chart xmlns:c="http://schemas.openxmlformats.org/drawingml/2006/chart" r:id="rId3"/>
          </a:graphicData>
        </a:graphic>
      </p:graphicFrame>
      <p:sp>
        <p:nvSpPr>
          <p:cNvPr id="9" name="Text 5"/>
          <p:cNvSpPr txBox="1"/>
          <p:nvPr/>
        </p:nvSpPr>
        <p:spPr>
          <a:xfrm>
            <a:off x="7589520" y="1828800"/>
            <a:ext cx="4053535" cy="256032"/>
          </a:xfrm>
          <a:prstGeom prst="rect">
            <a:avLst/>
          </a:prstGeom>
          <a:noFill/>
          <a:ln/>
        </p:spPr>
        <p:txBody>
          <a:bodyPr wrap="square" lIns="0" tIns="0" rIns="0" bIns="0" rtlCol="0" anchor="t"/>
          <a:lstStyle/>
          <a:p>
            <a:pPr indent="0" marL="0">
              <a:buNone/>
            </a:pPr>
            <a:r>
              <a:rPr lang="en-US" sz="1100" b="1" spc="200" kern="0" dirty="0">
                <a:solidFill>
                  <a:srgbClr val="EEE6E2"/>
                </a:solidFill>
                <a:latin typeface="Calibri" pitchFamily="34" charset="0"/>
                <a:ea typeface="Calibri" pitchFamily="34" charset="-122"/>
                <a:cs typeface="Calibri" pitchFamily="34" charset="-120"/>
              </a:rPr>
              <a:t>ACTUALS, PUBLISHED BY PORSCHE</a:t>
            </a:r>
            <a:endParaRPr lang="en-US" sz="1100" dirty="0"/>
          </a:p>
        </p:txBody>
      </p:sp>
      <p:sp>
        <p:nvSpPr>
          <p:cNvPr id="10" name="Shape 6"/>
          <p:cNvSpPr/>
          <p:nvPr/>
        </p:nvSpPr>
        <p:spPr>
          <a:xfrm>
            <a:off x="7589520" y="2194560"/>
            <a:ext cx="1971904" cy="1078992"/>
          </a:xfrm>
          <a:prstGeom prst="roundRect">
            <a:avLst>
              <a:gd name="adj" fmla="val 5085"/>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1" name="Text 7"/>
          <p:cNvSpPr txBox="1"/>
          <p:nvPr/>
        </p:nvSpPr>
        <p:spPr>
          <a:xfrm>
            <a:off x="7754112" y="2304288"/>
            <a:ext cx="1642720" cy="457200"/>
          </a:xfrm>
          <a:prstGeom prst="rect">
            <a:avLst/>
          </a:prstGeom>
          <a:noFill/>
          <a:ln/>
        </p:spPr>
        <p:txBody>
          <a:bodyPr wrap="square" lIns="0" tIns="0" rIns="0" bIns="0" rtlCol="0" anchor="t"/>
          <a:lstStyle/>
          <a:p>
            <a:pPr indent="0" marL="0">
              <a:buNone/>
            </a:pPr>
            <a:r>
              <a:rPr lang="en-US" sz="2600" b="1" dirty="0">
                <a:solidFill>
                  <a:srgbClr val="EEE6E2"/>
                </a:solidFill>
                <a:latin typeface="Calibri" pitchFamily="34" charset="0"/>
                <a:ea typeface="Calibri" pitchFamily="34" charset="-122"/>
                <a:cs typeface="Calibri" pitchFamily="34" charset="-120"/>
              </a:rPr>
              <a:t>€1,020m</a:t>
            </a:r>
            <a:endParaRPr lang="en-US" sz="2600" dirty="0"/>
          </a:p>
        </p:txBody>
      </p:sp>
      <p:sp>
        <p:nvSpPr>
          <p:cNvPr id="12" name="Text 8"/>
          <p:cNvSpPr txBox="1"/>
          <p:nvPr/>
        </p:nvSpPr>
        <p:spPr>
          <a:xfrm>
            <a:off x="7754112" y="2798064"/>
            <a:ext cx="1642720" cy="41148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Automotive net cash flow, H1 2026</a:t>
            </a:r>
            <a:endParaRPr lang="en-US" sz="950" dirty="0"/>
          </a:p>
        </p:txBody>
      </p:sp>
      <p:sp>
        <p:nvSpPr>
          <p:cNvPr id="13" name="Shape 9"/>
          <p:cNvSpPr/>
          <p:nvPr/>
        </p:nvSpPr>
        <p:spPr>
          <a:xfrm>
            <a:off x="9671152" y="2194560"/>
            <a:ext cx="1971904" cy="1078992"/>
          </a:xfrm>
          <a:prstGeom prst="roundRect">
            <a:avLst>
              <a:gd name="adj" fmla="val 5085"/>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4" name="Text 10"/>
          <p:cNvSpPr txBox="1"/>
          <p:nvPr/>
        </p:nvSpPr>
        <p:spPr>
          <a:xfrm>
            <a:off x="9835744" y="2304288"/>
            <a:ext cx="1642720" cy="457200"/>
          </a:xfrm>
          <a:prstGeom prst="rect">
            <a:avLst/>
          </a:prstGeom>
          <a:noFill/>
          <a:ln/>
        </p:spPr>
        <p:txBody>
          <a:bodyPr wrap="square" lIns="0" tIns="0" rIns="0" bIns="0" rtlCol="0" anchor="t"/>
          <a:lstStyle/>
          <a:p>
            <a:pPr indent="0" marL="0">
              <a:buNone/>
            </a:pPr>
            <a:r>
              <a:rPr lang="en-US" sz="2600" b="1" dirty="0">
                <a:solidFill>
                  <a:srgbClr val="D5001C"/>
                </a:solidFill>
                <a:latin typeface="Calibri" pitchFamily="34" charset="0"/>
                <a:ea typeface="Calibri" pitchFamily="34" charset="-122"/>
                <a:cs typeface="Calibri" pitchFamily="34" charset="-120"/>
              </a:rPr>
              <a:t>6.7%</a:t>
            </a:r>
            <a:endParaRPr lang="en-US" sz="2600" dirty="0"/>
          </a:p>
        </p:txBody>
      </p:sp>
      <p:sp>
        <p:nvSpPr>
          <p:cNvPr id="15" name="Text 11"/>
          <p:cNvSpPr txBox="1"/>
          <p:nvPr/>
        </p:nvSpPr>
        <p:spPr>
          <a:xfrm>
            <a:off x="9835744" y="2798064"/>
            <a:ext cx="1642720" cy="41148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NCF margin, +4.3 pp vs 2.4%</a:t>
            </a:r>
            <a:endParaRPr lang="en-US" sz="950" dirty="0"/>
          </a:p>
        </p:txBody>
      </p:sp>
      <p:sp>
        <p:nvSpPr>
          <p:cNvPr id="16" name="Shape 12"/>
          <p:cNvSpPr/>
          <p:nvPr/>
        </p:nvSpPr>
        <p:spPr>
          <a:xfrm>
            <a:off x="7589520" y="3401568"/>
            <a:ext cx="1971904" cy="1078992"/>
          </a:xfrm>
          <a:prstGeom prst="roundRect">
            <a:avLst>
              <a:gd name="adj" fmla="val 5085"/>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7" name="Text 13"/>
          <p:cNvSpPr txBox="1"/>
          <p:nvPr/>
        </p:nvSpPr>
        <p:spPr>
          <a:xfrm>
            <a:off x="7754112" y="3511296"/>
            <a:ext cx="1642720" cy="457200"/>
          </a:xfrm>
          <a:prstGeom prst="rect">
            <a:avLst/>
          </a:prstGeom>
          <a:noFill/>
          <a:ln/>
        </p:spPr>
        <p:txBody>
          <a:bodyPr wrap="square" lIns="0" tIns="0" rIns="0" bIns="0" rtlCol="0" anchor="t"/>
          <a:lstStyle/>
          <a:p>
            <a:pPr indent="0" marL="0">
              <a:buNone/>
            </a:pPr>
            <a:r>
              <a:rPr lang="en-US" sz="2600" b="1" dirty="0">
                <a:solidFill>
                  <a:srgbClr val="EEE6E2"/>
                </a:solidFill>
                <a:latin typeface="Calibri" pitchFamily="34" charset="0"/>
                <a:ea typeface="Calibri" pitchFamily="34" charset="-122"/>
                <a:cs typeface="Calibri" pitchFamily="34" charset="-120"/>
              </a:rPr>
              <a:t>0.88</a:t>
            </a:r>
            <a:endParaRPr lang="en-US" sz="2600" dirty="0"/>
          </a:p>
        </p:txBody>
      </p:sp>
      <p:sp>
        <p:nvSpPr>
          <p:cNvPr id="18" name="Text 14"/>
          <p:cNvSpPr txBox="1"/>
          <p:nvPr/>
        </p:nvSpPr>
        <p:spPr>
          <a:xfrm>
            <a:off x="7754112" y="4005072"/>
            <a:ext cx="1642720" cy="41148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Cash from operations ÷ EBITDA</a:t>
            </a:r>
            <a:endParaRPr lang="en-US" sz="950" dirty="0"/>
          </a:p>
        </p:txBody>
      </p:sp>
      <p:sp>
        <p:nvSpPr>
          <p:cNvPr id="19" name="Shape 15"/>
          <p:cNvSpPr/>
          <p:nvPr/>
        </p:nvSpPr>
        <p:spPr>
          <a:xfrm>
            <a:off x="9671152" y="3401568"/>
            <a:ext cx="1971904" cy="1078992"/>
          </a:xfrm>
          <a:prstGeom prst="roundRect">
            <a:avLst>
              <a:gd name="adj" fmla="val 5085"/>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0" name="Text 16"/>
          <p:cNvSpPr txBox="1"/>
          <p:nvPr/>
        </p:nvSpPr>
        <p:spPr>
          <a:xfrm>
            <a:off x="9835744" y="3511296"/>
            <a:ext cx="1642720" cy="457200"/>
          </a:xfrm>
          <a:prstGeom prst="rect">
            <a:avLst/>
          </a:prstGeom>
          <a:noFill/>
          <a:ln/>
        </p:spPr>
        <p:txBody>
          <a:bodyPr wrap="square" lIns="0" tIns="0" rIns="0" bIns="0" rtlCol="0" anchor="t"/>
          <a:lstStyle/>
          <a:p>
            <a:pPr indent="0" marL="0">
              <a:buNone/>
            </a:pPr>
            <a:r>
              <a:rPr lang="en-US" sz="2600" b="1" dirty="0">
                <a:solidFill>
                  <a:srgbClr val="EEE6E2"/>
                </a:solidFill>
                <a:latin typeface="Calibri" pitchFamily="34" charset="0"/>
                <a:ea typeface="Calibri" pitchFamily="34" charset="-122"/>
                <a:cs typeface="Calibri" pitchFamily="34" charset="-120"/>
              </a:rPr>
              <a:t>€1,374m</a:t>
            </a:r>
            <a:endParaRPr lang="en-US" sz="2600" dirty="0"/>
          </a:p>
        </p:txBody>
      </p:sp>
      <p:sp>
        <p:nvSpPr>
          <p:cNvPr id="21" name="Text 17"/>
          <p:cNvSpPr txBox="1"/>
          <p:nvPr/>
        </p:nvSpPr>
        <p:spPr>
          <a:xfrm>
            <a:off x="9835744" y="4005072"/>
            <a:ext cx="1642720" cy="41148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Simple cash proxy: EBITDA − capex − capitalised development</a:t>
            </a:r>
            <a:endParaRPr lang="en-US" sz="950" dirty="0"/>
          </a:p>
        </p:txBody>
      </p:sp>
      <p:sp>
        <p:nvSpPr>
          <p:cNvPr id="22" name="Shape 18"/>
          <p:cNvSpPr/>
          <p:nvPr/>
        </p:nvSpPr>
        <p:spPr>
          <a:xfrm>
            <a:off x="7589520" y="4709160"/>
            <a:ext cx="4053535" cy="960120"/>
          </a:xfrm>
          <a:prstGeom prst="roundRect">
            <a:avLst>
              <a:gd name="adj" fmla="val 5714"/>
            </a:avLst>
          </a:prstGeom>
          <a:solidFill>
            <a:srgbClr val="0E0708"/>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3" name="Text 19"/>
          <p:cNvSpPr txBox="1"/>
          <p:nvPr/>
        </p:nvSpPr>
        <p:spPr>
          <a:xfrm>
            <a:off x="7754112" y="4800600"/>
            <a:ext cx="3724351" cy="777240"/>
          </a:xfrm>
          <a:prstGeom prst="rect">
            <a:avLst/>
          </a:prstGeom>
          <a:noFill/>
          <a:ln/>
        </p:spPr>
        <p:txBody>
          <a:bodyPr wrap="square" lIns="0" tIns="0" rIns="0" bIns="0" rtlCol="0" anchor="ctr"/>
          <a:lstStyle/>
          <a:p>
            <a:pPr indent="0" marL="0">
              <a:buNone/>
            </a:pPr>
            <a:r>
              <a:rPr lang="en-US" sz="1000" b="1" dirty="0">
                <a:solidFill>
                  <a:srgbClr val="EEE6E2"/>
                </a:solidFill>
                <a:latin typeface="Calibri" pitchFamily="34" charset="0"/>
                <a:ea typeface="Calibri" pitchFamily="34" charset="-122"/>
                <a:cs typeface="Calibri" pitchFamily="34" charset="-120"/>
              </a:rPr>
              <a:t>Porsche's commentary: </a:t>
            </a:r>
            <a:pPr indent="0" marL="0">
              <a:buNone/>
            </a:pPr>
            <a:r>
              <a:rPr lang="en-US" sz="1000" dirty="0">
                <a:solidFill>
                  <a:srgbClr val="9C8F8E"/>
                </a:solidFill>
                <a:latin typeface="Calibri" pitchFamily="34" charset="0"/>
                <a:ea typeface="Calibri" pitchFamily="34" charset="-122"/>
                <a:cs typeface="Calibri" pitchFamily="34" charset="-120"/>
              </a:rPr>
              <a:t>net cash flow improved despite ~€0.4bn of cash-outs (first Audi licence tranche, realignment) and ~€0.3bn additional pension funding (S016, slide 13).</a:t>
            </a:r>
            <a:endParaRPr lang="en-US" sz="1000" dirty="0"/>
          </a:p>
        </p:txBody>
      </p:sp>
      <p:sp>
        <p:nvSpPr>
          <p:cNvPr id="24" name="Text 20"/>
          <p:cNvSpPr txBox="1"/>
          <p:nvPr/>
        </p:nvSpPr>
        <p:spPr>
          <a:xfrm>
            <a:off x="548640" y="5760720"/>
            <a:ext cx="6675120" cy="2286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Automotive EBITDA margin 18.3% in H1 2026. NCF margin = automotive net cash flow ÷ automotive revenue. H2 = FY − H1.</a:t>
            </a:r>
            <a:endParaRPr lang="en-US" sz="950" dirty="0"/>
          </a:p>
        </p:txBody>
      </p:sp>
      <p:sp>
        <p:nvSpPr>
          <p:cNvPr id="25" name="Text 21"/>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26" name="Text 22"/>
          <p:cNvSpPr txBox="1"/>
          <p:nvPr/>
        </p:nvSpPr>
        <p:spPr>
          <a:xfrm>
            <a:off x="4754880" y="6473952"/>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Source: Porsche AG public disclosures; project analysis. € million unless stated.</a:t>
            </a:r>
            <a:endParaRPr lang="en-US" sz="850" dirty="0"/>
          </a:p>
        </p:txBody>
      </p:sp>
      <p:sp>
        <p:nvSpPr>
          <p:cNvPr id="27" name="Text 23"/>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10</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H2 guidance and scenario analysis</a:t>
            </a:r>
            <a:endParaRPr lang="en-US" sz="1200" dirty="0"/>
          </a:p>
        </p:txBody>
      </p:sp>
      <p:sp>
        <p:nvSpPr>
          <p:cNvPr id="5" name="Text 3"/>
          <p:cNvSpPr txBox="1"/>
          <p:nvPr/>
        </p:nvSpPr>
        <p:spPr>
          <a:xfrm>
            <a:off x="548640" y="731520"/>
            <a:ext cx="1106424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ON ITS OWN GUIDANCE, PORSCHE NEEDS A STRONGER H2.</a:t>
            </a:r>
            <a:endParaRPr lang="en-US" sz="3000" dirty="0"/>
          </a:p>
        </p:txBody>
      </p:sp>
      <p:sp>
        <p:nvSpPr>
          <p:cNvPr id="6" name="Shape 4"/>
          <p:cNvSpPr/>
          <p:nvPr/>
        </p:nvSpPr>
        <p:spPr>
          <a:xfrm>
            <a:off x="548640" y="1371600"/>
            <a:ext cx="7315200" cy="420624"/>
          </a:xfrm>
          <a:prstGeom prst="roundRect">
            <a:avLst>
              <a:gd name="adj" fmla="val 13043"/>
            </a:avLst>
          </a:prstGeom>
          <a:solidFill>
            <a:srgbClr val="0C0506"/>
          </a:solidFill>
          <a:ln w="9525">
            <a:solidFill>
              <a:srgbClr val="A08A8C"/>
            </a:solidFill>
            <a:prstDash val="dash"/>
          </a:ln>
        </p:spPr>
      </p:sp>
      <p:sp>
        <p:nvSpPr>
          <p:cNvPr id="7" name="Text 5"/>
          <p:cNvSpPr txBox="1"/>
          <p:nvPr/>
        </p:nvSpPr>
        <p:spPr>
          <a:xfrm>
            <a:off x="731520" y="1371600"/>
            <a:ext cx="6949440" cy="420624"/>
          </a:xfrm>
          <a:prstGeom prst="rect">
            <a:avLst/>
          </a:prstGeom>
          <a:noFill/>
          <a:ln/>
        </p:spPr>
        <p:txBody>
          <a:bodyPr wrap="square" lIns="0" tIns="0" rIns="0" bIns="0" rtlCol="0" anchor="ctr"/>
          <a:lstStyle/>
          <a:p>
            <a:pPr indent="0" marL="0">
              <a:buNone/>
            </a:pPr>
            <a:r>
              <a:rPr lang="en-US" sz="1200" b="1" spc="100" kern="0" dirty="0">
                <a:solidFill>
                  <a:srgbClr val="EEE6E2"/>
                </a:solidFill>
                <a:latin typeface="Calibri" pitchFamily="34" charset="0"/>
                <a:ea typeface="Calibri" pitchFamily="34" charset="-122"/>
                <a:cs typeface="Calibri" pitchFamily="34" charset="-120"/>
              </a:rPr>
              <a:t>SCENARIO ANALYSIS: ARITHMETIC ONLY — NOT FORECASTS — NO PROBABILITIES</a:t>
            </a:r>
            <a:endParaRPr lang="en-US" sz="1200" dirty="0"/>
          </a:p>
        </p:txBody>
      </p:sp>
      <p:sp>
        <p:nvSpPr>
          <p:cNvPr id="8" name="Text 6"/>
          <p:cNvSpPr txBox="1"/>
          <p:nvPr/>
        </p:nvSpPr>
        <p:spPr>
          <a:xfrm>
            <a:off x="548640" y="2011680"/>
            <a:ext cx="7223760" cy="256032"/>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Implied H2 2026 margin across all 27 group combinations</a:t>
            </a:r>
            <a:endParaRPr lang="en-US" sz="1200" dirty="0"/>
          </a:p>
        </p:txBody>
      </p:sp>
      <p:sp>
        <p:nvSpPr>
          <p:cNvPr id="9" name="Shape 7"/>
          <p:cNvSpPr/>
          <p:nvPr/>
        </p:nvSpPr>
        <p:spPr>
          <a:xfrm>
            <a:off x="2240280" y="2423160"/>
            <a:ext cx="0" cy="2148840"/>
          </a:xfrm>
          <a:prstGeom prst="line">
            <a:avLst/>
          </a:prstGeom>
          <a:noFill/>
          <a:ln w="6350">
            <a:solidFill>
              <a:srgbClr val="241A1C"/>
            </a:solidFill>
            <a:prstDash val="solid"/>
          </a:ln>
        </p:spPr>
      </p:sp>
      <p:sp>
        <p:nvSpPr>
          <p:cNvPr id="10" name="Text 8"/>
          <p:cNvSpPr txBox="1"/>
          <p:nvPr/>
        </p:nvSpPr>
        <p:spPr>
          <a:xfrm>
            <a:off x="1965960" y="4617720"/>
            <a:ext cx="548640" cy="182880"/>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2%</a:t>
            </a:r>
            <a:endParaRPr lang="en-US" sz="900" dirty="0"/>
          </a:p>
        </p:txBody>
      </p:sp>
      <p:sp>
        <p:nvSpPr>
          <p:cNvPr id="11" name="Shape 9"/>
          <p:cNvSpPr/>
          <p:nvPr/>
        </p:nvSpPr>
        <p:spPr>
          <a:xfrm>
            <a:off x="3116580" y="2423160"/>
            <a:ext cx="0" cy="2148840"/>
          </a:xfrm>
          <a:prstGeom prst="line">
            <a:avLst/>
          </a:prstGeom>
          <a:noFill/>
          <a:ln w="6350">
            <a:solidFill>
              <a:srgbClr val="241A1C"/>
            </a:solidFill>
            <a:prstDash val="solid"/>
          </a:ln>
        </p:spPr>
      </p:sp>
      <p:sp>
        <p:nvSpPr>
          <p:cNvPr id="12" name="Text 10"/>
          <p:cNvSpPr txBox="1"/>
          <p:nvPr/>
        </p:nvSpPr>
        <p:spPr>
          <a:xfrm>
            <a:off x="2842260" y="4617720"/>
            <a:ext cx="548640" cy="182880"/>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4%</a:t>
            </a:r>
            <a:endParaRPr lang="en-US" sz="900" dirty="0"/>
          </a:p>
        </p:txBody>
      </p:sp>
      <p:sp>
        <p:nvSpPr>
          <p:cNvPr id="13" name="Shape 11"/>
          <p:cNvSpPr/>
          <p:nvPr/>
        </p:nvSpPr>
        <p:spPr>
          <a:xfrm>
            <a:off x="3992880" y="2423160"/>
            <a:ext cx="0" cy="2148840"/>
          </a:xfrm>
          <a:prstGeom prst="line">
            <a:avLst/>
          </a:prstGeom>
          <a:noFill/>
          <a:ln w="6350">
            <a:solidFill>
              <a:srgbClr val="241A1C"/>
            </a:solidFill>
            <a:prstDash val="solid"/>
          </a:ln>
        </p:spPr>
      </p:sp>
      <p:sp>
        <p:nvSpPr>
          <p:cNvPr id="14" name="Text 12"/>
          <p:cNvSpPr txBox="1"/>
          <p:nvPr/>
        </p:nvSpPr>
        <p:spPr>
          <a:xfrm>
            <a:off x="3718560" y="4617720"/>
            <a:ext cx="548640" cy="182880"/>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6%</a:t>
            </a:r>
            <a:endParaRPr lang="en-US" sz="900" dirty="0"/>
          </a:p>
        </p:txBody>
      </p:sp>
      <p:sp>
        <p:nvSpPr>
          <p:cNvPr id="15" name="Shape 13"/>
          <p:cNvSpPr/>
          <p:nvPr/>
        </p:nvSpPr>
        <p:spPr>
          <a:xfrm>
            <a:off x="4869180" y="2423160"/>
            <a:ext cx="0" cy="2148840"/>
          </a:xfrm>
          <a:prstGeom prst="line">
            <a:avLst/>
          </a:prstGeom>
          <a:noFill/>
          <a:ln w="6350">
            <a:solidFill>
              <a:srgbClr val="241A1C"/>
            </a:solidFill>
            <a:prstDash val="solid"/>
          </a:ln>
        </p:spPr>
      </p:sp>
      <p:sp>
        <p:nvSpPr>
          <p:cNvPr id="16" name="Text 14"/>
          <p:cNvSpPr txBox="1"/>
          <p:nvPr/>
        </p:nvSpPr>
        <p:spPr>
          <a:xfrm>
            <a:off x="4594860" y="4617720"/>
            <a:ext cx="548640" cy="182880"/>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8%</a:t>
            </a:r>
            <a:endParaRPr lang="en-US" sz="900" dirty="0"/>
          </a:p>
        </p:txBody>
      </p:sp>
      <p:sp>
        <p:nvSpPr>
          <p:cNvPr id="17" name="Shape 15"/>
          <p:cNvSpPr/>
          <p:nvPr/>
        </p:nvSpPr>
        <p:spPr>
          <a:xfrm>
            <a:off x="5745480" y="2423160"/>
            <a:ext cx="0" cy="2148840"/>
          </a:xfrm>
          <a:prstGeom prst="line">
            <a:avLst/>
          </a:prstGeom>
          <a:noFill/>
          <a:ln w="6350">
            <a:solidFill>
              <a:srgbClr val="241A1C"/>
            </a:solidFill>
            <a:prstDash val="solid"/>
          </a:ln>
        </p:spPr>
      </p:sp>
      <p:sp>
        <p:nvSpPr>
          <p:cNvPr id="18" name="Text 16"/>
          <p:cNvSpPr txBox="1"/>
          <p:nvPr/>
        </p:nvSpPr>
        <p:spPr>
          <a:xfrm>
            <a:off x="5471160" y="4617720"/>
            <a:ext cx="548640" cy="182880"/>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10%</a:t>
            </a:r>
            <a:endParaRPr lang="en-US" sz="900" dirty="0"/>
          </a:p>
        </p:txBody>
      </p:sp>
      <p:sp>
        <p:nvSpPr>
          <p:cNvPr id="19" name="Shape 17"/>
          <p:cNvSpPr/>
          <p:nvPr/>
        </p:nvSpPr>
        <p:spPr>
          <a:xfrm>
            <a:off x="6621780" y="2423160"/>
            <a:ext cx="0" cy="2148840"/>
          </a:xfrm>
          <a:prstGeom prst="line">
            <a:avLst/>
          </a:prstGeom>
          <a:noFill/>
          <a:ln w="6350">
            <a:solidFill>
              <a:srgbClr val="241A1C"/>
            </a:solidFill>
            <a:prstDash val="solid"/>
          </a:ln>
        </p:spPr>
      </p:sp>
      <p:sp>
        <p:nvSpPr>
          <p:cNvPr id="20" name="Text 18"/>
          <p:cNvSpPr txBox="1"/>
          <p:nvPr/>
        </p:nvSpPr>
        <p:spPr>
          <a:xfrm>
            <a:off x="6347460" y="4617720"/>
            <a:ext cx="548640" cy="182880"/>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12%</a:t>
            </a:r>
            <a:endParaRPr lang="en-US" sz="900" dirty="0"/>
          </a:p>
        </p:txBody>
      </p:sp>
      <p:sp>
        <p:nvSpPr>
          <p:cNvPr id="21" name="Shape 19"/>
          <p:cNvSpPr/>
          <p:nvPr/>
        </p:nvSpPr>
        <p:spPr>
          <a:xfrm>
            <a:off x="7498080" y="2423160"/>
            <a:ext cx="0" cy="2148840"/>
          </a:xfrm>
          <a:prstGeom prst="line">
            <a:avLst/>
          </a:prstGeom>
          <a:noFill/>
          <a:ln w="6350">
            <a:solidFill>
              <a:srgbClr val="241A1C"/>
            </a:solidFill>
            <a:prstDash val="solid"/>
          </a:ln>
        </p:spPr>
      </p:sp>
      <p:sp>
        <p:nvSpPr>
          <p:cNvPr id="22" name="Text 20"/>
          <p:cNvSpPr txBox="1"/>
          <p:nvPr/>
        </p:nvSpPr>
        <p:spPr>
          <a:xfrm>
            <a:off x="7223760" y="4617720"/>
            <a:ext cx="548640" cy="182880"/>
          </a:xfrm>
          <a:prstGeom prst="rect">
            <a:avLst/>
          </a:prstGeom>
          <a:noFill/>
          <a:ln/>
        </p:spPr>
        <p:txBody>
          <a:bodyPr wrap="square" lIns="0" tIns="0" rIns="0" bIns="0" rtlCol="0" anchor="t"/>
          <a:lstStyle/>
          <a:p>
            <a:pPr algn="ctr" indent="0" marL="0">
              <a:buNone/>
            </a:pPr>
            <a:r>
              <a:rPr lang="en-US" sz="900" dirty="0">
                <a:solidFill>
                  <a:srgbClr val="9C8F8E"/>
                </a:solidFill>
                <a:latin typeface="Calibri" pitchFamily="34" charset="0"/>
                <a:ea typeface="Calibri" pitchFamily="34" charset="-122"/>
                <a:cs typeface="Calibri" pitchFamily="34" charset="-120"/>
              </a:rPr>
              <a:t>14%</a:t>
            </a:r>
            <a:endParaRPr lang="en-US" sz="900" dirty="0"/>
          </a:p>
        </p:txBody>
      </p:sp>
      <p:sp>
        <p:nvSpPr>
          <p:cNvPr id="23" name="Shape 21"/>
          <p:cNvSpPr/>
          <p:nvPr/>
        </p:nvSpPr>
        <p:spPr>
          <a:xfrm>
            <a:off x="2240280" y="4572000"/>
            <a:ext cx="5257800" cy="0"/>
          </a:xfrm>
          <a:prstGeom prst="line">
            <a:avLst/>
          </a:prstGeom>
          <a:noFill/>
          <a:ln w="15875">
            <a:solidFill>
              <a:srgbClr val="D5001C"/>
            </a:solidFill>
            <a:prstDash val="solid"/>
          </a:ln>
        </p:spPr>
      </p:sp>
      <p:sp>
        <p:nvSpPr>
          <p:cNvPr id="24" name="Text 22"/>
          <p:cNvSpPr txBox="1"/>
          <p:nvPr/>
        </p:nvSpPr>
        <p:spPr>
          <a:xfrm>
            <a:off x="548640" y="2569464"/>
            <a:ext cx="1600200" cy="274320"/>
          </a:xfrm>
          <a:prstGeom prst="rect">
            <a:avLst/>
          </a:prstGeom>
          <a:noFill/>
          <a:ln/>
        </p:spPr>
        <p:txBody>
          <a:bodyPr wrap="square" lIns="0" tIns="0" rIns="0" bIns="0" rtlCol="0" anchor="ctr"/>
          <a:lstStyle/>
          <a:p>
            <a:pPr indent="0" marL="0">
              <a:buNone/>
            </a:pPr>
            <a:r>
              <a:rPr lang="en-US" sz="1100" b="1" dirty="0">
                <a:solidFill>
                  <a:srgbClr val="EEE6E2"/>
                </a:solidFill>
                <a:latin typeface="Calibri" pitchFamily="34" charset="0"/>
                <a:ea typeface="Calibri" pitchFamily="34" charset="-122"/>
                <a:cs typeface="Calibri" pitchFamily="34" charset="-120"/>
              </a:rPr>
              <a:t>L0 reported</a:t>
            </a:r>
            <a:endParaRPr lang="en-US" sz="1100" dirty="0"/>
          </a:p>
        </p:txBody>
      </p:sp>
      <p:sp>
        <p:nvSpPr>
          <p:cNvPr id="25" name="Shape 23"/>
          <p:cNvSpPr/>
          <p:nvPr/>
        </p:nvSpPr>
        <p:spPr>
          <a:xfrm>
            <a:off x="2787968" y="2606040"/>
            <a:ext cx="1730693" cy="219456"/>
          </a:xfrm>
          <a:prstGeom prst="rect">
            <a:avLst/>
          </a:prstGeom>
          <a:solidFill>
            <a:srgbClr val="EEE6E2">
              <a:alpha val="18000"/>
            </a:srgbClr>
          </a:solidFill>
          <a:ln w="9525">
            <a:solidFill>
              <a:srgbClr val="CFC3C0"/>
            </a:solidFill>
            <a:prstDash val="dash"/>
          </a:ln>
        </p:spPr>
      </p:sp>
      <p:sp>
        <p:nvSpPr>
          <p:cNvPr id="26" name="Shape 24"/>
          <p:cNvSpPr/>
          <p:nvPr/>
        </p:nvSpPr>
        <p:spPr>
          <a:xfrm>
            <a:off x="3572828" y="2624328"/>
            <a:ext cx="182880" cy="182880"/>
          </a:xfrm>
          <a:prstGeom prst="diamond">
            <a:avLst/>
          </a:prstGeom>
          <a:solidFill>
            <a:srgbClr val="EEE6E2"/>
          </a:solidFill>
          <a:ln w="6350">
            <a:solidFill>
              <a:srgbClr val="050203"/>
            </a:solidFill>
            <a:prstDash val="solid"/>
          </a:ln>
        </p:spPr>
      </p:sp>
      <p:sp>
        <p:nvSpPr>
          <p:cNvPr id="27" name="Shape 25"/>
          <p:cNvSpPr/>
          <p:nvPr/>
        </p:nvSpPr>
        <p:spPr>
          <a:xfrm>
            <a:off x="4792453" y="2514600"/>
            <a:ext cx="0" cy="402336"/>
          </a:xfrm>
          <a:prstGeom prst="line">
            <a:avLst/>
          </a:prstGeom>
          <a:noFill/>
          <a:ln w="25400">
            <a:solidFill>
              <a:srgbClr val="FF4252"/>
            </a:solidFill>
            <a:prstDash val="solid"/>
          </a:ln>
        </p:spPr>
      </p:sp>
      <p:sp>
        <p:nvSpPr>
          <p:cNvPr id="28" name="Text 26"/>
          <p:cNvSpPr txBox="1"/>
          <p:nvPr/>
        </p:nvSpPr>
        <p:spPr>
          <a:xfrm>
            <a:off x="2129600" y="2624328"/>
            <a:ext cx="621792" cy="182880"/>
          </a:xfrm>
          <a:prstGeom prst="rect">
            <a:avLst/>
          </a:prstGeom>
          <a:noFill/>
          <a:ln/>
        </p:spPr>
        <p:txBody>
          <a:bodyPr wrap="square" lIns="0" tIns="0" rIns="0" bIns="0" rtlCol="0" anchor="t"/>
          <a:lstStyle/>
          <a:p>
            <a:pPr algn="r" indent="0" marL="0">
              <a:buNone/>
            </a:pPr>
            <a:r>
              <a:rPr lang="en-US" sz="850" dirty="0">
                <a:solidFill>
                  <a:srgbClr val="9C8F8E"/>
                </a:solidFill>
                <a:latin typeface="Calibri" pitchFamily="34" charset="0"/>
                <a:ea typeface="Calibri" pitchFamily="34" charset="-122"/>
                <a:cs typeface="Calibri" pitchFamily="34" charset="-120"/>
              </a:rPr>
              <a:t>3.25%</a:t>
            </a:r>
            <a:endParaRPr lang="en-US" sz="850" dirty="0"/>
          </a:p>
        </p:txBody>
      </p:sp>
      <p:sp>
        <p:nvSpPr>
          <p:cNvPr id="29" name="Text 27"/>
          <p:cNvSpPr txBox="1"/>
          <p:nvPr/>
        </p:nvSpPr>
        <p:spPr>
          <a:xfrm>
            <a:off x="4564380" y="2624328"/>
            <a:ext cx="621792" cy="182880"/>
          </a:xfrm>
          <a:prstGeom prst="rect">
            <a:avLst/>
          </a:prstGeom>
          <a:noFill/>
          <a:ln/>
        </p:spPr>
        <p:txBody>
          <a:bodyPr wrap="square" lIns="0" tIns="0" rIns="0" bIns="0" rtlCol="0" anchor="t"/>
          <a:lstStyle/>
          <a:p>
            <a:pPr indent="0" marL="0">
              <a:buNone/>
            </a:pPr>
            <a:r>
              <a:rPr lang="en-US" sz="850" dirty="0">
                <a:solidFill>
                  <a:srgbClr val="9C8F8E"/>
                </a:solidFill>
                <a:latin typeface="Calibri" pitchFamily="34" charset="0"/>
                <a:ea typeface="Calibri" pitchFamily="34" charset="-122"/>
                <a:cs typeface="Calibri" pitchFamily="34" charset="-120"/>
              </a:rPr>
              <a:t>7.20%</a:t>
            </a:r>
            <a:endParaRPr lang="en-US" sz="850" dirty="0"/>
          </a:p>
        </p:txBody>
      </p:sp>
      <p:sp>
        <p:nvSpPr>
          <p:cNvPr id="30" name="Text 28"/>
          <p:cNvSpPr txBox="1"/>
          <p:nvPr/>
        </p:nvSpPr>
        <p:spPr>
          <a:xfrm>
            <a:off x="3207068" y="2843784"/>
            <a:ext cx="914400" cy="164592"/>
          </a:xfrm>
          <a:prstGeom prst="rect">
            <a:avLst/>
          </a:prstGeom>
          <a:noFill/>
          <a:ln/>
        </p:spPr>
        <p:txBody>
          <a:bodyPr wrap="square" lIns="0" tIns="0" rIns="0" bIns="0" rtlCol="0" anchor="t"/>
          <a:lstStyle/>
          <a:p>
            <a:pPr algn="ctr" indent="0" marL="0">
              <a:buNone/>
            </a:pPr>
            <a:r>
              <a:rPr lang="en-US" sz="800" dirty="0">
                <a:solidFill>
                  <a:srgbClr val="EEE6E2"/>
                </a:solidFill>
                <a:latin typeface="Calibri" pitchFamily="34" charset="0"/>
                <a:ea typeface="Calibri" pitchFamily="34" charset="-122"/>
                <a:cs typeface="Calibri" pitchFamily="34" charset="-120"/>
              </a:rPr>
              <a:t>mid 5.25%</a:t>
            </a:r>
            <a:endParaRPr lang="en-US" sz="800" dirty="0"/>
          </a:p>
        </p:txBody>
      </p:sp>
      <p:sp>
        <p:nvSpPr>
          <p:cNvPr id="31" name="Text 29"/>
          <p:cNvSpPr txBox="1"/>
          <p:nvPr/>
        </p:nvSpPr>
        <p:spPr>
          <a:xfrm>
            <a:off x="4335253" y="2331720"/>
            <a:ext cx="914400" cy="164592"/>
          </a:xfrm>
          <a:prstGeom prst="rect">
            <a:avLst/>
          </a:prstGeom>
          <a:noFill/>
          <a:ln/>
        </p:spPr>
        <p:txBody>
          <a:bodyPr wrap="square" lIns="0" tIns="0" rIns="0" bIns="0" rtlCol="0" anchor="t"/>
          <a:lstStyle/>
          <a:p>
            <a:pPr algn="ctr" indent="0" marL="0">
              <a:buNone/>
            </a:pPr>
            <a:r>
              <a:rPr lang="en-US" sz="800" b="1" dirty="0">
                <a:solidFill>
                  <a:srgbClr val="FF4252"/>
                </a:solidFill>
                <a:latin typeface="Calibri" pitchFamily="34" charset="0"/>
                <a:ea typeface="Calibri" pitchFamily="34" charset="-122"/>
                <a:cs typeface="Calibri" pitchFamily="34" charset="-120"/>
              </a:rPr>
              <a:t>H1 7.82%</a:t>
            </a:r>
            <a:endParaRPr lang="en-US" sz="800" dirty="0"/>
          </a:p>
        </p:txBody>
      </p:sp>
      <p:sp>
        <p:nvSpPr>
          <p:cNvPr id="32" name="Text 30"/>
          <p:cNvSpPr txBox="1"/>
          <p:nvPr/>
        </p:nvSpPr>
        <p:spPr>
          <a:xfrm>
            <a:off x="548640" y="3227832"/>
            <a:ext cx="1600200" cy="274320"/>
          </a:xfrm>
          <a:prstGeom prst="rect">
            <a:avLst/>
          </a:prstGeom>
          <a:noFill/>
          <a:ln/>
        </p:spPr>
        <p:txBody>
          <a:bodyPr wrap="square" lIns="0" tIns="0" rIns="0" bIns="0" rtlCol="0" anchor="ctr"/>
          <a:lstStyle/>
          <a:p>
            <a:pPr indent="0" marL="0">
              <a:buNone/>
            </a:pPr>
            <a:r>
              <a:rPr lang="en-US" sz="1100" b="1" dirty="0">
                <a:solidFill>
                  <a:srgbClr val="D5001C"/>
                </a:solidFill>
                <a:latin typeface="Calibri" pitchFamily="34" charset="0"/>
                <a:ea typeface="Calibri" pitchFamily="34" charset="-122"/>
                <a:cs typeface="Calibri" pitchFamily="34" charset="-120"/>
              </a:rPr>
              <a:t>L1 underlying</a:t>
            </a:r>
            <a:endParaRPr lang="en-US" sz="1100" dirty="0"/>
          </a:p>
        </p:txBody>
      </p:sp>
      <p:sp>
        <p:nvSpPr>
          <p:cNvPr id="33" name="Shape 31"/>
          <p:cNvSpPr/>
          <p:nvPr/>
        </p:nvSpPr>
        <p:spPr>
          <a:xfrm>
            <a:off x="4474845" y="3264408"/>
            <a:ext cx="2011108" cy="219456"/>
          </a:xfrm>
          <a:prstGeom prst="rect">
            <a:avLst/>
          </a:prstGeom>
          <a:solidFill>
            <a:srgbClr val="EEE6E2">
              <a:alpha val="18000"/>
            </a:srgbClr>
          </a:solidFill>
          <a:ln w="9525">
            <a:solidFill>
              <a:srgbClr val="CFC3C0"/>
            </a:solidFill>
            <a:prstDash val="dash"/>
          </a:ln>
        </p:spPr>
      </p:sp>
      <p:sp>
        <p:nvSpPr>
          <p:cNvPr id="34" name="Shape 32"/>
          <p:cNvSpPr/>
          <p:nvPr/>
        </p:nvSpPr>
        <p:spPr>
          <a:xfrm>
            <a:off x="5373624" y="3282696"/>
            <a:ext cx="182880" cy="182880"/>
          </a:xfrm>
          <a:prstGeom prst="diamond">
            <a:avLst/>
          </a:prstGeom>
          <a:solidFill>
            <a:srgbClr val="EEE6E2"/>
          </a:solidFill>
          <a:ln w="6350">
            <a:solidFill>
              <a:srgbClr val="050203"/>
            </a:solidFill>
            <a:prstDash val="solid"/>
          </a:ln>
        </p:spPr>
      </p:sp>
      <p:sp>
        <p:nvSpPr>
          <p:cNvPr id="35" name="Shape 33"/>
          <p:cNvSpPr/>
          <p:nvPr/>
        </p:nvSpPr>
        <p:spPr>
          <a:xfrm>
            <a:off x="5046756" y="3172968"/>
            <a:ext cx="0" cy="402336"/>
          </a:xfrm>
          <a:prstGeom prst="line">
            <a:avLst/>
          </a:prstGeom>
          <a:noFill/>
          <a:ln w="25400">
            <a:solidFill>
              <a:srgbClr val="FF4252"/>
            </a:solidFill>
            <a:prstDash val="solid"/>
          </a:ln>
        </p:spPr>
      </p:sp>
      <p:sp>
        <p:nvSpPr>
          <p:cNvPr id="36" name="Text 34"/>
          <p:cNvSpPr txBox="1"/>
          <p:nvPr/>
        </p:nvSpPr>
        <p:spPr>
          <a:xfrm>
            <a:off x="3816477" y="3282696"/>
            <a:ext cx="621792" cy="182880"/>
          </a:xfrm>
          <a:prstGeom prst="rect">
            <a:avLst/>
          </a:prstGeom>
          <a:noFill/>
          <a:ln/>
        </p:spPr>
        <p:txBody>
          <a:bodyPr wrap="square" lIns="0" tIns="0" rIns="0" bIns="0" rtlCol="0" anchor="t"/>
          <a:lstStyle/>
          <a:p>
            <a:pPr algn="r" indent="0" marL="0">
              <a:buNone/>
            </a:pPr>
            <a:r>
              <a:rPr lang="en-US" sz="850" dirty="0">
                <a:solidFill>
                  <a:srgbClr val="9C8F8E"/>
                </a:solidFill>
                <a:latin typeface="Calibri" pitchFamily="34" charset="0"/>
                <a:ea typeface="Calibri" pitchFamily="34" charset="-122"/>
                <a:cs typeface="Calibri" pitchFamily="34" charset="-120"/>
              </a:rPr>
              <a:t>7.10%</a:t>
            </a:r>
            <a:endParaRPr lang="en-US" sz="850" dirty="0"/>
          </a:p>
        </p:txBody>
      </p:sp>
      <p:sp>
        <p:nvSpPr>
          <p:cNvPr id="37" name="Text 35"/>
          <p:cNvSpPr txBox="1"/>
          <p:nvPr/>
        </p:nvSpPr>
        <p:spPr>
          <a:xfrm>
            <a:off x="6531674" y="3282696"/>
            <a:ext cx="621792" cy="182880"/>
          </a:xfrm>
          <a:prstGeom prst="rect">
            <a:avLst/>
          </a:prstGeom>
          <a:noFill/>
          <a:ln/>
        </p:spPr>
        <p:txBody>
          <a:bodyPr wrap="square" lIns="0" tIns="0" rIns="0" bIns="0" rtlCol="0" anchor="t"/>
          <a:lstStyle/>
          <a:p>
            <a:pPr indent="0" marL="0">
              <a:buNone/>
            </a:pPr>
            <a:r>
              <a:rPr lang="en-US" sz="850" dirty="0">
                <a:solidFill>
                  <a:srgbClr val="9C8F8E"/>
                </a:solidFill>
                <a:latin typeface="Calibri" pitchFamily="34" charset="0"/>
                <a:ea typeface="Calibri" pitchFamily="34" charset="-122"/>
                <a:cs typeface="Calibri" pitchFamily="34" charset="-120"/>
              </a:rPr>
              <a:t>11.69%</a:t>
            </a:r>
            <a:endParaRPr lang="en-US" sz="850" dirty="0"/>
          </a:p>
        </p:txBody>
      </p:sp>
      <p:sp>
        <p:nvSpPr>
          <p:cNvPr id="38" name="Text 36"/>
          <p:cNvSpPr txBox="1"/>
          <p:nvPr/>
        </p:nvSpPr>
        <p:spPr>
          <a:xfrm>
            <a:off x="5007864" y="3502152"/>
            <a:ext cx="914400" cy="164592"/>
          </a:xfrm>
          <a:prstGeom prst="rect">
            <a:avLst/>
          </a:prstGeom>
          <a:noFill/>
          <a:ln/>
        </p:spPr>
        <p:txBody>
          <a:bodyPr wrap="square" lIns="0" tIns="0" rIns="0" bIns="0" rtlCol="0" anchor="t"/>
          <a:lstStyle/>
          <a:p>
            <a:pPr algn="ctr" indent="0" marL="0">
              <a:buNone/>
            </a:pPr>
            <a:r>
              <a:rPr lang="en-US" sz="800" dirty="0">
                <a:solidFill>
                  <a:srgbClr val="EEE6E2"/>
                </a:solidFill>
                <a:latin typeface="Calibri" pitchFamily="34" charset="0"/>
                <a:ea typeface="Calibri" pitchFamily="34" charset="-122"/>
                <a:cs typeface="Calibri" pitchFamily="34" charset="-120"/>
              </a:rPr>
              <a:t>mid 9.36%</a:t>
            </a:r>
            <a:endParaRPr lang="en-US" sz="800" dirty="0"/>
          </a:p>
        </p:txBody>
      </p:sp>
      <p:sp>
        <p:nvSpPr>
          <p:cNvPr id="39" name="Text 37"/>
          <p:cNvSpPr txBox="1"/>
          <p:nvPr/>
        </p:nvSpPr>
        <p:spPr>
          <a:xfrm>
            <a:off x="4589556" y="2990088"/>
            <a:ext cx="914400" cy="164592"/>
          </a:xfrm>
          <a:prstGeom prst="rect">
            <a:avLst/>
          </a:prstGeom>
          <a:noFill/>
          <a:ln/>
        </p:spPr>
        <p:txBody>
          <a:bodyPr wrap="square" lIns="0" tIns="0" rIns="0" bIns="0" rtlCol="0" anchor="t"/>
          <a:lstStyle/>
          <a:p>
            <a:pPr algn="ctr" indent="0" marL="0">
              <a:buNone/>
            </a:pPr>
            <a:r>
              <a:rPr lang="en-US" sz="800" b="1" dirty="0">
                <a:solidFill>
                  <a:srgbClr val="FF4252"/>
                </a:solidFill>
                <a:latin typeface="Calibri" pitchFamily="34" charset="0"/>
                <a:ea typeface="Calibri" pitchFamily="34" charset="-122"/>
                <a:cs typeface="Calibri" pitchFamily="34" charset="-120"/>
              </a:rPr>
              <a:t>H1 8.41%</a:t>
            </a:r>
            <a:endParaRPr lang="en-US" sz="800" dirty="0"/>
          </a:p>
        </p:txBody>
      </p:sp>
      <p:sp>
        <p:nvSpPr>
          <p:cNvPr id="40" name="Text 38"/>
          <p:cNvSpPr txBox="1"/>
          <p:nvPr/>
        </p:nvSpPr>
        <p:spPr>
          <a:xfrm>
            <a:off x="548640" y="3886200"/>
            <a:ext cx="1600200" cy="274320"/>
          </a:xfrm>
          <a:prstGeom prst="rect">
            <a:avLst/>
          </a:prstGeom>
          <a:noFill/>
          <a:ln/>
        </p:spPr>
        <p:txBody>
          <a:bodyPr wrap="square" lIns="0" tIns="0" rIns="0" bIns="0" rtlCol="0" anchor="ctr"/>
          <a:lstStyle/>
          <a:p>
            <a:pPr indent="0" marL="0">
              <a:buNone/>
            </a:pPr>
            <a:r>
              <a:rPr lang="en-US" sz="1100" b="1" dirty="0">
                <a:solidFill>
                  <a:srgbClr val="EEE6E2"/>
                </a:solidFill>
                <a:latin typeface="Calibri" pitchFamily="34" charset="0"/>
                <a:ea typeface="Calibri" pitchFamily="34" charset="-122"/>
                <a:cs typeface="Calibri" pitchFamily="34" charset="-120"/>
              </a:rPr>
              <a:t>L2 excl. tariffs</a:t>
            </a:r>
            <a:endParaRPr lang="en-US" sz="1100" dirty="0"/>
          </a:p>
        </p:txBody>
      </p:sp>
      <p:sp>
        <p:nvSpPr>
          <p:cNvPr id="41" name="Shape 39"/>
          <p:cNvSpPr/>
          <p:nvPr/>
        </p:nvSpPr>
        <p:spPr>
          <a:xfrm>
            <a:off x="5408105" y="3922776"/>
            <a:ext cx="2063687" cy="219456"/>
          </a:xfrm>
          <a:prstGeom prst="rect">
            <a:avLst/>
          </a:prstGeom>
          <a:solidFill>
            <a:srgbClr val="EEE6E2">
              <a:alpha val="18000"/>
            </a:srgbClr>
          </a:solidFill>
          <a:ln w="9525">
            <a:solidFill>
              <a:srgbClr val="CFC3C0"/>
            </a:solidFill>
            <a:prstDash val="dash"/>
          </a:ln>
        </p:spPr>
      </p:sp>
      <p:sp>
        <p:nvSpPr>
          <p:cNvPr id="42" name="Shape 40"/>
          <p:cNvSpPr/>
          <p:nvPr/>
        </p:nvSpPr>
        <p:spPr>
          <a:xfrm>
            <a:off x="6328791" y="3941064"/>
            <a:ext cx="182880" cy="182880"/>
          </a:xfrm>
          <a:prstGeom prst="diamond">
            <a:avLst/>
          </a:prstGeom>
          <a:solidFill>
            <a:srgbClr val="EEE6E2"/>
          </a:solidFill>
          <a:ln w="6350">
            <a:solidFill>
              <a:srgbClr val="050203"/>
            </a:solidFill>
            <a:prstDash val="solid"/>
          </a:ln>
        </p:spPr>
      </p:sp>
      <p:sp>
        <p:nvSpPr>
          <p:cNvPr id="43" name="Shape 41"/>
          <p:cNvSpPr/>
          <p:nvPr/>
        </p:nvSpPr>
        <p:spPr>
          <a:xfrm>
            <a:off x="6063968" y="3831336"/>
            <a:ext cx="0" cy="402336"/>
          </a:xfrm>
          <a:prstGeom prst="line">
            <a:avLst/>
          </a:prstGeom>
          <a:noFill/>
          <a:ln w="25400">
            <a:solidFill>
              <a:srgbClr val="FF4252"/>
            </a:solidFill>
            <a:prstDash val="solid"/>
          </a:ln>
        </p:spPr>
      </p:sp>
      <p:sp>
        <p:nvSpPr>
          <p:cNvPr id="44" name="Text 42"/>
          <p:cNvSpPr txBox="1"/>
          <p:nvPr/>
        </p:nvSpPr>
        <p:spPr>
          <a:xfrm>
            <a:off x="4749737" y="3941064"/>
            <a:ext cx="621792" cy="182880"/>
          </a:xfrm>
          <a:prstGeom prst="rect">
            <a:avLst/>
          </a:prstGeom>
          <a:noFill/>
          <a:ln/>
        </p:spPr>
        <p:txBody>
          <a:bodyPr wrap="square" lIns="0" tIns="0" rIns="0" bIns="0" rtlCol="0" anchor="t"/>
          <a:lstStyle/>
          <a:p>
            <a:pPr algn="r" indent="0" marL="0">
              <a:buNone/>
            </a:pPr>
            <a:r>
              <a:rPr lang="en-US" sz="850" dirty="0">
                <a:solidFill>
                  <a:srgbClr val="9C8F8E"/>
                </a:solidFill>
                <a:latin typeface="Calibri" pitchFamily="34" charset="0"/>
                <a:ea typeface="Calibri" pitchFamily="34" charset="-122"/>
                <a:cs typeface="Calibri" pitchFamily="34" charset="-120"/>
              </a:rPr>
              <a:t>9.23%</a:t>
            </a:r>
            <a:endParaRPr lang="en-US" sz="850" dirty="0"/>
          </a:p>
        </p:txBody>
      </p:sp>
      <p:sp>
        <p:nvSpPr>
          <p:cNvPr id="45" name="Text 43"/>
          <p:cNvSpPr txBox="1"/>
          <p:nvPr/>
        </p:nvSpPr>
        <p:spPr>
          <a:xfrm>
            <a:off x="7517511" y="3941064"/>
            <a:ext cx="621792" cy="182880"/>
          </a:xfrm>
          <a:prstGeom prst="rect">
            <a:avLst/>
          </a:prstGeom>
          <a:noFill/>
          <a:ln/>
        </p:spPr>
        <p:txBody>
          <a:bodyPr wrap="square" lIns="0" tIns="0" rIns="0" bIns="0" rtlCol="0" anchor="t"/>
          <a:lstStyle/>
          <a:p>
            <a:pPr indent="0" marL="0">
              <a:buNone/>
            </a:pPr>
            <a:r>
              <a:rPr lang="en-US" sz="850" dirty="0">
                <a:solidFill>
                  <a:srgbClr val="9C8F8E"/>
                </a:solidFill>
                <a:latin typeface="Calibri" pitchFamily="34" charset="0"/>
                <a:ea typeface="Calibri" pitchFamily="34" charset="-122"/>
                <a:cs typeface="Calibri" pitchFamily="34" charset="-120"/>
              </a:rPr>
              <a:t>13.94%</a:t>
            </a:r>
            <a:endParaRPr lang="en-US" sz="850" dirty="0"/>
          </a:p>
        </p:txBody>
      </p:sp>
      <p:sp>
        <p:nvSpPr>
          <p:cNvPr id="46" name="Text 44"/>
          <p:cNvSpPr txBox="1"/>
          <p:nvPr/>
        </p:nvSpPr>
        <p:spPr>
          <a:xfrm>
            <a:off x="5963031" y="4160520"/>
            <a:ext cx="914400" cy="164592"/>
          </a:xfrm>
          <a:prstGeom prst="rect">
            <a:avLst/>
          </a:prstGeom>
          <a:noFill/>
          <a:ln/>
        </p:spPr>
        <p:txBody>
          <a:bodyPr wrap="square" lIns="0" tIns="0" rIns="0" bIns="0" rtlCol="0" anchor="t"/>
          <a:lstStyle/>
          <a:p>
            <a:pPr algn="ctr" indent="0" marL="0">
              <a:buNone/>
            </a:pPr>
            <a:r>
              <a:rPr lang="en-US" sz="800" dirty="0">
                <a:solidFill>
                  <a:srgbClr val="EEE6E2"/>
                </a:solidFill>
                <a:latin typeface="Calibri" pitchFamily="34" charset="0"/>
                <a:ea typeface="Calibri" pitchFamily="34" charset="-122"/>
                <a:cs typeface="Calibri" pitchFamily="34" charset="-120"/>
              </a:rPr>
              <a:t>mid 11.54%</a:t>
            </a:r>
            <a:endParaRPr lang="en-US" sz="800" dirty="0"/>
          </a:p>
        </p:txBody>
      </p:sp>
      <p:sp>
        <p:nvSpPr>
          <p:cNvPr id="47" name="Text 45"/>
          <p:cNvSpPr txBox="1"/>
          <p:nvPr/>
        </p:nvSpPr>
        <p:spPr>
          <a:xfrm>
            <a:off x="5606768" y="3648456"/>
            <a:ext cx="914400" cy="164592"/>
          </a:xfrm>
          <a:prstGeom prst="rect">
            <a:avLst/>
          </a:prstGeom>
          <a:noFill/>
          <a:ln/>
        </p:spPr>
        <p:txBody>
          <a:bodyPr wrap="square" lIns="0" tIns="0" rIns="0" bIns="0" rtlCol="0" anchor="t"/>
          <a:lstStyle/>
          <a:p>
            <a:pPr algn="ctr" indent="0" marL="0">
              <a:buNone/>
            </a:pPr>
            <a:r>
              <a:rPr lang="en-US" sz="800" b="1" dirty="0">
                <a:solidFill>
                  <a:srgbClr val="FF4252"/>
                </a:solidFill>
                <a:latin typeface="Calibri" pitchFamily="34" charset="0"/>
                <a:ea typeface="Calibri" pitchFamily="34" charset="-122"/>
                <a:cs typeface="Calibri" pitchFamily="34" charset="-120"/>
              </a:rPr>
              <a:t>H1 10.73%</a:t>
            </a:r>
            <a:endParaRPr lang="en-US" sz="800" dirty="0"/>
          </a:p>
        </p:txBody>
      </p:sp>
      <p:sp>
        <p:nvSpPr>
          <p:cNvPr id="48" name="Shape 46"/>
          <p:cNvSpPr/>
          <p:nvPr/>
        </p:nvSpPr>
        <p:spPr>
          <a:xfrm>
            <a:off x="548640" y="4956048"/>
            <a:ext cx="274320" cy="128016"/>
          </a:xfrm>
          <a:prstGeom prst="rect">
            <a:avLst/>
          </a:prstGeom>
          <a:solidFill>
            <a:srgbClr val="EEE6E2">
              <a:alpha val="18000"/>
            </a:srgbClr>
          </a:solidFill>
          <a:ln w="9525">
            <a:solidFill>
              <a:srgbClr val="CFC3C0"/>
            </a:solidFill>
            <a:prstDash val="dash"/>
          </a:ln>
        </p:spPr>
      </p:sp>
      <p:sp>
        <p:nvSpPr>
          <p:cNvPr id="49" name="Text 47"/>
          <p:cNvSpPr txBox="1"/>
          <p:nvPr/>
        </p:nvSpPr>
        <p:spPr>
          <a:xfrm>
            <a:off x="896112" y="4928616"/>
            <a:ext cx="2011680" cy="182880"/>
          </a:xfrm>
          <a:prstGeom prst="rect">
            <a:avLst/>
          </a:prstGeom>
          <a:noFill/>
          <a:ln/>
        </p:spPr>
        <p:txBody>
          <a:bodyPr wrap="square" lIns="0" tIns="0" rIns="0" bIns="0" rtlCol="0" anchor="t"/>
          <a:lstStyle/>
          <a:p>
            <a:pPr indent="0" marL="0">
              <a:buNone/>
            </a:pPr>
            <a:r>
              <a:rPr lang="en-US" sz="900" dirty="0">
                <a:solidFill>
                  <a:srgbClr val="9C8F8E"/>
                </a:solidFill>
                <a:latin typeface="Calibri" pitchFamily="34" charset="0"/>
                <a:ea typeface="Calibri" pitchFamily="34" charset="-122"/>
                <a:cs typeface="Calibri" pitchFamily="34" charset="-120"/>
              </a:rPr>
              <a:t>min to max of the combinations</a:t>
            </a:r>
            <a:endParaRPr lang="en-US" sz="900" dirty="0"/>
          </a:p>
        </p:txBody>
      </p:sp>
      <p:sp>
        <p:nvSpPr>
          <p:cNvPr id="50" name="Shape 48"/>
          <p:cNvSpPr/>
          <p:nvPr/>
        </p:nvSpPr>
        <p:spPr>
          <a:xfrm>
            <a:off x="2971800" y="4946904"/>
            <a:ext cx="146304" cy="146304"/>
          </a:xfrm>
          <a:prstGeom prst="diamond">
            <a:avLst/>
          </a:prstGeom>
          <a:solidFill>
            <a:srgbClr val="EEE6E2"/>
          </a:solidFill>
          <a:ln w="6350">
            <a:solidFill>
              <a:srgbClr val="050203"/>
            </a:solidFill>
            <a:prstDash val="solid"/>
          </a:ln>
        </p:spPr>
      </p:sp>
      <p:sp>
        <p:nvSpPr>
          <p:cNvPr id="51" name="Text 49"/>
          <p:cNvSpPr txBox="1"/>
          <p:nvPr/>
        </p:nvSpPr>
        <p:spPr>
          <a:xfrm>
            <a:off x="3182112" y="4928616"/>
            <a:ext cx="2377440" cy="182880"/>
          </a:xfrm>
          <a:prstGeom prst="rect">
            <a:avLst/>
          </a:prstGeom>
          <a:noFill/>
          <a:ln/>
        </p:spPr>
        <p:txBody>
          <a:bodyPr wrap="square" lIns="0" tIns="0" rIns="0" bIns="0" rtlCol="0" anchor="t"/>
          <a:lstStyle/>
          <a:p>
            <a:pPr indent="0" marL="0">
              <a:buNone/>
            </a:pPr>
            <a:r>
              <a:rPr lang="en-US" sz="900" dirty="0">
                <a:solidFill>
                  <a:srgbClr val="9C8F8E"/>
                </a:solidFill>
                <a:latin typeface="Calibri" pitchFamily="34" charset="0"/>
                <a:ea typeface="Calibri" pitchFamily="34" charset="-122"/>
                <a:cs typeface="Calibri" pitchFamily="34" charset="-120"/>
              </a:rPr>
              <a:t>all midpoints (not a most-likely case)</a:t>
            </a:r>
            <a:endParaRPr lang="en-US" sz="900" dirty="0"/>
          </a:p>
        </p:txBody>
      </p:sp>
      <p:sp>
        <p:nvSpPr>
          <p:cNvPr id="52" name="Shape 50"/>
          <p:cNvSpPr/>
          <p:nvPr/>
        </p:nvSpPr>
        <p:spPr>
          <a:xfrm>
            <a:off x="5623560" y="4919472"/>
            <a:ext cx="0" cy="201168"/>
          </a:xfrm>
          <a:prstGeom prst="line">
            <a:avLst/>
          </a:prstGeom>
          <a:noFill/>
          <a:ln w="25400">
            <a:solidFill>
              <a:srgbClr val="FF4252"/>
            </a:solidFill>
            <a:prstDash val="solid"/>
          </a:ln>
        </p:spPr>
      </p:sp>
      <p:sp>
        <p:nvSpPr>
          <p:cNvPr id="53" name="Text 51"/>
          <p:cNvSpPr txBox="1"/>
          <p:nvPr/>
        </p:nvSpPr>
        <p:spPr>
          <a:xfrm>
            <a:off x="5715000" y="4928616"/>
            <a:ext cx="1280160" cy="182880"/>
          </a:xfrm>
          <a:prstGeom prst="rect">
            <a:avLst/>
          </a:prstGeom>
          <a:noFill/>
          <a:ln/>
        </p:spPr>
        <p:txBody>
          <a:bodyPr wrap="square" lIns="0" tIns="0" rIns="0" bIns="0" rtlCol="0" anchor="t"/>
          <a:lstStyle/>
          <a:p>
            <a:pPr indent="0" marL="0">
              <a:buNone/>
            </a:pPr>
            <a:r>
              <a:rPr lang="en-US" sz="900" dirty="0">
                <a:solidFill>
                  <a:srgbClr val="9C8F8E"/>
                </a:solidFill>
                <a:latin typeface="Calibri" pitchFamily="34" charset="0"/>
                <a:ea typeface="Calibri" pitchFamily="34" charset="-122"/>
                <a:cs typeface="Calibri" pitchFamily="34" charset="-120"/>
              </a:rPr>
              <a:t>H1 2026 actual</a:t>
            </a:r>
            <a:endParaRPr lang="en-US" sz="900" dirty="0"/>
          </a:p>
        </p:txBody>
      </p:sp>
      <p:sp>
        <p:nvSpPr>
          <p:cNvPr id="54" name="Shape 52"/>
          <p:cNvSpPr/>
          <p:nvPr/>
        </p:nvSpPr>
        <p:spPr>
          <a:xfrm>
            <a:off x="548640" y="5303520"/>
            <a:ext cx="7315200" cy="896112"/>
          </a:xfrm>
          <a:prstGeom prst="roundRect">
            <a:avLst>
              <a:gd name="adj" fmla="val 6122"/>
            </a:avLst>
          </a:prstGeom>
          <a:solidFill>
            <a:srgbClr val="120709"/>
          </a:solidFill>
          <a:ln w="9525">
            <a:solidFill>
              <a:srgbClr val="6E5A5C"/>
            </a:solidFill>
            <a:prstDash val="dash"/>
          </a:ln>
        </p:spPr>
      </p:sp>
      <p:sp>
        <p:nvSpPr>
          <p:cNvPr id="55" name="Text 53"/>
          <p:cNvSpPr txBox="1"/>
          <p:nvPr/>
        </p:nvSpPr>
        <p:spPr>
          <a:xfrm>
            <a:off x="731520" y="5376672"/>
            <a:ext cx="6949440" cy="749808"/>
          </a:xfrm>
          <a:prstGeom prst="rect">
            <a:avLst/>
          </a:prstGeom>
          <a:noFill/>
          <a:ln/>
        </p:spPr>
        <p:txBody>
          <a:bodyPr wrap="square" lIns="0" tIns="0" rIns="0" bIns="0" rtlCol="0" anchor="ctr"/>
          <a:lstStyle/>
          <a:p>
            <a:pPr indent="0" marL="0">
              <a:buNone/>
            </a:pPr>
            <a:r>
              <a:rPr lang="en-US" sz="1050" b="1" dirty="0">
                <a:solidFill>
                  <a:srgbClr val="EEE6E2"/>
                </a:solidFill>
                <a:latin typeface="Calibri" pitchFamily="34" charset="0"/>
                <a:ea typeface="Calibri" pitchFamily="34" charset="-122"/>
                <a:cs typeface="Calibri" pitchFamily="34" charset="-120"/>
              </a:rPr>
              <a:t>Automotive H2 NCF margin, 9 combinations: −0.62% to 3.41%</a:t>
            </a:r>
            <a:endParaRPr lang="en-US" sz="1050" dirty="0"/>
          </a:p>
          <a:p>
            <a:pPr indent="0" marL="0">
              <a:buNone/>
            </a:pPr>
            <a:r>
              <a:rPr lang="en-US" sz="1050" dirty="0">
                <a:solidFill>
                  <a:srgbClr val="9C8F8E"/>
                </a:solidFill>
                <a:latin typeface="Calibri" pitchFamily="34" charset="0"/>
                <a:ea typeface="Calibri" pitchFamily="34" charset="-122"/>
                <a:cs typeface="Calibri" pitchFamily="34" charset="-120"/>
              </a:rPr>
              <a:t>vs 6.73% in H1 2026. EBITDA margin 11.84% to 15.85% vs 18.25%. Uses A-05. Scenario, not a forecast.</a:t>
            </a:r>
            <a:endParaRPr lang="en-US" sz="1050" dirty="0"/>
          </a:p>
        </p:txBody>
      </p:sp>
      <p:sp>
        <p:nvSpPr>
          <p:cNvPr id="56" name="Shape 54"/>
          <p:cNvSpPr/>
          <p:nvPr/>
        </p:nvSpPr>
        <p:spPr>
          <a:xfrm>
            <a:off x="8229600" y="1371600"/>
            <a:ext cx="3413455" cy="1965960"/>
          </a:xfrm>
          <a:prstGeom prst="roundRect">
            <a:avLst>
              <a:gd name="adj" fmla="val 2791"/>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57" name="Text 55"/>
          <p:cNvSpPr txBox="1"/>
          <p:nvPr/>
        </p:nvSpPr>
        <p:spPr>
          <a:xfrm>
            <a:off x="8412480" y="1481328"/>
            <a:ext cx="3047695" cy="201168"/>
          </a:xfrm>
          <a:prstGeom prst="rect">
            <a:avLst/>
          </a:prstGeom>
          <a:noFill/>
          <a:ln/>
        </p:spPr>
        <p:txBody>
          <a:bodyPr wrap="square" lIns="0" tIns="0" rIns="0" bIns="0" rtlCol="0" anchor="t"/>
          <a:lstStyle/>
          <a:p>
            <a:pPr indent="0" marL="0">
              <a:buNone/>
            </a:pPr>
            <a:r>
              <a:rPr lang="en-US" sz="950" b="1" spc="200" kern="0" dirty="0">
                <a:solidFill>
                  <a:srgbClr val="9C8F8E"/>
                </a:solidFill>
                <a:latin typeface="Calibri" pitchFamily="34" charset="0"/>
                <a:ea typeface="Calibri" pitchFamily="34" charset="-122"/>
                <a:cs typeface="Calibri" pitchFamily="34" charset="-120"/>
              </a:rPr>
              <a:t>ALL MIDPOINTS, SCENARIO</a:t>
            </a:r>
            <a:endParaRPr lang="en-US" sz="950" dirty="0"/>
          </a:p>
        </p:txBody>
      </p:sp>
      <p:sp>
        <p:nvSpPr>
          <p:cNvPr id="58" name="Text 56"/>
          <p:cNvSpPr txBox="1"/>
          <p:nvPr/>
        </p:nvSpPr>
        <p:spPr>
          <a:xfrm>
            <a:off x="8412480" y="1719072"/>
            <a:ext cx="3047695" cy="640080"/>
          </a:xfrm>
          <a:prstGeom prst="rect">
            <a:avLst/>
          </a:prstGeom>
          <a:noFill/>
          <a:ln/>
        </p:spPr>
        <p:txBody>
          <a:bodyPr wrap="square" lIns="0" tIns="0" rIns="0" bIns="0" rtlCol="0" anchor="t"/>
          <a:lstStyle/>
          <a:p>
            <a:pPr indent="0" marL="0">
              <a:buNone/>
            </a:pPr>
            <a:r>
              <a:rPr lang="en-US" sz="4000" b="1" dirty="0">
                <a:solidFill>
                  <a:srgbClr val="D5001C"/>
                </a:solidFill>
                <a:latin typeface="Calibri" pitchFamily="34" charset="0"/>
                <a:ea typeface="Calibri" pitchFamily="34" charset="-122"/>
                <a:cs typeface="Calibri" pitchFamily="34" charset="-120"/>
              </a:rPr>
              <a:t>9.36%</a:t>
            </a:r>
            <a:endParaRPr lang="en-US" sz="4000" dirty="0"/>
          </a:p>
        </p:txBody>
      </p:sp>
      <p:sp>
        <p:nvSpPr>
          <p:cNvPr id="59" name="Text 57"/>
          <p:cNvSpPr txBox="1"/>
          <p:nvPr/>
        </p:nvSpPr>
        <p:spPr>
          <a:xfrm>
            <a:off x="8412480" y="2377440"/>
            <a:ext cx="3047695" cy="365760"/>
          </a:xfrm>
          <a:prstGeom prst="rect">
            <a:avLst/>
          </a:prstGeom>
          <a:noFill/>
          <a:ln/>
        </p:spPr>
        <p:txBody>
          <a:bodyPr wrap="square" lIns="0" tIns="0" rIns="0" bIns="0" rtlCol="0" anchor="t"/>
          <a:lstStyle/>
          <a:p>
            <a:pPr indent="0" marL="0">
              <a:buNone/>
            </a:pPr>
            <a:r>
              <a:rPr lang="en-US" sz="1050" dirty="0">
                <a:solidFill>
                  <a:srgbClr val="EEE6E2"/>
                </a:solidFill>
                <a:latin typeface="Calibri" pitchFamily="34" charset="0"/>
                <a:ea typeface="Calibri" pitchFamily="34" charset="-122"/>
                <a:cs typeface="Calibri" pitchFamily="34" charset="-120"/>
              </a:rPr>
              <a:t>implied H2 L1 margin vs 8.41% in H1 2026 (+0.95 pp)</a:t>
            </a:r>
            <a:endParaRPr lang="en-US" sz="1050" dirty="0"/>
          </a:p>
        </p:txBody>
      </p:sp>
      <p:sp>
        <p:nvSpPr>
          <p:cNvPr id="60" name="Text 58"/>
          <p:cNvSpPr txBox="1"/>
          <p:nvPr/>
        </p:nvSpPr>
        <p:spPr>
          <a:xfrm>
            <a:off x="8412480" y="2816352"/>
            <a:ext cx="3047695" cy="411480"/>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H2 revenue €18,271m, H2 reported EBIT €959m</a:t>
            </a:r>
            <a:endParaRPr lang="en-US" sz="1000" dirty="0"/>
          </a:p>
        </p:txBody>
      </p:sp>
      <p:sp>
        <p:nvSpPr>
          <p:cNvPr id="61" name="Text 59"/>
          <p:cNvSpPr txBox="1"/>
          <p:nvPr/>
        </p:nvSpPr>
        <p:spPr>
          <a:xfrm>
            <a:off x="8229600" y="3520440"/>
            <a:ext cx="3413455" cy="201168"/>
          </a:xfrm>
          <a:prstGeom prst="rect">
            <a:avLst/>
          </a:prstGeom>
          <a:noFill/>
          <a:ln/>
        </p:spPr>
        <p:txBody>
          <a:bodyPr wrap="square" lIns="0" tIns="0" rIns="0" bIns="0" rtlCol="0" anchor="t"/>
          <a:lstStyle/>
          <a:p>
            <a:pPr indent="0" marL="0">
              <a:buNone/>
            </a:pPr>
            <a:r>
              <a:rPr lang="en-US" sz="950" b="1" spc="200" kern="0" dirty="0">
                <a:solidFill>
                  <a:srgbClr val="9C8F8E"/>
                </a:solidFill>
                <a:latin typeface="Calibri" pitchFamily="34" charset="0"/>
                <a:ea typeface="Calibri" pitchFamily="34" charset="-122"/>
                <a:cs typeface="Calibri" pitchFamily="34" charset="-120"/>
              </a:rPr>
              <a:t>FY2026 GUIDANCE AS PUBLISHED</a:t>
            </a:r>
            <a:endParaRPr lang="en-US" sz="950" dirty="0"/>
          </a:p>
        </p:txBody>
      </p:sp>
      <p:sp>
        <p:nvSpPr>
          <p:cNvPr id="62" name="Text 60"/>
          <p:cNvSpPr txBox="1"/>
          <p:nvPr/>
        </p:nvSpPr>
        <p:spPr>
          <a:xfrm>
            <a:off x="8229600" y="3749040"/>
            <a:ext cx="2103120" cy="219456"/>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Group revenue</a:t>
            </a:r>
            <a:endParaRPr lang="en-US" sz="1000" dirty="0"/>
          </a:p>
        </p:txBody>
      </p:sp>
      <p:sp>
        <p:nvSpPr>
          <p:cNvPr id="63" name="Text 61"/>
          <p:cNvSpPr txBox="1"/>
          <p:nvPr/>
        </p:nvSpPr>
        <p:spPr>
          <a:xfrm>
            <a:off x="10241280" y="3749040"/>
            <a:ext cx="1401775" cy="219456"/>
          </a:xfrm>
          <a:prstGeom prst="rect">
            <a:avLst/>
          </a:prstGeom>
          <a:noFill/>
          <a:ln/>
        </p:spPr>
        <p:txBody>
          <a:bodyPr wrap="square" lIns="0" tIns="0" rIns="0" bIns="0" rtlCol="0" anchor="t"/>
          <a:lstStyle/>
          <a:p>
            <a:pPr algn="r" indent="0" marL="0">
              <a:buNone/>
            </a:pPr>
            <a:r>
              <a:rPr lang="en-US" sz="1000" b="1" dirty="0">
                <a:solidFill>
                  <a:srgbClr val="EEE6E2"/>
                </a:solidFill>
                <a:latin typeface="Calibri" pitchFamily="34" charset="0"/>
                <a:ea typeface="Calibri" pitchFamily="34" charset="-122"/>
                <a:cs typeface="Calibri" pitchFamily="34" charset="-120"/>
              </a:rPr>
              <a:t>€35.0–36.0bn</a:t>
            </a:r>
            <a:endParaRPr lang="en-US" sz="1000" dirty="0"/>
          </a:p>
        </p:txBody>
      </p:sp>
      <p:sp>
        <p:nvSpPr>
          <p:cNvPr id="64" name="Text 62"/>
          <p:cNvSpPr txBox="1"/>
          <p:nvPr/>
        </p:nvSpPr>
        <p:spPr>
          <a:xfrm>
            <a:off x="8229600" y="3995928"/>
            <a:ext cx="2103120" cy="219456"/>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Return on sales</a:t>
            </a:r>
            <a:endParaRPr lang="en-US" sz="1000" dirty="0"/>
          </a:p>
        </p:txBody>
      </p:sp>
      <p:sp>
        <p:nvSpPr>
          <p:cNvPr id="65" name="Text 63"/>
          <p:cNvSpPr txBox="1"/>
          <p:nvPr/>
        </p:nvSpPr>
        <p:spPr>
          <a:xfrm>
            <a:off x="10241280" y="3995928"/>
            <a:ext cx="1401775" cy="219456"/>
          </a:xfrm>
          <a:prstGeom prst="rect">
            <a:avLst/>
          </a:prstGeom>
          <a:noFill/>
          <a:ln/>
        </p:spPr>
        <p:txBody>
          <a:bodyPr wrap="square" lIns="0" tIns="0" rIns="0" bIns="0" rtlCol="0" anchor="t"/>
          <a:lstStyle/>
          <a:p>
            <a:pPr algn="r" indent="0" marL="0">
              <a:buNone/>
            </a:pPr>
            <a:r>
              <a:rPr lang="en-US" sz="1000" b="1" dirty="0">
                <a:solidFill>
                  <a:srgbClr val="EEE6E2"/>
                </a:solidFill>
                <a:latin typeface="Calibri" pitchFamily="34" charset="0"/>
                <a:ea typeface="Calibri" pitchFamily="34" charset="-122"/>
                <a:cs typeface="Calibri" pitchFamily="34" charset="-120"/>
              </a:rPr>
              <a:t>5.5–7.5%</a:t>
            </a:r>
            <a:endParaRPr lang="en-US" sz="1000" dirty="0"/>
          </a:p>
        </p:txBody>
      </p:sp>
      <p:sp>
        <p:nvSpPr>
          <p:cNvPr id="66" name="Text 64"/>
          <p:cNvSpPr txBox="1"/>
          <p:nvPr/>
        </p:nvSpPr>
        <p:spPr>
          <a:xfrm>
            <a:off x="8229600" y="4242816"/>
            <a:ext cx="2103120" cy="219456"/>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Extraordinary exp. (net)*</a:t>
            </a:r>
            <a:endParaRPr lang="en-US" sz="1000" dirty="0"/>
          </a:p>
        </p:txBody>
      </p:sp>
      <p:sp>
        <p:nvSpPr>
          <p:cNvPr id="67" name="Text 65"/>
          <p:cNvSpPr txBox="1"/>
          <p:nvPr/>
        </p:nvSpPr>
        <p:spPr>
          <a:xfrm>
            <a:off x="10241280" y="4242816"/>
            <a:ext cx="1401775" cy="219456"/>
          </a:xfrm>
          <a:prstGeom prst="rect">
            <a:avLst/>
          </a:prstGeom>
          <a:noFill/>
          <a:ln/>
        </p:spPr>
        <p:txBody>
          <a:bodyPr wrap="square" lIns="0" tIns="0" rIns="0" bIns="0" rtlCol="0" anchor="t"/>
          <a:lstStyle/>
          <a:p>
            <a:pPr algn="r" indent="0" marL="0">
              <a:buNone/>
            </a:pPr>
            <a:r>
              <a:rPr lang="en-US" sz="1000" b="1" dirty="0">
                <a:solidFill>
                  <a:srgbClr val="EEE6E2"/>
                </a:solidFill>
                <a:latin typeface="Calibri" pitchFamily="34" charset="0"/>
                <a:ea typeface="Calibri" pitchFamily="34" charset="-122"/>
                <a:cs typeface="Calibri" pitchFamily="34" charset="-120"/>
              </a:rPr>
              <a:t>€0.8–0.9bn</a:t>
            </a:r>
            <a:endParaRPr lang="en-US" sz="1000" dirty="0"/>
          </a:p>
        </p:txBody>
      </p:sp>
      <p:sp>
        <p:nvSpPr>
          <p:cNvPr id="68" name="Text 66"/>
          <p:cNvSpPr txBox="1"/>
          <p:nvPr/>
        </p:nvSpPr>
        <p:spPr>
          <a:xfrm>
            <a:off x="8229600" y="4489704"/>
            <a:ext cx="2103120" cy="219456"/>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Automotive EBITDA margin</a:t>
            </a:r>
            <a:endParaRPr lang="en-US" sz="1000" dirty="0"/>
          </a:p>
        </p:txBody>
      </p:sp>
      <p:sp>
        <p:nvSpPr>
          <p:cNvPr id="69" name="Text 67"/>
          <p:cNvSpPr txBox="1"/>
          <p:nvPr/>
        </p:nvSpPr>
        <p:spPr>
          <a:xfrm>
            <a:off x="10241280" y="4489704"/>
            <a:ext cx="1401775" cy="219456"/>
          </a:xfrm>
          <a:prstGeom prst="rect">
            <a:avLst/>
          </a:prstGeom>
          <a:noFill/>
          <a:ln/>
        </p:spPr>
        <p:txBody>
          <a:bodyPr wrap="square" lIns="0" tIns="0" rIns="0" bIns="0" rtlCol="0" anchor="t"/>
          <a:lstStyle/>
          <a:p>
            <a:pPr algn="r" indent="0" marL="0">
              <a:buNone/>
            </a:pPr>
            <a:r>
              <a:rPr lang="en-US" sz="1000" b="1" dirty="0">
                <a:solidFill>
                  <a:srgbClr val="EEE6E2"/>
                </a:solidFill>
                <a:latin typeface="Calibri" pitchFamily="34" charset="0"/>
                <a:ea typeface="Calibri" pitchFamily="34" charset="-122"/>
                <a:cs typeface="Calibri" pitchFamily="34" charset="-120"/>
              </a:rPr>
              <a:t>15–17%</a:t>
            </a:r>
            <a:endParaRPr lang="en-US" sz="1000" dirty="0"/>
          </a:p>
        </p:txBody>
      </p:sp>
      <p:sp>
        <p:nvSpPr>
          <p:cNvPr id="70" name="Text 68"/>
          <p:cNvSpPr txBox="1"/>
          <p:nvPr/>
        </p:nvSpPr>
        <p:spPr>
          <a:xfrm>
            <a:off x="8229600" y="4736592"/>
            <a:ext cx="2103120" cy="219456"/>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Automotive NCF margin</a:t>
            </a:r>
            <a:endParaRPr lang="en-US" sz="1000" dirty="0"/>
          </a:p>
        </p:txBody>
      </p:sp>
      <p:sp>
        <p:nvSpPr>
          <p:cNvPr id="71" name="Text 69"/>
          <p:cNvSpPr txBox="1"/>
          <p:nvPr/>
        </p:nvSpPr>
        <p:spPr>
          <a:xfrm>
            <a:off x="10241280" y="4736592"/>
            <a:ext cx="1401775" cy="219456"/>
          </a:xfrm>
          <a:prstGeom prst="rect">
            <a:avLst/>
          </a:prstGeom>
          <a:noFill/>
          <a:ln/>
        </p:spPr>
        <p:txBody>
          <a:bodyPr wrap="square" lIns="0" tIns="0" rIns="0" bIns="0" rtlCol="0" anchor="t"/>
          <a:lstStyle/>
          <a:p>
            <a:pPr algn="r" indent="0" marL="0">
              <a:buNone/>
            </a:pPr>
            <a:r>
              <a:rPr lang="en-US" sz="1000" b="1" dirty="0">
                <a:solidFill>
                  <a:srgbClr val="EEE6E2"/>
                </a:solidFill>
                <a:latin typeface="Calibri" pitchFamily="34" charset="0"/>
                <a:ea typeface="Calibri" pitchFamily="34" charset="-122"/>
                <a:cs typeface="Calibri" pitchFamily="34" charset="-120"/>
              </a:rPr>
              <a:t>3–5%</a:t>
            </a:r>
            <a:endParaRPr lang="en-US" sz="1000" dirty="0"/>
          </a:p>
        </p:txBody>
      </p:sp>
      <p:sp>
        <p:nvSpPr>
          <p:cNvPr id="72" name="Text 70"/>
          <p:cNvSpPr txBox="1"/>
          <p:nvPr/>
        </p:nvSpPr>
        <p:spPr>
          <a:xfrm>
            <a:off x="8229600" y="5074920"/>
            <a:ext cx="3413455" cy="1143000"/>
          </a:xfrm>
          <a:prstGeom prst="rect">
            <a:avLst/>
          </a:prstGeom>
          <a:noFill/>
          <a:ln/>
        </p:spPr>
        <p:txBody>
          <a:bodyPr wrap="square" lIns="0" tIns="0" rIns="0" bIns="0" rtlCol="0" anchor="t"/>
          <a:lstStyle/>
          <a:p>
            <a:pPr indent="0" marL="0">
              <a:spcAft>
                <a:spcPts val="200"/>
              </a:spcAft>
              <a:buNone/>
            </a:pPr>
            <a:r>
              <a:rPr lang="en-US" sz="950" b="1" dirty="0">
                <a:solidFill>
                  <a:srgbClr val="D5001C"/>
                </a:solidFill>
                <a:latin typeface="Calibri" pitchFamily="34" charset="0"/>
                <a:ea typeface="Calibri" pitchFamily="34" charset="-122"/>
                <a:cs typeface="Calibri" pitchFamily="34" charset="-120"/>
              </a:rPr>
              <a:t>A-05 </a:t>
            </a:r>
            <a:pPr indent="0" marL="0">
              <a:spcAft>
                <a:spcPts val="200"/>
              </a:spcAft>
              <a:buNone/>
            </a:pPr>
            <a:r>
              <a:rPr lang="en-US" sz="950" dirty="0">
                <a:solidFill>
                  <a:srgbClr val="9C8F8E"/>
                </a:solidFill>
                <a:latin typeface="Calibri" pitchFamily="34" charset="0"/>
                <a:ea typeface="Calibri" pitchFamily="34" charset="-122"/>
                <a:cs typeface="Calibri" pitchFamily="34" charset="-120"/>
              </a:rPr>
              <a:t>Automotive revenue = group guidance × H1 2026 automotive share (88.0%).</a:t>
            </a:r>
            <a:endParaRPr lang="en-US" sz="950" dirty="0"/>
          </a:p>
          <a:p>
            <a:pPr indent="0" marL="0">
              <a:spcAft>
                <a:spcPts val="200"/>
              </a:spcAft>
              <a:buNone/>
            </a:pPr>
            <a:r>
              <a:rPr lang="en-US" sz="950" b="1" dirty="0">
                <a:solidFill>
                  <a:srgbClr val="D5001C"/>
                </a:solidFill>
                <a:latin typeface="Calibri" pitchFamily="34" charset="0"/>
                <a:ea typeface="Calibri" pitchFamily="34" charset="-122"/>
                <a:cs typeface="Calibri" pitchFamily="34" charset="-120"/>
              </a:rPr>
              <a:t>A-06 </a:t>
            </a:r>
            <a:pPr indent="0" marL="0">
              <a:spcAft>
                <a:spcPts val="200"/>
              </a:spcAft>
              <a:buNone/>
            </a:pPr>
            <a:r>
              <a:rPr lang="en-US" sz="950" dirty="0">
                <a:solidFill>
                  <a:srgbClr val="9C8F8E"/>
                </a:solidFill>
                <a:latin typeface="Calibri" pitchFamily="34" charset="0"/>
                <a:ea typeface="Calibri" pitchFamily="34" charset="-122"/>
                <a:cs typeface="Calibri" pitchFamily="34" charset="-120"/>
              </a:rPr>
              <a:t>CFO’s €0.8–0.9bn (call transcript) is net, like H1.</a:t>
            </a:r>
            <a:endParaRPr lang="en-US" sz="950" dirty="0"/>
          </a:p>
          <a:p>
            <a:pPr indent="0" marL="0">
              <a:spcAft>
                <a:spcPts val="200"/>
              </a:spcAft>
              <a:buNone/>
            </a:pPr>
            <a:r>
              <a:rPr lang="en-US" sz="950" b="1" dirty="0">
                <a:solidFill>
                  <a:srgbClr val="D5001C"/>
                </a:solidFill>
                <a:latin typeface="Calibri" pitchFamily="34" charset="0"/>
                <a:ea typeface="Calibri" pitchFamily="34" charset="-122"/>
                <a:cs typeface="Calibri" pitchFamily="34" charset="-120"/>
              </a:rPr>
              <a:t>A-07 </a:t>
            </a:r>
            <a:pPr indent="0" marL="0">
              <a:spcAft>
                <a:spcPts val="200"/>
              </a:spcAft>
              <a:buNone/>
            </a:pPr>
            <a:r>
              <a:rPr lang="en-US" sz="950" dirty="0">
                <a:solidFill>
                  <a:srgbClr val="9C8F8E"/>
                </a:solidFill>
                <a:latin typeface="Calibri" pitchFamily="34" charset="0"/>
                <a:ea typeface="Calibri" pitchFamily="34" charset="-122"/>
                <a:cs typeface="Calibri" pitchFamily="34" charset="-120"/>
              </a:rPr>
              <a:t>H2 tariffs = H1 (€0.4bn); €0.3bn → L2 mid 11.00%.</a:t>
            </a:r>
            <a:endParaRPr lang="en-US" sz="950" dirty="0"/>
          </a:p>
          <a:p>
            <a:pPr indent="0" marL="0">
              <a:spcAft>
                <a:spcPts val="200"/>
              </a:spcAft>
              <a:buNone/>
            </a:pPr>
            <a:r>
              <a:rPr lang="en-US" sz="950" b="1" dirty="0">
                <a:solidFill>
                  <a:srgbClr val="D5001C"/>
                </a:solidFill>
                <a:latin typeface="Calibri" pitchFamily="34" charset="0"/>
                <a:ea typeface="Calibri" pitchFamily="34" charset="-122"/>
                <a:cs typeface="Calibri" pitchFamily="34" charset="-120"/>
              </a:rPr>
              <a:t>A-08 </a:t>
            </a:r>
            <a:pPr indent="0" marL="0">
              <a:spcAft>
                <a:spcPts val="200"/>
              </a:spcAft>
              <a:buNone/>
            </a:pPr>
            <a:r>
              <a:rPr lang="en-US" sz="950" dirty="0">
                <a:solidFill>
                  <a:srgbClr val="9C8F8E"/>
                </a:solidFill>
                <a:latin typeface="Calibri" pitchFamily="34" charset="0"/>
                <a:ea typeface="Calibri" pitchFamily="34" charset="-122"/>
                <a:cs typeface="Calibri" pitchFamily="34" charset="-120"/>
              </a:rPr>
              <a:t>Range ends are combined independently.</a:t>
            </a:r>
            <a:endParaRPr lang="en-US" sz="950" dirty="0"/>
          </a:p>
        </p:txBody>
      </p:sp>
      <p:sp>
        <p:nvSpPr>
          <p:cNvPr id="73" name="Text 71"/>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74" name="Text 72"/>
          <p:cNvSpPr txBox="1"/>
          <p:nvPr/>
        </p:nvSpPr>
        <p:spPr>
          <a:xfrm>
            <a:off x="4754880" y="6473952"/>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Sources: FY2026 guidance (S016, slide 14). *CFO on the H1 2026 call (S027, transcript), not in written guidance. H2 = FY − H1.</a:t>
            </a:r>
            <a:endParaRPr lang="en-US" sz="850" dirty="0"/>
          </a:p>
        </p:txBody>
      </p:sp>
      <p:sp>
        <p:nvSpPr>
          <p:cNvPr id="75" name="Text 73"/>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11</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Data architecture and QA</a:t>
            </a:r>
            <a:endParaRPr lang="en-US" sz="1200" dirty="0"/>
          </a:p>
        </p:txBody>
      </p:sp>
      <p:sp>
        <p:nvSpPr>
          <p:cNvPr id="5" name="Text 3"/>
          <p:cNvSpPr txBox="1"/>
          <p:nvPr/>
        </p:nvSpPr>
        <p:spPr>
          <a:xfrm>
            <a:off x="548640" y="731520"/>
            <a:ext cx="1106424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NOT JUST A DASHBOARD. EVERY NUMBER IS TESTED.</a:t>
            </a:r>
            <a:endParaRPr lang="en-US" sz="3000" dirty="0"/>
          </a:p>
        </p:txBody>
      </p:sp>
      <p:sp>
        <p:nvSpPr>
          <p:cNvPr id="6" name="Shape 4"/>
          <p:cNvSpPr/>
          <p:nvPr/>
        </p:nvSpPr>
        <p:spPr>
          <a:xfrm>
            <a:off x="548640" y="1508760"/>
            <a:ext cx="1999427" cy="1325880"/>
          </a:xfrm>
          <a:prstGeom prst="roundRect">
            <a:avLst>
              <a:gd name="adj" fmla="val 413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7" name="Text 5"/>
          <p:cNvSpPr txBox="1"/>
          <p:nvPr/>
        </p:nvSpPr>
        <p:spPr>
          <a:xfrm>
            <a:off x="713232" y="1627632"/>
            <a:ext cx="1670243" cy="219456"/>
          </a:xfrm>
          <a:prstGeom prst="rect">
            <a:avLst/>
          </a:prstGeom>
          <a:noFill/>
          <a:ln/>
        </p:spPr>
        <p:txBody>
          <a:bodyPr wrap="square" lIns="0" tIns="0" rIns="0" bIns="0" rtlCol="0" anchor="t"/>
          <a:lstStyle/>
          <a:p>
            <a:pPr indent="0" marL="0">
              <a:buNone/>
            </a:pPr>
            <a:r>
              <a:rPr lang="en-US" sz="1100" b="1" spc="200" kern="0" dirty="0">
                <a:solidFill>
                  <a:srgbClr val="D5001C"/>
                </a:solidFill>
                <a:latin typeface="Calibri" pitchFamily="34" charset="0"/>
                <a:ea typeface="Calibri" pitchFamily="34" charset="-122"/>
                <a:cs typeface="Calibri" pitchFamily="34" charset="-120"/>
              </a:rPr>
              <a:t>SOURCES</a:t>
            </a:r>
            <a:endParaRPr lang="en-US" sz="1100" dirty="0"/>
          </a:p>
        </p:txBody>
      </p:sp>
      <p:sp>
        <p:nvSpPr>
          <p:cNvPr id="8" name="Text 6"/>
          <p:cNvSpPr txBox="1"/>
          <p:nvPr/>
        </p:nvSpPr>
        <p:spPr>
          <a:xfrm>
            <a:off x="713232" y="1883664"/>
            <a:ext cx="1670243" cy="411480"/>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27 registered sources</a:t>
            </a:r>
            <a:endParaRPr lang="en-US" sz="1200" dirty="0"/>
          </a:p>
        </p:txBody>
      </p:sp>
      <p:sp>
        <p:nvSpPr>
          <p:cNvPr id="9" name="Text 7"/>
          <p:cNvSpPr txBox="1"/>
          <p:nvPr/>
        </p:nvSpPr>
        <p:spPr>
          <a:xfrm>
            <a:off x="713232" y="2286000"/>
            <a:ext cx="1670243" cy="4572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155 input rows, 1 gap documented, none estimated</a:t>
            </a:r>
            <a:endParaRPr lang="en-US" sz="950" dirty="0"/>
          </a:p>
        </p:txBody>
      </p:sp>
      <p:sp>
        <p:nvSpPr>
          <p:cNvPr id="10" name="Shape 8"/>
          <p:cNvSpPr/>
          <p:nvPr/>
        </p:nvSpPr>
        <p:spPr>
          <a:xfrm>
            <a:off x="2584643" y="2167128"/>
            <a:ext cx="201168" cy="0"/>
          </a:xfrm>
          <a:prstGeom prst="line">
            <a:avLst/>
          </a:prstGeom>
          <a:noFill/>
          <a:ln w="19050">
            <a:solidFill>
              <a:srgbClr val="D5001C"/>
            </a:solidFill>
            <a:prstDash val="solid"/>
            <a:tailEnd type="triangle"/>
          </a:ln>
        </p:spPr>
      </p:sp>
      <p:sp>
        <p:nvSpPr>
          <p:cNvPr id="11" name="Shape 9"/>
          <p:cNvSpPr/>
          <p:nvPr/>
        </p:nvSpPr>
        <p:spPr>
          <a:xfrm>
            <a:off x="2822387" y="1508760"/>
            <a:ext cx="1999427" cy="1325880"/>
          </a:xfrm>
          <a:prstGeom prst="roundRect">
            <a:avLst>
              <a:gd name="adj" fmla="val 413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2" name="Text 10"/>
          <p:cNvSpPr txBox="1"/>
          <p:nvPr/>
        </p:nvSpPr>
        <p:spPr>
          <a:xfrm>
            <a:off x="2986979" y="1627632"/>
            <a:ext cx="1670243" cy="219456"/>
          </a:xfrm>
          <a:prstGeom prst="rect">
            <a:avLst/>
          </a:prstGeom>
          <a:noFill/>
          <a:ln/>
        </p:spPr>
        <p:txBody>
          <a:bodyPr wrap="square" lIns="0" tIns="0" rIns="0" bIns="0" rtlCol="0" anchor="t"/>
          <a:lstStyle/>
          <a:p>
            <a:pPr indent="0" marL="0">
              <a:buNone/>
            </a:pPr>
            <a:r>
              <a:rPr lang="en-US" sz="1100" b="1" spc="200" kern="0" dirty="0">
                <a:solidFill>
                  <a:srgbClr val="D5001C"/>
                </a:solidFill>
                <a:latin typeface="Calibri" pitchFamily="34" charset="0"/>
                <a:ea typeface="Calibri" pitchFamily="34" charset="-122"/>
                <a:cs typeface="Calibri" pitchFamily="34" charset="-120"/>
              </a:rPr>
              <a:t>SQL</a:t>
            </a:r>
            <a:endParaRPr lang="en-US" sz="1100" dirty="0"/>
          </a:p>
        </p:txBody>
      </p:sp>
      <p:sp>
        <p:nvSpPr>
          <p:cNvPr id="13" name="Text 11"/>
          <p:cNvSpPr txBox="1"/>
          <p:nvPr/>
        </p:nvSpPr>
        <p:spPr>
          <a:xfrm>
            <a:off x="2986979" y="1883664"/>
            <a:ext cx="1670243" cy="411480"/>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PostgreSQL 16, 11 mart views</a:t>
            </a:r>
            <a:endParaRPr lang="en-US" sz="1200" dirty="0"/>
          </a:p>
        </p:txBody>
      </p:sp>
      <p:sp>
        <p:nvSpPr>
          <p:cNvPr id="14" name="Text 12"/>
          <p:cNvSpPr txBox="1"/>
          <p:nvPr/>
        </p:nvSpPr>
        <p:spPr>
          <a:xfrm>
            <a:off x="2986979" y="2286000"/>
            <a:ext cx="1670243" cy="4572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305 data-quality + 116 model-quality checks pass</a:t>
            </a:r>
            <a:endParaRPr lang="en-US" sz="950" dirty="0"/>
          </a:p>
        </p:txBody>
      </p:sp>
      <p:sp>
        <p:nvSpPr>
          <p:cNvPr id="15" name="Shape 13"/>
          <p:cNvSpPr/>
          <p:nvPr/>
        </p:nvSpPr>
        <p:spPr>
          <a:xfrm>
            <a:off x="4858390" y="2167128"/>
            <a:ext cx="201168" cy="0"/>
          </a:xfrm>
          <a:prstGeom prst="line">
            <a:avLst/>
          </a:prstGeom>
          <a:noFill/>
          <a:ln w="19050">
            <a:solidFill>
              <a:srgbClr val="D5001C"/>
            </a:solidFill>
            <a:prstDash val="solid"/>
            <a:tailEnd type="triangle"/>
          </a:ln>
        </p:spPr>
      </p:sp>
      <p:sp>
        <p:nvSpPr>
          <p:cNvPr id="16" name="Shape 14"/>
          <p:cNvSpPr/>
          <p:nvPr/>
        </p:nvSpPr>
        <p:spPr>
          <a:xfrm>
            <a:off x="5096134" y="1508760"/>
            <a:ext cx="1999427" cy="1325880"/>
          </a:xfrm>
          <a:prstGeom prst="roundRect">
            <a:avLst>
              <a:gd name="adj" fmla="val 413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17" name="Text 15"/>
          <p:cNvSpPr txBox="1"/>
          <p:nvPr/>
        </p:nvSpPr>
        <p:spPr>
          <a:xfrm>
            <a:off x="5260726" y="1627632"/>
            <a:ext cx="1670243" cy="219456"/>
          </a:xfrm>
          <a:prstGeom prst="rect">
            <a:avLst/>
          </a:prstGeom>
          <a:noFill/>
          <a:ln/>
        </p:spPr>
        <p:txBody>
          <a:bodyPr wrap="square" lIns="0" tIns="0" rIns="0" bIns="0" rtlCol="0" anchor="t"/>
          <a:lstStyle/>
          <a:p>
            <a:pPr indent="0" marL="0">
              <a:buNone/>
            </a:pPr>
            <a:r>
              <a:rPr lang="en-US" sz="1100" b="1" spc="200" kern="0" dirty="0">
                <a:solidFill>
                  <a:srgbClr val="D5001C"/>
                </a:solidFill>
                <a:latin typeface="Calibri" pitchFamily="34" charset="0"/>
                <a:ea typeface="Calibri" pitchFamily="34" charset="-122"/>
                <a:cs typeface="Calibri" pitchFamily="34" charset="-120"/>
              </a:rPr>
              <a:t>EXCEL</a:t>
            </a:r>
            <a:endParaRPr lang="en-US" sz="1100" dirty="0"/>
          </a:p>
        </p:txBody>
      </p:sp>
      <p:sp>
        <p:nvSpPr>
          <p:cNvPr id="18" name="Text 16"/>
          <p:cNvSpPr txBox="1"/>
          <p:nvPr/>
        </p:nvSpPr>
        <p:spPr>
          <a:xfrm>
            <a:off x="5260726" y="1883664"/>
            <a:ext cx="1670243" cy="411480"/>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3,003 formulas</a:t>
            </a:r>
            <a:endParaRPr lang="en-US" sz="1200" dirty="0"/>
          </a:p>
        </p:txBody>
      </p:sp>
      <p:sp>
        <p:nvSpPr>
          <p:cNvPr id="19" name="Text 17"/>
          <p:cNvSpPr txBox="1"/>
          <p:nvPr/>
        </p:nvSpPr>
        <p:spPr>
          <a:xfrm>
            <a:off x="5260726" y="2286000"/>
            <a:ext cx="1670243" cy="4572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50/50 audit checks, 553 values verified</a:t>
            </a:r>
            <a:endParaRPr lang="en-US" sz="950" dirty="0"/>
          </a:p>
        </p:txBody>
      </p:sp>
      <p:sp>
        <p:nvSpPr>
          <p:cNvPr id="20" name="Shape 18"/>
          <p:cNvSpPr/>
          <p:nvPr/>
        </p:nvSpPr>
        <p:spPr>
          <a:xfrm>
            <a:off x="7132137" y="2167128"/>
            <a:ext cx="201168" cy="0"/>
          </a:xfrm>
          <a:prstGeom prst="line">
            <a:avLst/>
          </a:prstGeom>
          <a:noFill/>
          <a:ln w="19050">
            <a:solidFill>
              <a:srgbClr val="D5001C"/>
            </a:solidFill>
            <a:prstDash val="solid"/>
            <a:tailEnd type="triangle"/>
          </a:ln>
        </p:spPr>
      </p:sp>
      <p:sp>
        <p:nvSpPr>
          <p:cNvPr id="21" name="Shape 19"/>
          <p:cNvSpPr/>
          <p:nvPr/>
        </p:nvSpPr>
        <p:spPr>
          <a:xfrm>
            <a:off x="7369881" y="1508760"/>
            <a:ext cx="1999427" cy="1325880"/>
          </a:xfrm>
          <a:prstGeom prst="roundRect">
            <a:avLst>
              <a:gd name="adj" fmla="val 413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22" name="Text 20"/>
          <p:cNvSpPr txBox="1"/>
          <p:nvPr/>
        </p:nvSpPr>
        <p:spPr>
          <a:xfrm>
            <a:off x="7534473" y="1627632"/>
            <a:ext cx="1670243" cy="219456"/>
          </a:xfrm>
          <a:prstGeom prst="rect">
            <a:avLst/>
          </a:prstGeom>
          <a:noFill/>
          <a:ln/>
        </p:spPr>
        <p:txBody>
          <a:bodyPr wrap="square" lIns="0" tIns="0" rIns="0" bIns="0" rtlCol="0" anchor="t"/>
          <a:lstStyle/>
          <a:p>
            <a:pPr indent="0" marL="0">
              <a:buNone/>
            </a:pPr>
            <a:r>
              <a:rPr lang="en-US" sz="1100" b="1" spc="200" kern="0" dirty="0">
                <a:solidFill>
                  <a:srgbClr val="D5001C"/>
                </a:solidFill>
                <a:latin typeface="Calibri" pitchFamily="34" charset="0"/>
                <a:ea typeface="Calibri" pitchFamily="34" charset="-122"/>
                <a:cs typeface="Calibri" pitchFamily="34" charset="-120"/>
              </a:rPr>
              <a:t>POWER BI</a:t>
            </a:r>
            <a:endParaRPr lang="en-US" sz="1100" dirty="0"/>
          </a:p>
        </p:txBody>
      </p:sp>
      <p:sp>
        <p:nvSpPr>
          <p:cNvPr id="23" name="Text 21"/>
          <p:cNvSpPr txBox="1"/>
          <p:nvPr/>
        </p:nvSpPr>
        <p:spPr>
          <a:xfrm>
            <a:off x="7534473" y="1883664"/>
            <a:ext cx="1670243" cy="411480"/>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17 tables, 194 DAX measures</a:t>
            </a:r>
            <a:endParaRPr lang="en-US" sz="1200" dirty="0"/>
          </a:p>
        </p:txBody>
      </p:sp>
      <p:sp>
        <p:nvSpPr>
          <p:cNvPr id="24" name="Text 22"/>
          <p:cNvSpPr txBox="1"/>
          <p:nvPr/>
        </p:nvSpPr>
        <p:spPr>
          <a:xfrm>
            <a:off x="7534473" y="2286000"/>
            <a:ext cx="1670243" cy="4572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6 report pages, star schema</a:t>
            </a:r>
            <a:endParaRPr lang="en-US" sz="950" dirty="0"/>
          </a:p>
        </p:txBody>
      </p:sp>
      <p:sp>
        <p:nvSpPr>
          <p:cNvPr id="25" name="Shape 23"/>
          <p:cNvSpPr/>
          <p:nvPr/>
        </p:nvSpPr>
        <p:spPr>
          <a:xfrm>
            <a:off x="9405884" y="2167128"/>
            <a:ext cx="201168" cy="0"/>
          </a:xfrm>
          <a:prstGeom prst="line">
            <a:avLst/>
          </a:prstGeom>
          <a:noFill/>
          <a:ln w="19050">
            <a:solidFill>
              <a:srgbClr val="D5001C"/>
            </a:solidFill>
            <a:prstDash val="solid"/>
            <a:tailEnd type="triangle"/>
          </a:ln>
        </p:spPr>
      </p:sp>
      <p:sp>
        <p:nvSpPr>
          <p:cNvPr id="26" name="Shape 24"/>
          <p:cNvSpPr/>
          <p:nvPr/>
        </p:nvSpPr>
        <p:spPr>
          <a:xfrm>
            <a:off x="9643628" y="1508760"/>
            <a:ext cx="1999427" cy="1325880"/>
          </a:xfrm>
          <a:prstGeom prst="roundRect">
            <a:avLst>
              <a:gd name="adj" fmla="val 4138"/>
            </a:avLst>
          </a:prstGeom>
          <a:solidFill>
            <a:srgbClr val="150B0D"/>
          </a:solidFill>
          <a:ln w="9525">
            <a:solidFill>
              <a:srgbClr val="7A6233"/>
            </a:solidFill>
            <a:prstDash val="solid"/>
          </a:ln>
          <a:effectLst>
            <a:outerShdw sx="100000" sy="100000" kx="0" ky="0" algn="bl" rotWithShape="0" blurRad="228600" dist="76200" dir="5400000">
              <a:srgbClr val="000000">
                <a:alpha val="55000"/>
              </a:srgbClr>
            </a:outerShdw>
          </a:effectLst>
        </p:spPr>
      </p:sp>
      <p:sp>
        <p:nvSpPr>
          <p:cNvPr id="27" name="Text 25"/>
          <p:cNvSpPr txBox="1"/>
          <p:nvPr/>
        </p:nvSpPr>
        <p:spPr>
          <a:xfrm>
            <a:off x="9808220" y="1627632"/>
            <a:ext cx="1670243" cy="219456"/>
          </a:xfrm>
          <a:prstGeom prst="rect">
            <a:avLst/>
          </a:prstGeom>
          <a:noFill/>
          <a:ln/>
        </p:spPr>
        <p:txBody>
          <a:bodyPr wrap="square" lIns="0" tIns="0" rIns="0" bIns="0" rtlCol="0" anchor="t"/>
          <a:lstStyle/>
          <a:p>
            <a:pPr indent="0" marL="0">
              <a:buNone/>
            </a:pPr>
            <a:r>
              <a:rPr lang="en-US" sz="1100" b="1" spc="200" kern="0" dirty="0">
                <a:solidFill>
                  <a:srgbClr val="C6A15B"/>
                </a:solidFill>
                <a:latin typeface="Calibri" pitchFamily="34" charset="0"/>
                <a:ea typeface="Calibri" pitchFamily="34" charset="-122"/>
                <a:cs typeface="Calibri" pitchFamily="34" charset="-120"/>
              </a:rPr>
              <a:t>QA</a:t>
            </a:r>
            <a:endParaRPr lang="en-US" sz="1100" dirty="0"/>
          </a:p>
        </p:txBody>
      </p:sp>
      <p:sp>
        <p:nvSpPr>
          <p:cNvPr id="28" name="Text 26"/>
          <p:cNvSpPr txBox="1"/>
          <p:nvPr/>
        </p:nvSpPr>
        <p:spPr>
          <a:xfrm>
            <a:off x="9808220" y="1883664"/>
            <a:ext cx="1670243" cy="411480"/>
          </a:xfrm>
          <a:prstGeom prst="rect">
            <a:avLst/>
          </a:prstGeom>
          <a:noFill/>
          <a:ln/>
        </p:spPr>
        <p:txBody>
          <a:bodyPr wrap="square" lIns="0" tIns="0" rIns="0" bIns="0" rtlCol="0" anchor="t"/>
          <a:lstStyle/>
          <a:p>
            <a:pPr indent="0" marL="0">
              <a:buNone/>
            </a:pPr>
            <a:r>
              <a:rPr lang="en-US" sz="1200" b="1" dirty="0">
                <a:solidFill>
                  <a:srgbClr val="EEE6E2"/>
                </a:solidFill>
                <a:latin typeface="Calibri" pitchFamily="34" charset="0"/>
                <a:ea typeface="Calibri" pitchFamily="34" charset="-122"/>
                <a:cs typeface="Calibri" pitchFamily="34" charset="-120"/>
              </a:rPr>
              <a:t>388/388 in-report checks</a:t>
            </a:r>
            <a:endParaRPr lang="en-US" sz="1200" dirty="0"/>
          </a:p>
        </p:txBody>
      </p:sp>
      <p:sp>
        <p:nvSpPr>
          <p:cNvPr id="29" name="Text 27"/>
          <p:cNvSpPr txBox="1"/>
          <p:nvPr/>
        </p:nvSpPr>
        <p:spPr>
          <a:xfrm>
            <a:off x="9808220" y="2286000"/>
            <a:ext cx="1670243" cy="457200"/>
          </a:xfrm>
          <a:prstGeom prst="rect">
            <a:avLst/>
          </a:prstGeom>
          <a:noFill/>
          <a:ln/>
        </p:spPr>
        <p:txBody>
          <a:bodyPr wrap="square" lIns="0" tIns="0" rIns="0" bIns="0" rtlCol="0" anchor="t"/>
          <a:lstStyle/>
          <a:p>
            <a:pPr indent="0" marL="0">
              <a:buNone/>
            </a:pPr>
            <a:r>
              <a:rPr lang="en-US" sz="950" dirty="0">
                <a:solidFill>
                  <a:srgbClr val="9C8F8E"/>
                </a:solidFill>
                <a:latin typeface="Calibri" pitchFamily="34" charset="0"/>
                <a:ea typeface="Calibri" pitchFamily="34" charset="-122"/>
                <a:cs typeface="Calibri" pitchFamily="34" charset="-120"/>
              </a:rPr>
              <a:t>1,524 cross-tool comparisons, 0 failures</a:t>
            </a:r>
            <a:endParaRPr lang="en-US" sz="950" dirty="0"/>
          </a:p>
        </p:txBody>
      </p:sp>
      <p:sp>
        <p:nvSpPr>
          <p:cNvPr id="30" name="Text 28"/>
          <p:cNvSpPr txBox="1"/>
          <p:nvPr/>
        </p:nvSpPr>
        <p:spPr>
          <a:xfrm>
            <a:off x="548640" y="3154680"/>
            <a:ext cx="4937760" cy="1234440"/>
          </a:xfrm>
          <a:prstGeom prst="rect">
            <a:avLst/>
          </a:prstGeom>
          <a:noFill/>
          <a:ln/>
        </p:spPr>
        <p:txBody>
          <a:bodyPr wrap="square" lIns="0" tIns="0" rIns="0" bIns="0" rtlCol="0" anchor="t"/>
          <a:lstStyle/>
          <a:p>
            <a:pPr indent="0" marL="0">
              <a:lnSpc>
                <a:spcPct val="90000"/>
              </a:lnSpc>
              <a:buNone/>
            </a:pPr>
            <a:r>
              <a:rPr lang="en-US" sz="4000" b="1" dirty="0">
                <a:solidFill>
                  <a:srgbClr val="C6A15B"/>
                </a:solidFill>
                <a:latin typeface="Calibri" pitchFamily="34" charset="0"/>
                <a:ea typeface="Calibri" pitchFamily="34" charset="-122"/>
                <a:cs typeface="Calibri" pitchFamily="34" charset="-120"/>
              </a:rPr>
              <a:t>ALL 388 QA CHECKS PASS</a:t>
            </a:r>
            <a:endParaRPr lang="en-US" sz="4000" dirty="0"/>
          </a:p>
        </p:txBody>
      </p:sp>
      <p:sp>
        <p:nvSpPr>
          <p:cNvPr id="31" name="Text 29"/>
          <p:cNvSpPr txBox="1"/>
          <p:nvPr/>
        </p:nvSpPr>
        <p:spPr>
          <a:xfrm>
            <a:off x="548640" y="4407408"/>
            <a:ext cx="4572000" cy="457200"/>
          </a:xfrm>
          <a:prstGeom prst="rect">
            <a:avLst/>
          </a:prstGeom>
          <a:noFill/>
          <a:ln/>
        </p:spPr>
        <p:txBody>
          <a:bodyPr wrap="square" lIns="0" tIns="0" rIns="0" bIns="0" rtlCol="0" anchor="t"/>
          <a:lstStyle/>
          <a:p>
            <a:pPr indent="0" marL="0">
              <a:buNone/>
            </a:pPr>
            <a:r>
              <a:rPr lang="en-US" sz="1100" dirty="0">
                <a:solidFill>
                  <a:srgbClr val="EEE6E2"/>
                </a:solidFill>
                <a:latin typeface="Calibri" pitchFamily="34" charset="0"/>
                <a:ea typeface="Calibri" pitchFamily="34" charset="-122"/>
                <a:cs typeface="Calibri" pitchFamily="34" charset="-120"/>
              </a:rPr>
              <a:t>Inside the Power BI report, each measure is recomputed from base values and compared with the SQL mart.</a:t>
            </a:r>
            <a:endParaRPr lang="en-US" sz="1100" dirty="0"/>
          </a:p>
        </p:txBody>
      </p:sp>
      <p:sp>
        <p:nvSpPr>
          <p:cNvPr id="32" name="Text 30"/>
          <p:cNvSpPr txBox="1"/>
          <p:nvPr/>
        </p:nvSpPr>
        <p:spPr>
          <a:xfrm>
            <a:off x="548640" y="4983480"/>
            <a:ext cx="4754880" cy="1234440"/>
          </a:xfrm>
          <a:prstGeom prst="rect">
            <a:avLst/>
          </a:prstGeom>
          <a:noFill/>
          <a:ln/>
        </p:spPr>
        <p:txBody>
          <a:bodyPr wrap="square" lIns="0" tIns="0" rIns="0" bIns="0" rtlCol="0" anchor="t"/>
          <a:lstStyle/>
          <a:p>
            <a:pPr indent="0" marL="0">
              <a:spcAft>
                <a:spcPts val="300"/>
              </a:spcAft>
              <a:buNone/>
            </a:pPr>
            <a:r>
              <a:rPr lang="en-US" sz="1000" b="1" dirty="0">
                <a:solidFill>
                  <a:srgbClr val="EEE6E2"/>
                </a:solidFill>
                <a:latin typeface="Calibri" pitchFamily="34" charset="0"/>
                <a:ea typeface="Calibri" pitchFamily="34" charset="-122"/>
                <a:cs typeface="Calibri" pitchFamily="34" charset="-120"/>
              </a:rPr>
              <a:t>Found and fixed in review</a:t>
            </a:r>
            <a:endParaRPr lang="en-US" sz="1000" dirty="0"/>
          </a:p>
          <a:p>
            <a:pPr marL="152400" indent="-152400">
              <a:spcAft>
                <a:spcPts val="300"/>
              </a:spcAft>
              <a:buSzPct val="100000"/>
              <a:buChar char="•"/>
            </a:pPr>
            <a:r>
              <a:rPr lang="en-US" sz="1000" dirty="0">
                <a:solidFill>
                  <a:srgbClr val="9C8F8E"/>
                </a:solidFill>
                <a:latin typeface="Calibri" pitchFamily="34" charset="0"/>
                <a:ea typeface="Calibri" pitchFamily="34" charset="-122"/>
                <a:cs typeface="Calibri" pitchFamily="34" charset="-120"/>
              </a:rPr>
              <a:t>A spreadsheet lookup that behaved differently in another engine</a:t>
            </a:r>
            <a:endParaRPr lang="en-US" sz="1000" dirty="0"/>
          </a:p>
          <a:p>
            <a:pPr marL="152400" indent="-152400">
              <a:spcAft>
                <a:spcPts val="300"/>
              </a:spcAft>
              <a:buSzPct val="100000"/>
              <a:buChar char="•"/>
            </a:pPr>
            <a:r>
              <a:rPr lang="en-US" sz="1000" dirty="0">
                <a:solidFill>
                  <a:srgbClr val="9C8F8E"/>
                </a:solidFill>
                <a:latin typeface="Calibri" pitchFamily="34" charset="0"/>
                <a:ea typeface="Calibri" pitchFamily="34" charset="-122"/>
                <a:cs typeface="Calibri" pitchFamily="34" charset="-120"/>
              </a:rPr>
              <a:t>A DAX filter-context error in delivery-mix shares; 77 checks added</a:t>
            </a:r>
            <a:endParaRPr lang="en-US" sz="1000" dirty="0"/>
          </a:p>
          <a:p>
            <a:pPr marL="152400" indent="-152400">
              <a:spcAft>
                <a:spcPts val="300"/>
              </a:spcAft>
              <a:buSzPct val="100000"/>
              <a:buChar char="•"/>
            </a:pPr>
            <a:r>
              <a:rPr lang="en-US" sz="1000" dirty="0">
                <a:solidFill>
                  <a:srgbClr val="9C8F8E"/>
                </a:solidFill>
                <a:latin typeface="Calibri" pitchFamily="34" charset="0"/>
                <a:ea typeface="Calibri" pitchFamily="34" charset="-122"/>
                <a:cs typeface="Calibri" pitchFamily="34" charset="-120"/>
              </a:rPr>
              <a:t>26 Excel cells with no prior-year period, blanked</a:t>
            </a:r>
            <a:endParaRPr lang="en-US" sz="1000" dirty="0"/>
          </a:p>
        </p:txBody>
      </p:sp>
      <p:sp>
        <p:nvSpPr>
          <p:cNvPr id="33" name="Shape 31"/>
          <p:cNvSpPr/>
          <p:nvPr/>
        </p:nvSpPr>
        <p:spPr>
          <a:xfrm>
            <a:off x="5724144" y="3136392"/>
            <a:ext cx="5918911" cy="2368336"/>
          </a:xfrm>
          <a:prstGeom prst="roundRect">
            <a:avLst>
              <a:gd name="adj" fmla="val 3089"/>
            </a:avLst>
          </a:prstGeom>
          <a:solidFill>
            <a:srgbClr val="140C0E"/>
          </a:solidFill>
          <a:ln w="9525">
            <a:solidFill>
              <a:srgbClr val="3A1A20"/>
            </a:solidFill>
            <a:prstDash val="solid"/>
          </a:ln>
          <a:effectLst>
            <a:outerShdw sx="100000" sy="100000" kx="0" ky="0" algn="bl" rotWithShape="0" blurRad="304800" dist="50800" dir="5400000">
              <a:srgbClr val="B0001A">
                <a:alpha val="35000"/>
              </a:srgbClr>
            </a:outerShdw>
          </a:effectLst>
        </p:spPr>
      </p:sp>
      <p:sp>
        <p:nvSpPr>
          <p:cNvPr id="34" name="Shape 32"/>
          <p:cNvSpPr/>
          <p:nvPr/>
        </p:nvSpPr>
        <p:spPr>
          <a:xfrm>
            <a:off x="5824728" y="3236976"/>
            <a:ext cx="64008" cy="64008"/>
          </a:xfrm>
          <a:prstGeom prst="ellipse">
            <a:avLst/>
          </a:prstGeom>
          <a:solidFill>
            <a:srgbClr val="FF4252"/>
          </a:solidFill>
          <a:ln w="12700">
            <a:solidFill>
              <a:srgbClr val="FF4252"/>
            </a:solidFill>
            <a:prstDash val="solid"/>
          </a:ln>
        </p:spPr>
      </p:sp>
      <p:sp>
        <p:nvSpPr>
          <p:cNvPr id="35" name="Text 33"/>
          <p:cNvSpPr txBox="1"/>
          <p:nvPr/>
        </p:nvSpPr>
        <p:spPr>
          <a:xfrm>
            <a:off x="5952744" y="3182112"/>
            <a:ext cx="5571439" cy="164592"/>
          </a:xfrm>
          <a:prstGeom prst="rect">
            <a:avLst/>
          </a:prstGeom>
          <a:noFill/>
          <a:ln/>
        </p:spPr>
        <p:txBody>
          <a:bodyPr wrap="square" lIns="0" tIns="0" rIns="0" bIns="0" rtlCol="0" anchor="t"/>
          <a:lstStyle/>
          <a:p>
            <a:pPr indent="0" marL="0">
              <a:buNone/>
            </a:pPr>
            <a:r>
              <a:rPr lang="en-US" sz="850" b="1" dirty="0">
                <a:solidFill>
                  <a:srgbClr val="9C8F8E"/>
                </a:solidFill>
                <a:latin typeface="Calibri" pitchFamily="34" charset="0"/>
                <a:ea typeface="Calibri" pitchFamily="34" charset="-122"/>
                <a:cs typeface="Calibri" pitchFamily="34" charset="-120"/>
              </a:rPr>
              <a:t>POWER BI, PAGE 6: QA AND LINEAGE</a:t>
            </a:r>
            <a:endParaRPr lang="en-US" sz="850" dirty="0"/>
          </a:p>
        </p:txBody>
      </p:sp>
      <p:pic>
        <p:nvPicPr>
          <p:cNvPr id="36" name="Image 0" descr="Power BI page 6: ALL 388 QA CHECKS PASS">    </p:cNvPr>
          <p:cNvPicPr>
            <a:picLocks noChangeAspect="1"/>
          </p:cNvPicPr>
          <p:nvPr/>
        </p:nvPicPr>
        <p:blipFill>
          <a:blip r:embed="rId2"/>
          <a:stretch>
            <a:fillRect/>
          </a:stretch>
        </p:blipFill>
        <p:spPr>
          <a:xfrm>
            <a:off x="5806440" y="3429000"/>
            <a:ext cx="5754319" cy="1993432"/>
          </a:xfrm>
          <a:prstGeom prst="rect">
            <a:avLst/>
          </a:prstGeom>
        </p:spPr>
      </p:pic>
      <p:sp>
        <p:nvSpPr>
          <p:cNvPr id="37" name="Text 34"/>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38" name="Text 35"/>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457200" cy="228600"/>
          </a:xfrm>
          <a:prstGeom prst="rect">
            <a:avLst/>
          </a:prstGeom>
          <a:noFill/>
          <a:ln/>
        </p:spPr>
        <p:txBody>
          <a:bodyPr wrap="square" lIns="0" tIns="0" rIns="0" bIns="0" rtlCol="0" anchor="t"/>
          <a:lstStyle/>
          <a:p>
            <a:pPr indent="0" marL="0">
              <a:buNone/>
            </a:pPr>
            <a:r>
              <a:rPr lang="en-US" sz="1200" b="1" spc="200" kern="0" dirty="0">
                <a:solidFill>
                  <a:srgbClr val="D5001C"/>
                </a:solidFill>
                <a:latin typeface="Calibri" pitchFamily="34" charset="0"/>
                <a:ea typeface="Calibri" pitchFamily="34" charset="-122"/>
                <a:cs typeface="Calibri" pitchFamily="34" charset="-120"/>
              </a:rPr>
              <a:t>12</a:t>
            </a:r>
            <a:endParaRPr lang="en-US" sz="1200" dirty="0"/>
          </a:p>
        </p:txBody>
      </p:sp>
      <p:sp>
        <p:nvSpPr>
          <p:cNvPr id="3" name="Shape 1"/>
          <p:cNvSpPr/>
          <p:nvPr/>
        </p:nvSpPr>
        <p:spPr>
          <a:xfrm>
            <a:off x="932688" y="489204"/>
            <a:ext cx="384048" cy="22860"/>
          </a:xfrm>
          <a:prstGeom prst="rect">
            <a:avLst/>
          </a:prstGeom>
          <a:solidFill>
            <a:srgbClr val="D5001C"/>
          </a:solidFill>
          <a:ln w="12700">
            <a:solidFill>
              <a:srgbClr val="D5001C"/>
            </a:solidFill>
            <a:prstDash val="solid"/>
          </a:ln>
          <a:effectLst>
            <a:outerShdw sx="100000" sy="100000" kx="0" ky="0" algn="bl" rotWithShape="0" blurRad="76200" dist="50800" dir="5400000">
              <a:srgbClr val="FF2030">
                <a:alpha val="90000"/>
              </a:srgbClr>
            </a:outerShdw>
          </a:effectLst>
        </p:spPr>
      </p:sp>
      <p:sp>
        <p:nvSpPr>
          <p:cNvPr id="4" name="Text 2"/>
          <p:cNvSpPr txBox="1"/>
          <p:nvPr/>
        </p:nvSpPr>
        <p:spPr>
          <a:xfrm>
            <a:off x="1444752" y="384048"/>
            <a:ext cx="5486400" cy="228600"/>
          </a:xfrm>
          <a:prstGeom prst="rect">
            <a:avLst/>
          </a:prstGeom>
          <a:noFill/>
          <a:ln/>
        </p:spPr>
        <p:txBody>
          <a:bodyPr wrap="square" lIns="0" tIns="0" rIns="0" bIns="0" rtlCol="0" anchor="t"/>
          <a:lstStyle/>
          <a:p>
            <a:pPr indent="0" marL="0">
              <a:buNone/>
            </a:pPr>
            <a:r>
              <a:rPr lang="en-US" sz="1200" dirty="0">
                <a:solidFill>
                  <a:srgbClr val="9C8F8E"/>
                </a:solidFill>
                <a:latin typeface="Calibri" pitchFamily="34" charset="0"/>
                <a:ea typeface="Calibri" pitchFamily="34" charset="-122"/>
                <a:cs typeface="Calibri" pitchFamily="34" charset="-120"/>
              </a:rPr>
              <a:t>Key findings and my role</a:t>
            </a:r>
            <a:endParaRPr lang="en-US" sz="1200" dirty="0"/>
          </a:p>
        </p:txBody>
      </p:sp>
      <p:sp>
        <p:nvSpPr>
          <p:cNvPr id="5" name="Text 3"/>
          <p:cNvSpPr txBox="1"/>
          <p:nvPr/>
        </p:nvSpPr>
        <p:spPr>
          <a:xfrm>
            <a:off x="548640" y="731520"/>
            <a:ext cx="8229600" cy="1005840"/>
          </a:xfrm>
          <a:prstGeom prst="rect">
            <a:avLst/>
          </a:prstGeom>
          <a:noFill/>
          <a:ln/>
        </p:spPr>
        <p:txBody>
          <a:bodyPr wrap="square" lIns="0" tIns="0" rIns="0" bIns="0" rtlCol="0" anchor="t"/>
          <a:lstStyle/>
          <a:p>
            <a:pPr indent="0" marL="0">
              <a:lnSpc>
                <a:spcPct val="88000"/>
              </a:lnSpc>
              <a:buNone/>
            </a:pPr>
            <a:r>
              <a:rPr lang="en-US" sz="3000" b="1" spc="50" kern="0" dirty="0">
                <a:solidFill>
                  <a:srgbClr val="EEE6E2"/>
                </a:solidFill>
                <a:latin typeface="Calibri" pitchFamily="34" charset="0"/>
                <a:ea typeface="Calibri" pitchFamily="34" charset="-122"/>
                <a:cs typeface="Calibri" pitchFamily="34" charset="-120"/>
              </a:rPr>
              <a:t>WHAT THE DATA SHOWS, AND WHAT I DID.</a:t>
            </a:r>
            <a:endParaRPr lang="en-US" sz="3000" dirty="0"/>
          </a:p>
        </p:txBody>
      </p:sp>
      <p:sp>
        <p:nvSpPr>
          <p:cNvPr id="6" name="Text 4"/>
          <p:cNvSpPr txBox="1"/>
          <p:nvPr/>
        </p:nvSpPr>
        <p:spPr>
          <a:xfrm>
            <a:off x="548640" y="1554480"/>
            <a:ext cx="1600200" cy="502920"/>
          </a:xfrm>
          <a:prstGeom prst="rect">
            <a:avLst/>
          </a:prstGeom>
          <a:noFill/>
          <a:ln/>
        </p:spPr>
        <p:txBody>
          <a:bodyPr wrap="square" lIns="0" tIns="0" rIns="0" bIns="0" rtlCol="0" anchor="t"/>
          <a:lstStyle/>
          <a:p>
            <a:pPr indent="0" marL="0">
              <a:buNone/>
            </a:pPr>
            <a:r>
              <a:rPr lang="en-US" sz="2600" b="1" dirty="0">
                <a:solidFill>
                  <a:srgbClr val="D5001C"/>
                </a:solidFill>
                <a:latin typeface="Calibri" pitchFamily="34" charset="0"/>
                <a:ea typeface="Calibri" pitchFamily="34" charset="-122"/>
                <a:cs typeface="Calibri" pitchFamily="34" charset="-120"/>
              </a:rPr>
              <a:t>+€600m</a:t>
            </a:r>
            <a:endParaRPr lang="en-US" sz="2600" dirty="0"/>
          </a:p>
        </p:txBody>
      </p:sp>
      <p:sp>
        <p:nvSpPr>
          <p:cNvPr id="7" name="Text 5"/>
          <p:cNvSpPr txBox="1"/>
          <p:nvPr/>
        </p:nvSpPr>
        <p:spPr>
          <a:xfrm>
            <a:off x="2286000" y="1572768"/>
            <a:ext cx="4206240" cy="256032"/>
          </a:xfrm>
          <a:prstGeom prst="rect">
            <a:avLst/>
          </a:prstGeom>
          <a:noFill/>
          <a:ln/>
        </p:spPr>
        <p:txBody>
          <a:bodyPr wrap="square" lIns="0" tIns="0" rIns="0" bIns="0" rtlCol="0" anchor="t"/>
          <a:lstStyle/>
          <a:p>
            <a:pPr indent="0" marL="0">
              <a:buNone/>
            </a:pPr>
            <a:r>
              <a:rPr lang="en-US" sz="1250" b="1" dirty="0">
                <a:solidFill>
                  <a:srgbClr val="EEE6E2"/>
                </a:solidFill>
                <a:latin typeface="Calibri" pitchFamily="34" charset="0"/>
                <a:ea typeface="Calibri" pitchFamily="34" charset="-122"/>
                <a:cs typeface="Calibri" pitchFamily="34" charset="-120"/>
              </a:rPr>
              <a:t>The recovery is driven by lower one-offs</a:t>
            </a:r>
            <a:endParaRPr lang="en-US" sz="1250" dirty="0"/>
          </a:p>
        </p:txBody>
      </p:sp>
      <p:sp>
        <p:nvSpPr>
          <p:cNvPr id="8" name="Text 6"/>
          <p:cNvSpPr txBox="1"/>
          <p:nvPr/>
        </p:nvSpPr>
        <p:spPr>
          <a:xfrm>
            <a:off x="2286000" y="1837944"/>
            <a:ext cx="4206240" cy="237744"/>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176% of the EBIT gain; L1 margin 9.4% → 8.4%</a:t>
            </a:r>
            <a:endParaRPr lang="en-US" sz="1000" dirty="0"/>
          </a:p>
        </p:txBody>
      </p:sp>
      <p:sp>
        <p:nvSpPr>
          <p:cNvPr id="9" name="Shape 7"/>
          <p:cNvSpPr/>
          <p:nvPr/>
        </p:nvSpPr>
        <p:spPr>
          <a:xfrm>
            <a:off x="548640" y="2231136"/>
            <a:ext cx="5943600" cy="0"/>
          </a:xfrm>
          <a:prstGeom prst="line">
            <a:avLst/>
          </a:prstGeom>
          <a:noFill/>
          <a:ln w="9525">
            <a:solidFill>
              <a:srgbClr val="2E2224"/>
            </a:solidFill>
            <a:prstDash val="solid"/>
          </a:ln>
        </p:spPr>
      </p:sp>
      <p:sp>
        <p:nvSpPr>
          <p:cNvPr id="10" name="Text 8"/>
          <p:cNvSpPr txBox="1"/>
          <p:nvPr/>
        </p:nvSpPr>
        <p:spPr>
          <a:xfrm>
            <a:off x="548640" y="2340864"/>
            <a:ext cx="1600200" cy="502920"/>
          </a:xfrm>
          <a:prstGeom prst="rect">
            <a:avLst/>
          </a:prstGeom>
          <a:noFill/>
          <a:ln/>
        </p:spPr>
        <p:txBody>
          <a:bodyPr wrap="square" lIns="0" tIns="0" rIns="0" bIns="0" rtlCol="0" anchor="t"/>
          <a:lstStyle/>
          <a:p>
            <a:pPr indent="0" marL="0">
              <a:buNone/>
            </a:pPr>
            <a:r>
              <a:rPr lang="en-US" sz="2600" b="1" dirty="0">
                <a:solidFill>
                  <a:srgbClr val="EEE6E2"/>
                </a:solidFill>
                <a:latin typeface="Calibri" pitchFamily="34" charset="0"/>
                <a:ea typeface="Calibri" pitchFamily="34" charset="-122"/>
                <a:cs typeface="Calibri" pitchFamily="34" charset="-120"/>
              </a:rPr>
              <a:t>−€140m</a:t>
            </a:r>
            <a:endParaRPr lang="en-US" sz="2600" dirty="0"/>
          </a:p>
        </p:txBody>
      </p:sp>
      <p:sp>
        <p:nvSpPr>
          <p:cNvPr id="11" name="Text 9"/>
          <p:cNvSpPr txBox="1"/>
          <p:nvPr/>
        </p:nvSpPr>
        <p:spPr>
          <a:xfrm>
            <a:off x="2286000" y="2359152"/>
            <a:ext cx="4206240" cy="256032"/>
          </a:xfrm>
          <a:prstGeom prst="rect">
            <a:avLst/>
          </a:prstGeom>
          <a:noFill/>
          <a:ln/>
        </p:spPr>
        <p:txBody>
          <a:bodyPr wrap="square" lIns="0" tIns="0" rIns="0" bIns="0" rtlCol="0" anchor="t"/>
          <a:lstStyle/>
          <a:p>
            <a:pPr indent="0" marL="0">
              <a:buNone/>
            </a:pPr>
            <a:r>
              <a:rPr lang="en-US" sz="1250" b="1" dirty="0">
                <a:solidFill>
                  <a:srgbClr val="EEE6E2"/>
                </a:solidFill>
                <a:latin typeface="Calibri" pitchFamily="34" charset="0"/>
                <a:ea typeface="Calibri" pitchFamily="34" charset="-122"/>
                <a:cs typeface="Calibri" pitchFamily="34" charset="-120"/>
              </a:rPr>
              <a:t>Other EBIT drivers are negative</a:t>
            </a:r>
            <a:endParaRPr lang="en-US" sz="1250" dirty="0"/>
          </a:p>
        </p:txBody>
      </p:sp>
      <p:sp>
        <p:nvSpPr>
          <p:cNvPr id="12" name="Text 10"/>
          <p:cNvSpPr txBox="1"/>
          <p:nvPr/>
        </p:nvSpPr>
        <p:spPr>
          <a:xfrm>
            <a:off x="2286000" y="2624328"/>
            <a:ext cx="4206240" cy="237744"/>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Residual, not separated; −€79m if A-04 is reversed</a:t>
            </a:r>
            <a:endParaRPr lang="en-US" sz="1000" dirty="0"/>
          </a:p>
        </p:txBody>
      </p:sp>
      <p:sp>
        <p:nvSpPr>
          <p:cNvPr id="13" name="Shape 11"/>
          <p:cNvSpPr/>
          <p:nvPr/>
        </p:nvSpPr>
        <p:spPr>
          <a:xfrm>
            <a:off x="548640" y="3017520"/>
            <a:ext cx="5943600" cy="0"/>
          </a:xfrm>
          <a:prstGeom prst="line">
            <a:avLst/>
          </a:prstGeom>
          <a:noFill/>
          <a:ln w="9525">
            <a:solidFill>
              <a:srgbClr val="2E2224"/>
            </a:solidFill>
            <a:prstDash val="solid"/>
          </a:ln>
        </p:spPr>
      </p:sp>
      <p:sp>
        <p:nvSpPr>
          <p:cNvPr id="14" name="Text 12"/>
          <p:cNvSpPr txBox="1"/>
          <p:nvPr/>
        </p:nvSpPr>
        <p:spPr>
          <a:xfrm>
            <a:off x="548640" y="3127248"/>
            <a:ext cx="1600200" cy="502920"/>
          </a:xfrm>
          <a:prstGeom prst="rect">
            <a:avLst/>
          </a:prstGeom>
          <a:noFill/>
          <a:ln/>
        </p:spPr>
        <p:txBody>
          <a:bodyPr wrap="square" lIns="0" tIns="0" rIns="0" bIns="0" rtlCol="0" anchor="t"/>
          <a:lstStyle/>
          <a:p>
            <a:pPr indent="0" marL="0">
              <a:buNone/>
            </a:pPr>
            <a:r>
              <a:rPr lang="en-US" sz="2600" b="1" dirty="0">
                <a:solidFill>
                  <a:srgbClr val="EEE6E2"/>
                </a:solidFill>
                <a:latin typeface="Calibri" pitchFamily="34" charset="0"/>
                <a:ea typeface="Calibri" pitchFamily="34" charset="-122"/>
                <a:cs typeface="Calibri" pitchFamily="34" charset="-120"/>
              </a:rPr>
              <a:t>44%</a:t>
            </a:r>
            <a:endParaRPr lang="en-US" sz="2600" dirty="0"/>
          </a:p>
        </p:txBody>
      </p:sp>
      <p:sp>
        <p:nvSpPr>
          <p:cNvPr id="15" name="Text 13"/>
          <p:cNvSpPr txBox="1"/>
          <p:nvPr/>
        </p:nvSpPr>
        <p:spPr>
          <a:xfrm>
            <a:off x="2286000" y="3145536"/>
            <a:ext cx="4206240" cy="256032"/>
          </a:xfrm>
          <a:prstGeom prst="rect">
            <a:avLst/>
          </a:prstGeom>
          <a:noFill/>
          <a:ln/>
        </p:spPr>
        <p:txBody>
          <a:bodyPr wrap="square" lIns="0" tIns="0" rIns="0" bIns="0" rtlCol="0" anchor="t"/>
          <a:lstStyle/>
          <a:p>
            <a:pPr indent="0" marL="0">
              <a:buNone/>
            </a:pPr>
            <a:r>
              <a:rPr lang="en-US" sz="1250" b="1" dirty="0">
                <a:solidFill>
                  <a:srgbClr val="EEE6E2"/>
                </a:solidFill>
                <a:latin typeface="Calibri" pitchFamily="34" charset="0"/>
                <a:ea typeface="Calibri" pitchFamily="34" charset="-122"/>
                <a:cs typeface="Calibri" pitchFamily="34" charset="-120"/>
              </a:rPr>
              <a:t>ASP covers less than half the volume loss</a:t>
            </a:r>
            <a:endParaRPr lang="en-US" sz="1250" dirty="0"/>
          </a:p>
        </p:txBody>
      </p:sp>
      <p:sp>
        <p:nvSpPr>
          <p:cNvPr id="16" name="Text 14"/>
          <p:cNvSpPr txBox="1"/>
          <p:nvPr/>
        </p:nvSpPr>
        <p:spPr>
          <a:xfrm>
            <a:off x="2286000" y="3410712"/>
            <a:ext cx="4206240" cy="237744"/>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+768 vs −1,748 € million</a:t>
            </a:r>
            <a:endParaRPr lang="en-US" sz="1000" dirty="0"/>
          </a:p>
        </p:txBody>
      </p:sp>
      <p:sp>
        <p:nvSpPr>
          <p:cNvPr id="17" name="Shape 15"/>
          <p:cNvSpPr/>
          <p:nvPr/>
        </p:nvSpPr>
        <p:spPr>
          <a:xfrm>
            <a:off x="548640" y="3803904"/>
            <a:ext cx="5943600" cy="0"/>
          </a:xfrm>
          <a:prstGeom prst="line">
            <a:avLst/>
          </a:prstGeom>
          <a:noFill/>
          <a:ln w="9525">
            <a:solidFill>
              <a:srgbClr val="2E2224"/>
            </a:solidFill>
            <a:prstDash val="solid"/>
          </a:ln>
        </p:spPr>
      </p:sp>
      <p:sp>
        <p:nvSpPr>
          <p:cNvPr id="18" name="Text 16"/>
          <p:cNvSpPr txBox="1"/>
          <p:nvPr/>
        </p:nvSpPr>
        <p:spPr>
          <a:xfrm>
            <a:off x="548640" y="3913632"/>
            <a:ext cx="1600200" cy="502920"/>
          </a:xfrm>
          <a:prstGeom prst="rect">
            <a:avLst/>
          </a:prstGeom>
          <a:noFill/>
          <a:ln/>
        </p:spPr>
        <p:txBody>
          <a:bodyPr wrap="square" lIns="0" tIns="0" rIns="0" bIns="0" rtlCol="0" anchor="t"/>
          <a:lstStyle/>
          <a:p>
            <a:pPr indent="0" marL="0">
              <a:buNone/>
            </a:pPr>
            <a:r>
              <a:rPr lang="en-US" sz="2600" b="1" dirty="0">
                <a:solidFill>
                  <a:srgbClr val="EEE6E2"/>
                </a:solidFill>
                <a:latin typeface="Calibri" pitchFamily="34" charset="0"/>
                <a:ea typeface="Calibri" pitchFamily="34" charset="-122"/>
                <a:cs typeface="Calibri" pitchFamily="34" charset="-120"/>
              </a:rPr>
              <a:t>43.6%</a:t>
            </a:r>
            <a:endParaRPr lang="en-US" sz="2600" dirty="0"/>
          </a:p>
        </p:txBody>
      </p:sp>
      <p:sp>
        <p:nvSpPr>
          <p:cNvPr id="19" name="Text 17"/>
          <p:cNvSpPr txBox="1"/>
          <p:nvPr/>
        </p:nvSpPr>
        <p:spPr>
          <a:xfrm>
            <a:off x="2286000" y="3931920"/>
            <a:ext cx="4206240" cy="256032"/>
          </a:xfrm>
          <a:prstGeom prst="rect">
            <a:avLst/>
          </a:prstGeom>
          <a:noFill/>
          <a:ln/>
        </p:spPr>
        <p:txBody>
          <a:bodyPr wrap="square" lIns="0" tIns="0" rIns="0" bIns="0" rtlCol="0" anchor="t"/>
          <a:lstStyle/>
          <a:p>
            <a:pPr indent="0" marL="0">
              <a:buNone/>
            </a:pPr>
            <a:r>
              <a:rPr lang="en-US" sz="1250" b="1" dirty="0">
                <a:solidFill>
                  <a:srgbClr val="EEE6E2"/>
                </a:solidFill>
                <a:latin typeface="Calibri" pitchFamily="34" charset="0"/>
                <a:ea typeface="Calibri" pitchFamily="34" charset="-122"/>
                <a:cs typeface="Calibri" pitchFamily="34" charset="-120"/>
              </a:rPr>
              <a:t>No accounting tailwind</a:t>
            </a:r>
            <a:endParaRPr lang="en-US" sz="1250" dirty="0"/>
          </a:p>
        </p:txBody>
      </p:sp>
      <p:sp>
        <p:nvSpPr>
          <p:cNvPr id="20" name="Text 18"/>
          <p:cNvSpPr txBox="1"/>
          <p:nvPr/>
        </p:nvSpPr>
        <p:spPr>
          <a:xfrm>
            <a:off x="2286000" y="4197096"/>
            <a:ext cx="4206240" cy="237744"/>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P&amp;L charge €1,334m above R&amp;D costs €1,116m</a:t>
            </a:r>
            <a:endParaRPr lang="en-US" sz="1000" dirty="0"/>
          </a:p>
        </p:txBody>
      </p:sp>
      <p:sp>
        <p:nvSpPr>
          <p:cNvPr id="21" name="Shape 19"/>
          <p:cNvSpPr/>
          <p:nvPr/>
        </p:nvSpPr>
        <p:spPr>
          <a:xfrm>
            <a:off x="548640" y="4590288"/>
            <a:ext cx="5943600" cy="0"/>
          </a:xfrm>
          <a:prstGeom prst="line">
            <a:avLst/>
          </a:prstGeom>
          <a:noFill/>
          <a:ln w="9525">
            <a:solidFill>
              <a:srgbClr val="2E2224"/>
            </a:solidFill>
            <a:prstDash val="solid"/>
          </a:ln>
        </p:spPr>
      </p:sp>
      <p:sp>
        <p:nvSpPr>
          <p:cNvPr id="22" name="Text 20"/>
          <p:cNvSpPr txBox="1"/>
          <p:nvPr/>
        </p:nvSpPr>
        <p:spPr>
          <a:xfrm>
            <a:off x="548640" y="4700016"/>
            <a:ext cx="1600200" cy="502920"/>
          </a:xfrm>
          <a:prstGeom prst="rect">
            <a:avLst/>
          </a:prstGeom>
          <a:noFill/>
          <a:ln/>
        </p:spPr>
        <p:txBody>
          <a:bodyPr wrap="square" lIns="0" tIns="0" rIns="0" bIns="0" rtlCol="0" anchor="t"/>
          <a:lstStyle/>
          <a:p>
            <a:pPr indent="0" marL="0">
              <a:buNone/>
            </a:pPr>
            <a:r>
              <a:rPr lang="en-US" sz="2600" b="1" dirty="0">
                <a:solidFill>
                  <a:srgbClr val="EEE6E2"/>
                </a:solidFill>
                <a:latin typeface="Calibri" pitchFamily="34" charset="0"/>
                <a:ea typeface="Calibri" pitchFamily="34" charset="-122"/>
                <a:cs typeface="Calibri" pitchFamily="34" charset="-120"/>
              </a:rPr>
              <a:t>6.7%</a:t>
            </a:r>
            <a:endParaRPr lang="en-US" sz="2600" dirty="0"/>
          </a:p>
        </p:txBody>
      </p:sp>
      <p:sp>
        <p:nvSpPr>
          <p:cNvPr id="23" name="Text 21"/>
          <p:cNvSpPr txBox="1"/>
          <p:nvPr/>
        </p:nvSpPr>
        <p:spPr>
          <a:xfrm>
            <a:off x="2286000" y="4718304"/>
            <a:ext cx="4206240" cy="256032"/>
          </a:xfrm>
          <a:prstGeom prst="rect">
            <a:avLst/>
          </a:prstGeom>
          <a:noFill/>
          <a:ln/>
        </p:spPr>
        <p:txBody>
          <a:bodyPr wrap="square" lIns="0" tIns="0" rIns="0" bIns="0" rtlCol="0" anchor="t"/>
          <a:lstStyle/>
          <a:p>
            <a:pPr indent="0" marL="0">
              <a:buNone/>
            </a:pPr>
            <a:r>
              <a:rPr lang="en-US" sz="1250" b="1" dirty="0">
                <a:solidFill>
                  <a:srgbClr val="EEE6E2"/>
                </a:solidFill>
                <a:latin typeface="Calibri" pitchFamily="34" charset="0"/>
                <a:ea typeface="Calibri" pitchFamily="34" charset="-122"/>
                <a:cs typeface="Calibri" pitchFamily="34" charset="-120"/>
              </a:rPr>
              <a:t>Cash conversion improved</a:t>
            </a:r>
            <a:endParaRPr lang="en-US" sz="1250" dirty="0"/>
          </a:p>
        </p:txBody>
      </p:sp>
      <p:sp>
        <p:nvSpPr>
          <p:cNvPr id="24" name="Text 22"/>
          <p:cNvSpPr txBox="1"/>
          <p:nvPr/>
        </p:nvSpPr>
        <p:spPr>
          <a:xfrm>
            <a:off x="2286000" y="4983480"/>
            <a:ext cx="4206240" cy="237744"/>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NCF margin up from 2.4%; H2 implied cash margin weaker</a:t>
            </a:r>
            <a:endParaRPr lang="en-US" sz="1000" dirty="0"/>
          </a:p>
        </p:txBody>
      </p:sp>
      <p:sp>
        <p:nvSpPr>
          <p:cNvPr id="25" name="Shape 23"/>
          <p:cNvSpPr/>
          <p:nvPr/>
        </p:nvSpPr>
        <p:spPr>
          <a:xfrm>
            <a:off x="548640" y="5376672"/>
            <a:ext cx="5943600" cy="0"/>
          </a:xfrm>
          <a:prstGeom prst="line">
            <a:avLst/>
          </a:prstGeom>
          <a:noFill/>
          <a:ln w="9525">
            <a:solidFill>
              <a:srgbClr val="2E2224"/>
            </a:solidFill>
            <a:prstDash val="solid"/>
          </a:ln>
        </p:spPr>
      </p:sp>
      <p:sp>
        <p:nvSpPr>
          <p:cNvPr id="26" name="Text 24"/>
          <p:cNvSpPr txBox="1"/>
          <p:nvPr/>
        </p:nvSpPr>
        <p:spPr>
          <a:xfrm>
            <a:off x="548640" y="5486400"/>
            <a:ext cx="1600200" cy="502920"/>
          </a:xfrm>
          <a:prstGeom prst="rect">
            <a:avLst/>
          </a:prstGeom>
          <a:noFill/>
          <a:ln/>
        </p:spPr>
        <p:txBody>
          <a:bodyPr wrap="square" lIns="0" tIns="0" rIns="0" bIns="0" rtlCol="0" anchor="t"/>
          <a:lstStyle/>
          <a:p>
            <a:pPr indent="0" marL="0">
              <a:buNone/>
            </a:pPr>
            <a:r>
              <a:rPr lang="en-US" sz="2600" b="1" dirty="0">
                <a:solidFill>
                  <a:srgbClr val="EEE6E2"/>
                </a:solidFill>
                <a:latin typeface="Calibri" pitchFamily="34" charset="0"/>
                <a:ea typeface="Calibri" pitchFamily="34" charset="-122"/>
                <a:cs typeface="Calibri" pitchFamily="34" charset="-120"/>
              </a:rPr>
              <a:t>9.36%</a:t>
            </a:r>
            <a:endParaRPr lang="en-US" sz="2600" dirty="0"/>
          </a:p>
        </p:txBody>
      </p:sp>
      <p:sp>
        <p:nvSpPr>
          <p:cNvPr id="27" name="Text 25"/>
          <p:cNvSpPr txBox="1"/>
          <p:nvPr/>
        </p:nvSpPr>
        <p:spPr>
          <a:xfrm>
            <a:off x="2286000" y="5504688"/>
            <a:ext cx="4206240" cy="256032"/>
          </a:xfrm>
          <a:prstGeom prst="rect">
            <a:avLst/>
          </a:prstGeom>
          <a:noFill/>
          <a:ln/>
        </p:spPr>
        <p:txBody>
          <a:bodyPr wrap="square" lIns="0" tIns="0" rIns="0" bIns="0" rtlCol="0" anchor="t"/>
          <a:lstStyle/>
          <a:p>
            <a:pPr indent="0" marL="0">
              <a:buNone/>
            </a:pPr>
            <a:r>
              <a:rPr lang="en-US" sz="1250" b="1" dirty="0">
                <a:solidFill>
                  <a:srgbClr val="EEE6E2"/>
                </a:solidFill>
                <a:latin typeface="Calibri" pitchFamily="34" charset="0"/>
                <a:ea typeface="Calibri" pitchFamily="34" charset="-122"/>
                <a:cs typeface="Calibri" pitchFamily="34" charset="-120"/>
              </a:rPr>
              <a:t>Guidance midpoints require a stronger H2</a:t>
            </a:r>
            <a:endParaRPr lang="en-US" sz="1250" dirty="0"/>
          </a:p>
        </p:txBody>
      </p:sp>
      <p:sp>
        <p:nvSpPr>
          <p:cNvPr id="28" name="Text 26"/>
          <p:cNvSpPr txBox="1"/>
          <p:nvPr/>
        </p:nvSpPr>
        <p:spPr>
          <a:xfrm>
            <a:off x="2286000" y="5769864"/>
            <a:ext cx="4206240" cy="237744"/>
          </a:xfrm>
          <a:prstGeom prst="rect">
            <a:avLst/>
          </a:prstGeom>
          <a:noFill/>
          <a:ln/>
        </p:spPr>
        <p:txBody>
          <a:bodyPr wrap="square" lIns="0" tIns="0" rIns="0" bIns="0" rtlCol="0" anchor="t"/>
          <a:lstStyle/>
          <a:p>
            <a:pPr indent="0" marL="0">
              <a:buNone/>
            </a:pPr>
            <a:r>
              <a:rPr lang="en-US" sz="1000" dirty="0">
                <a:solidFill>
                  <a:srgbClr val="9C8F8E"/>
                </a:solidFill>
                <a:latin typeface="Calibri" pitchFamily="34" charset="0"/>
                <a:ea typeface="Calibri" pitchFamily="34" charset="-122"/>
                <a:cs typeface="Calibri" pitchFamily="34" charset="-120"/>
              </a:rPr>
              <a:t>vs 8.41% in H1. Scenario, not a forecast</a:t>
            </a:r>
            <a:endParaRPr lang="en-US" sz="1000" dirty="0"/>
          </a:p>
        </p:txBody>
      </p:sp>
      <p:sp>
        <p:nvSpPr>
          <p:cNvPr id="29" name="Shape 27"/>
          <p:cNvSpPr/>
          <p:nvPr/>
        </p:nvSpPr>
        <p:spPr>
          <a:xfrm>
            <a:off x="6903720" y="1463040"/>
            <a:ext cx="4739335" cy="4800600"/>
          </a:xfrm>
          <a:prstGeom prst="roundRect">
            <a:avLst>
              <a:gd name="adj" fmla="val 1158"/>
            </a:avLst>
          </a:prstGeom>
          <a:solidFill>
            <a:srgbClr val="150B0D"/>
          </a:solidFill>
          <a:ln w="9525">
            <a:solidFill>
              <a:srgbClr val="2E2224"/>
            </a:solidFill>
            <a:prstDash val="solid"/>
          </a:ln>
          <a:effectLst>
            <a:outerShdw sx="100000" sy="100000" kx="0" ky="0" algn="bl" rotWithShape="0" blurRad="228600" dist="76200" dir="5400000">
              <a:srgbClr val="000000">
                <a:alpha val="55000"/>
              </a:srgbClr>
            </a:outerShdw>
          </a:effectLst>
        </p:spPr>
      </p:sp>
      <p:sp>
        <p:nvSpPr>
          <p:cNvPr id="30" name="Text 28"/>
          <p:cNvSpPr txBox="1"/>
          <p:nvPr/>
        </p:nvSpPr>
        <p:spPr>
          <a:xfrm>
            <a:off x="7132320" y="1600200"/>
            <a:ext cx="1828800" cy="219456"/>
          </a:xfrm>
          <a:prstGeom prst="rect">
            <a:avLst/>
          </a:prstGeom>
          <a:noFill/>
          <a:ln/>
        </p:spPr>
        <p:txBody>
          <a:bodyPr wrap="square" lIns="0" tIns="0" rIns="0" bIns="0" rtlCol="0" anchor="t"/>
          <a:lstStyle/>
          <a:p>
            <a:pPr indent="0" marL="0">
              <a:buNone/>
            </a:pPr>
            <a:r>
              <a:rPr lang="en-US" sz="1100" b="1" spc="300" kern="0" dirty="0">
                <a:solidFill>
                  <a:srgbClr val="D5001C"/>
                </a:solidFill>
                <a:latin typeface="Calibri" pitchFamily="34" charset="0"/>
                <a:ea typeface="Calibri" pitchFamily="34" charset="-122"/>
                <a:cs typeface="Calibri" pitchFamily="34" charset="-120"/>
              </a:rPr>
              <a:t>MY ROLE</a:t>
            </a:r>
            <a:endParaRPr lang="en-US" sz="1100" dirty="0"/>
          </a:p>
        </p:txBody>
      </p:sp>
      <p:sp>
        <p:nvSpPr>
          <p:cNvPr id="31" name="Text 29"/>
          <p:cNvSpPr txBox="1"/>
          <p:nvPr/>
        </p:nvSpPr>
        <p:spPr>
          <a:xfrm>
            <a:off x="7132320" y="1856232"/>
            <a:ext cx="4282135" cy="457200"/>
          </a:xfrm>
          <a:prstGeom prst="rect">
            <a:avLst/>
          </a:prstGeom>
          <a:noFill/>
          <a:ln/>
        </p:spPr>
        <p:txBody>
          <a:bodyPr wrap="square" lIns="0" tIns="0" rIns="0" bIns="0" rtlCol="0" anchor="t"/>
          <a:lstStyle/>
          <a:p>
            <a:pPr indent="0" marL="0">
              <a:buNone/>
            </a:pPr>
            <a:r>
              <a:rPr lang="en-US" sz="1150" i="1" dirty="0">
                <a:solidFill>
                  <a:srgbClr val="EEE6E2"/>
                </a:solidFill>
                <a:latin typeface="Cambria" pitchFamily="34" charset="0"/>
                <a:ea typeface="Cambria" pitchFamily="34" charset="-122"/>
                <a:cs typeface="Cambria" pitchFamily="34" charset="-120"/>
              </a:rPr>
              <a:t>Business analytics, operations thinking, financial analysis and data storytelling, applied to one question.</a:t>
            </a:r>
            <a:endParaRPr lang="en-US" sz="1150" dirty="0"/>
          </a:p>
        </p:txBody>
      </p:sp>
      <p:sp>
        <p:nvSpPr>
          <p:cNvPr id="32" name="Text 30"/>
          <p:cNvSpPr txBox="1"/>
          <p:nvPr/>
        </p:nvSpPr>
        <p:spPr>
          <a:xfrm>
            <a:off x="7132320" y="2450592"/>
            <a:ext cx="4282135" cy="502920"/>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Framed the question</a:t>
            </a:r>
            <a:endParaRPr lang="en-US" sz="1050" dirty="0"/>
          </a:p>
          <a:p>
            <a:pPr indent="0" marL="0">
              <a:buNone/>
            </a:pPr>
            <a:r>
              <a:rPr lang="en-US" sz="1050" dirty="0">
                <a:solidFill>
                  <a:srgbClr val="9C8F8E"/>
                </a:solidFill>
                <a:latin typeface="Calibri" pitchFamily="34" charset="0"/>
                <a:ea typeface="Calibri" pitchFamily="34" charset="-122"/>
                <a:cs typeface="Calibri" pitchFamily="34" charset="-120"/>
              </a:rPr>
              <a:t>chose the company and question; defined L0 to L3 and the labelling rules</a:t>
            </a:r>
            <a:endParaRPr lang="en-US" sz="1050" dirty="0"/>
          </a:p>
        </p:txBody>
      </p:sp>
      <p:sp>
        <p:nvSpPr>
          <p:cNvPr id="33" name="Text 31"/>
          <p:cNvSpPr txBox="1"/>
          <p:nvPr/>
        </p:nvSpPr>
        <p:spPr>
          <a:xfrm>
            <a:off x="7132320" y="2999232"/>
            <a:ext cx="4282135" cy="502920"/>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Validated the data</a:t>
            </a:r>
            <a:endParaRPr lang="en-US" sz="1050" dirty="0"/>
          </a:p>
          <a:p>
            <a:pPr indent="0" marL="0">
              <a:buNone/>
            </a:pPr>
            <a:r>
              <a:rPr lang="en-US" sz="1050" dirty="0">
                <a:solidFill>
                  <a:srgbClr val="9C8F8E"/>
                </a:solidFill>
                <a:latin typeface="Calibri" pitchFamily="34" charset="0"/>
                <a:ea typeface="Calibri" pitchFamily="34" charset="-122"/>
                <a:cs typeface="Calibri" pitchFamily="34" charset="-120"/>
              </a:rPr>
              <a:t>built the 27-source register and checked inputs; gaps documented, not estimated</a:t>
            </a:r>
            <a:endParaRPr lang="en-US" sz="1050" dirty="0"/>
          </a:p>
        </p:txBody>
      </p:sp>
      <p:sp>
        <p:nvSpPr>
          <p:cNvPr id="34" name="Text 32"/>
          <p:cNvSpPr txBox="1"/>
          <p:nvPr/>
        </p:nvSpPr>
        <p:spPr>
          <a:xfrm>
            <a:off x="7132320" y="3547872"/>
            <a:ext cx="4282135" cy="502920"/>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Reviewed every phase</a:t>
            </a:r>
            <a:endParaRPr lang="en-US" sz="1050" dirty="0"/>
          </a:p>
          <a:p>
            <a:pPr indent="0" marL="0">
              <a:buNone/>
            </a:pPr>
            <a:r>
              <a:rPr lang="en-US" sz="1050" dirty="0">
                <a:solidFill>
                  <a:srgbClr val="9C8F8E"/>
                </a:solidFill>
                <a:latin typeface="Calibri" pitchFamily="34" charset="0"/>
                <a:ea typeface="Calibri" pitchFamily="34" charset="-122"/>
                <a:cs typeface="Calibri" pitchFamily="34" charset="-120"/>
              </a:rPr>
              <a:t>approved sources, inputs, SQL, Excel and Power BI models in turn</a:t>
            </a:r>
            <a:endParaRPr lang="en-US" sz="1050" dirty="0"/>
          </a:p>
        </p:txBody>
      </p:sp>
      <p:sp>
        <p:nvSpPr>
          <p:cNvPr id="35" name="Text 33"/>
          <p:cNvSpPr txBox="1"/>
          <p:nvPr/>
        </p:nvSpPr>
        <p:spPr>
          <a:xfrm>
            <a:off x="7132320" y="4096512"/>
            <a:ext cx="4282135" cy="502920"/>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Built the dashboard</a:t>
            </a:r>
            <a:endParaRPr lang="en-US" sz="1050" dirty="0"/>
          </a:p>
          <a:p>
            <a:pPr indent="0" marL="0">
              <a:buNone/>
            </a:pPr>
            <a:r>
              <a:rPr lang="en-US" sz="1050" dirty="0">
                <a:solidFill>
                  <a:srgbClr val="9C8F8E"/>
                </a:solidFill>
                <a:latin typeface="Calibri" pitchFamily="34" charset="0"/>
                <a:ea typeface="Calibri" pitchFamily="34" charset="-122"/>
                <a:cs typeface="Calibri" pitchFamily="34" charset="-120"/>
              </a:rPr>
              <a:t>built and formatted the six-page Power BI report</a:t>
            </a:r>
            <a:endParaRPr lang="en-US" sz="1050" dirty="0"/>
          </a:p>
        </p:txBody>
      </p:sp>
      <p:sp>
        <p:nvSpPr>
          <p:cNvPr id="36" name="Text 34"/>
          <p:cNvSpPr txBox="1"/>
          <p:nvPr/>
        </p:nvSpPr>
        <p:spPr>
          <a:xfrm>
            <a:off x="7132320" y="4645152"/>
            <a:ext cx="4282135" cy="502920"/>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Ran the audit</a:t>
            </a:r>
            <a:endParaRPr lang="en-US" sz="1050" dirty="0"/>
          </a:p>
          <a:p>
            <a:pPr indent="0" marL="0">
              <a:buNone/>
            </a:pPr>
            <a:r>
              <a:rPr lang="en-US" sz="1050" dirty="0">
                <a:solidFill>
                  <a:srgbClr val="9C8F8E"/>
                </a:solidFill>
                <a:latin typeface="Calibri" pitchFamily="34" charset="0"/>
                <a:ea typeface="Calibri" pitchFamily="34" charset="-122"/>
                <a:cs typeface="Calibri" pitchFamily="34" charset="-120"/>
              </a:rPr>
              <a:t>ran the QA cycle until SQL, Excel and Power BI reconciled with zero failures</a:t>
            </a:r>
            <a:endParaRPr lang="en-US" sz="1050" dirty="0"/>
          </a:p>
        </p:txBody>
      </p:sp>
      <p:sp>
        <p:nvSpPr>
          <p:cNvPr id="37" name="Text 35"/>
          <p:cNvSpPr txBox="1"/>
          <p:nvPr/>
        </p:nvSpPr>
        <p:spPr>
          <a:xfrm>
            <a:off x="7132320" y="5193792"/>
            <a:ext cx="4282135" cy="502920"/>
          </a:xfrm>
          <a:prstGeom prst="rect">
            <a:avLst/>
          </a:prstGeom>
          <a:noFill/>
          <a:ln/>
        </p:spPr>
        <p:txBody>
          <a:bodyPr wrap="square" lIns="0" tIns="0" rIns="0" bIns="0" rtlCol="0" anchor="t"/>
          <a:lstStyle/>
          <a:p>
            <a:pPr indent="0" marL="0">
              <a:buNone/>
            </a:pPr>
            <a:r>
              <a:rPr lang="en-US" sz="1050" b="1" dirty="0">
                <a:solidFill>
                  <a:srgbClr val="EEE6E2"/>
                </a:solidFill>
                <a:latin typeface="Calibri" pitchFamily="34" charset="0"/>
                <a:ea typeface="Calibri" pitchFamily="34" charset="-122"/>
                <a:cs typeface="Calibri" pitchFamily="34" charset="-120"/>
              </a:rPr>
              <a:t>Told the story</a:t>
            </a:r>
            <a:endParaRPr lang="en-US" sz="1050" dirty="0"/>
          </a:p>
          <a:p>
            <a:pPr indent="0" marL="0">
              <a:buNone/>
            </a:pPr>
            <a:r>
              <a:rPr lang="en-US" sz="1050" dirty="0">
                <a:solidFill>
                  <a:srgbClr val="9C8F8E"/>
                </a:solidFill>
                <a:latin typeface="Calibri" pitchFamily="34" charset="0"/>
                <a:ea typeface="Calibri" pitchFamily="34" charset="-122"/>
                <a:cs typeface="Calibri" pitchFamily="34" charset="-120"/>
              </a:rPr>
              <a:t>turned the analysis into findings and an FY2026 monitoring plan</a:t>
            </a:r>
            <a:endParaRPr lang="en-US" sz="1050" dirty="0"/>
          </a:p>
        </p:txBody>
      </p:sp>
      <p:sp>
        <p:nvSpPr>
          <p:cNvPr id="38" name="Text 36"/>
          <p:cNvSpPr txBox="1"/>
          <p:nvPr/>
        </p:nvSpPr>
        <p:spPr>
          <a:xfrm>
            <a:off x="7132320" y="5733288"/>
            <a:ext cx="4282135" cy="457200"/>
          </a:xfrm>
          <a:prstGeom prst="rect">
            <a:avLst/>
          </a:prstGeom>
          <a:noFill/>
          <a:ln/>
        </p:spPr>
        <p:txBody>
          <a:bodyPr wrap="square" lIns="0" tIns="0" rIns="0" bIns="0" rtlCol="0" anchor="t"/>
          <a:lstStyle/>
          <a:p>
            <a:pPr indent="0" marL="0">
              <a:buNone/>
            </a:pPr>
            <a:r>
              <a:rPr lang="en-US" sz="950" dirty="0">
                <a:solidFill>
                  <a:srgbClr val="E7B7BA"/>
                </a:solidFill>
                <a:latin typeface="Calibri" pitchFamily="34" charset="0"/>
                <a:ea typeface="Calibri" pitchFamily="34" charset="-122"/>
                <a:cs typeface="Calibri" pitchFamily="34" charset="-120"/>
              </a:rPr>
              <a:t>Delivered: a traceable SQL data model, an audited Excel model and a six-page Power BI dashboard, reconciled across 1,524 comparisons with 0 failures.</a:t>
            </a:r>
            <a:endParaRPr lang="en-US" sz="950" dirty="0"/>
          </a:p>
        </p:txBody>
      </p:sp>
      <p:sp>
        <p:nvSpPr>
          <p:cNvPr id="39" name="Text 37"/>
          <p:cNvSpPr txBox="1"/>
          <p:nvPr/>
        </p:nvSpPr>
        <p:spPr>
          <a:xfrm>
            <a:off x="548640" y="6473952"/>
            <a:ext cx="4572000" cy="201168"/>
          </a:xfrm>
          <a:prstGeom prst="rect">
            <a:avLst/>
          </a:prstGeom>
          <a:noFill/>
          <a:ln/>
        </p:spPr>
        <p:txBody>
          <a:bodyPr wrap="square" lIns="0" tIns="0" rIns="0" bIns="0" rtlCol="0" anchor="t"/>
          <a:lstStyle/>
          <a:p>
            <a:pPr indent="0" marL="0">
              <a:buNone/>
            </a:pPr>
            <a:r>
              <a:rPr lang="en-US" sz="850" dirty="0">
                <a:solidFill>
                  <a:srgbClr val="6A5C5D"/>
                </a:solidFill>
                <a:latin typeface="Calibri" pitchFamily="34" charset="0"/>
                <a:ea typeface="Calibri" pitchFamily="34" charset="-122"/>
                <a:cs typeface="Calibri" pitchFamily="34" charset="-120"/>
              </a:rPr>
              <a:t>Porsche 2026 Margin Recovery  /  Company Lens</a:t>
            </a:r>
            <a:endParaRPr lang="en-US" sz="850" dirty="0"/>
          </a:p>
        </p:txBody>
      </p:sp>
      <p:sp>
        <p:nvSpPr>
          <p:cNvPr id="40" name="Text 38"/>
          <p:cNvSpPr txBox="1"/>
          <p:nvPr/>
        </p:nvSpPr>
        <p:spPr>
          <a:xfrm>
            <a:off x="4754880" y="6473952"/>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Figures from the final validated project outputs. Not affiliated with or endorsed by Porsche AG. Not investment advice.</a:t>
            </a:r>
            <a:endParaRPr lang="en-US" sz="850" dirty="0"/>
          </a:p>
        </p:txBody>
      </p:sp>
      <p:sp>
        <p:nvSpPr>
          <p:cNvPr id="42" name="Image note"/>
          <p:cNvSpPr txBox="1"/>
          <p:nvPr/>
        </p:nvSpPr>
        <p:spPr>
          <a:xfrm>
            <a:off x="4754880" y="6684264"/>
            <a:ext cx="6446520" cy="201168"/>
          </a:xfrm>
          <a:prstGeom prst="rect">
            <a:avLst/>
          </a:prstGeom>
          <a:noFill/>
          <a:ln/>
        </p:spPr>
        <p:txBody>
          <a:bodyPr wrap="square" lIns="0" tIns="0" rIns="0" bIns="0" rtlCol="0" anchor="t"/>
          <a:lstStyle/>
          <a:p>
            <a:pPr algn="r" indent="0" marL="0">
              <a:buNone/>
            </a:pPr>
            <a:r>
              <a:rPr lang="en-US" sz="850" dirty="0">
                <a:solidFill>
                  <a:srgbClr val="6A5C5D"/>
                </a:solidFill>
                <a:latin typeface="Calibri" pitchFamily="34" charset="0"/>
                <a:ea typeface="Calibri" pitchFamily="34" charset="-122"/>
                <a:cs typeface="Calibri" pitchFamily="34" charset="-120"/>
              </a:rPr>
              <a:t>Photographs are third-party images used for illustration; their creators have not been identified and no ownership is claimed.</a:t>
            </a:r>
            <a:endParaRPr lang="en-US" sz="850" dirty="0"/>
          </a:p>
        </p:txBody>
      </p:sp>
      <p:sp>
        <p:nvSpPr>
          <p:cNvPr id="41" name="Text 39"/>
          <p:cNvSpPr txBox="1"/>
          <p:nvPr/>
        </p:nvSpPr>
        <p:spPr>
          <a:xfrm>
            <a:off x="11277295" y="6473952"/>
            <a:ext cx="365760" cy="201168"/>
          </a:xfrm>
          <a:prstGeom prst="rect">
            <a:avLst/>
          </a:prstGeom>
          <a:noFill/>
          <a:ln/>
        </p:spPr>
        <p:txBody>
          <a:bodyPr wrap="square" lIns="0" tIns="0" rIns="0" bIns="0" rtlCol="0" anchor="t"/>
          <a:lstStyle/>
          <a:p>
            <a:pPr algn="r" indent="0" marL="0">
              <a:buNone/>
            </a:pPr>
            <a:r>
              <a:rPr lang="en-US" sz="850" b="1" dirty="0">
                <a:solidFill>
                  <a:srgbClr val="9C8F8E"/>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Porsche 2026 Margin Recovery — Company Lens</dc:title>
  <dc:subject>PptxGenJS Presentation</dc:subject>
  <dc:creator>Vigneshwari Nalla</dc:creator>
  <cp:lastModifiedBy>Vigneshwari Nalla</cp:lastModifiedBy>
  <cp:revision>1</cp:revision>
  <dcterms:created xsi:type="dcterms:W3CDTF">2026-10-01T12:26:21Z</dcterms:created>
  <dcterms:modified xsi:type="dcterms:W3CDTF">2026-10-01T12:26:21Z</dcterms:modified>
</cp:coreProperties>
</file>